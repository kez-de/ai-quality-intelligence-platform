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Độ chính xác</c:v>
                </c:pt>
              </c:strCache>
            </c:strRef>
          </c:tx>
          <c:spPr>
            <a:solidFill>
              <a:srgbClr val="12A150"/>
            </a:solidFill>
            <a:effectLst/>
          </c:spPr>
          <c:invertIfNegative val="0"/>
          <c:dLbls>
            <c:numFmt formatCode="#,##0" sourceLinked="0"/>
            <c:txPr>
              <a:bodyPr/>
              <a:lstStyle/>
              <a:p>
                <a:pPr>
                  <a:defRPr b="1" i="0" strike="noStrike" sz="1000" u="none">
                    <a:solidFill>
                      <a:srgbClr val="13241B"/>
                    </a:solidFill>
                    <a:latin typeface="Arial"/>
                  </a:defRPr>
                </a:pPr>
              </a:p>
            </c:txPr>
            <c:showLegendKey val="0"/>
            <c:showVal val="1"/>
            <c:showCatName val="0"/>
            <c:showSerName val="0"/>
            <c:showPercent val="0"/>
            <c:showBubbleSize val="0"/>
            <c:showLeaderLines val="0"/>
          </c:dLbls>
          <c:cat>
            <c:multiLvlStrRef>
              <c:f>Sheet1!$A$2:$A$4</c:f>
              <c:multiLvlStrCache>
                <c:ptCount val="3"/>
                <c:lvl>
                  <c:pt idx="0">
                    <c:v>Cảm xúc</c:v>
                  </c:pt>
                  <c:pt idx="1">
                    <c:v>Chủ đề</c:v>
                  </c:pt>
                  <c:pt idx="2">
                    <c:v>Định tuyến phòng</c:v>
                  </c:pt>
                </c:lvl>
              </c:multiLvlStrCache>
            </c:multiLvlStrRef>
          </c:cat>
          <c:val>
            <c:numRef>
              <c:f>Sheet1!$B$2:$B$4</c:f>
              <c:numCache>
                <c:formatCode>General</c:formatCode>
                <c:ptCount val="3"/>
                <c:pt idx="0">
                  <c:v>94</c:v>
                </c:pt>
                <c:pt idx="1">
                  <c:v>77</c:v>
                </c:pt>
                <c:pt idx="2">
                  <c:v>75.4</c:v>
                </c:pt>
              </c:numCache>
            </c:numRef>
          </c:val>
        </c:ser>
        <c:dLbls>
          <c:numFmt formatCode="#,##0" sourceLinked="0"/>
          <c:txPr>
            <a:bodyPr/>
            <a:lstStyle/>
            <a:p>
              <a:pPr>
                <a:defRPr b="1" i="0" strike="noStrike" sz="1000" u="none">
                  <a:solidFill>
                    <a:srgbClr val="13241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88888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Đây là AI Quality Intelligence Platform — một "buồng lái chất lượng" cho dịch vụ gọi xe xanhSM. Một câu định vị: hệ thống đọc phản hồi khách hàng thay con người, phát hiện vấn đề sớm và biến nó thành hành động. Giới thiệu đội và bối cảnh cohort trong 20 giây rồi chuyển sang bài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cốt lõi: lượng phản hồi quá lớn để con người xử lý tay. Hệ quả: vấn đề nghiêm trọng bị chìm, phản ứng chậm, rủi ro tăng. Nhấn mạnh đây là nỗi đau vận hành thật của mọi hãng dịch vụ quy mô lớn, không riêng gọi 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Đóng khung giá trị kinh doanh: chậm trễ trả giá bằng an toàn, khách hàng và thương hiệu. Câu chốt: tốc độ phát hiện là tiền. Đây là lý do vì sao một hệ thống tự động đáng đầu tư.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gói trong một câu, minh họa bằng dây chuyền 5 bước. Điểm nhấn: đây không chỉ là phân tích, mà là vòng khép kín tới hành động — đó là khác biệt với các dashboard analytics thuần túy.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giám khảo thấy sản phẩm trông như thế nào: một cockpit realtime. Nếu có ảnh chụp màn hình thật, thay khối mô phỏng bên phải bằng ảnh đó để tăng độ tin. Nhấn realtime — dashboard tự cập nhật nhờ Supabase Realtime.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theo một câu phản hồi thật để khán giả hình dung. Hai điểm cần nói rõ: (1) phân loại đi qua hai tầng — ML đoán nền, rule ghi đè khi tín hiệu rõ; (2) câu nguy hiểm này sẽ bị lưới Safety ép thành P5, cần duyệt, và đẩy về đội Vận hành. Kết thúc bằng ticket → task →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"tư duy" — nơi kỹ thuật gặp kinh doanh. Bốn nguyên tắc này giải thích mọi quyết định bên dưới. Nhấn hai cái có sức nặng với giám khảo: Hybrid (tiết kiệm chi phí AI khi scale) và Safety-first (không đánh đổi an toàn lấy độ chính xác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lớp AI phối hợp: chat, multi-agent, ML, rule. Bên phải là số thật: cảm xúc ~94%, chủ đề ~77%, định tuyến phòng ~75.4%. Trung thực thừa nhận model yếu ở câu ngắn — và đó chính là lý do có tầng rule. Sự trung thực này tạo uy tín kỹ thuật.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não nghiệp vụ là 8 agent xếp thành dây chuyền, do orchestrator điều phối. Mỗi agent một việc rõ ràng, dễ kiểm thử và thay thế. Lưu ý: router quyết định phòng ban bằng rule; LLM chỉ viết tiêu đề, nguyên nhân, đề xuất — không tự gán phòng. Đó là kiểm soát có chủ đích.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toàn là nguyên tắc bất khả xâm phạm. Bảng định tuyến nằm trong file cấu hình (config-driven) nên đổi SLA/phòng không cần sửa code. Hai luật ghi đè quan trọng: mọi P5 về Vận hành; phản hồi tích cực chung về Marketing để khai thác truyền thông.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tin cậy: AI không thay con người, nó hỗ trợ con người. Sửa nhãn vừa là audit, vừa là dữ liệu retrain — một vòng học khép kín. Điều này trấn an giám khảo về tính kiểm soát và cải thiện liên tục.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tính năng "đắt giá" nhất về mặt sản phẩm: khép kín báo cáo → task. Manager đọc báo cáo, chỉnh danh sách hành động, bấm một nút để tạo task chính thức, có liên kết ngược. Nhấn: AI đề xuất, con người duyệt, hệ thống thực thi — đúng tinh thần human-in-the-loop ở cấp ra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Giám khảo luôn hỏi về bảo mật. Hai trục tách biệt: role (quyền) và department (phạm vi dữ liệu). Backend chạy bằng service role nên kiểm soát quyền nằm ở tầng API, không phụ thuộc RLS. Chat cũng bị giới hạn theo phòng và che PII cả đầu vào lẫn đầu ra. Mọi thay đổi quyền đều có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gọn: ba tầng, Supabase làm trục nối. Điểm bán hàng kỹ thuật: đa nhà cung cấp LLM qua một cổng có failover và mock — không phụ thuộc một bên, chi phí linh hoạt, demo không bao giờ vỡ. Production tách thành 6 service để mỗi việc chạy theo nhịp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giá trị về lợi ích vận hành đo được, không nói bằng thuật ngữ kỹ thuật: nhanh hơn, chặn sớm, quyết định theo data, chi phí tối ưu. Đây là slide để dừng lại và nhấn ROI với nhà đầu tư.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trực diện cách làm ngây thơ với cách của mình. Thông điệp: rẻ hơn, an toàn hơn, kiểm soát được hơn, không phụ thuộc một bên. Đây là phần "tư duy" thuyết phục giám khảo rằng đội hiểu trade-off chứ không chạy theo hype.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Lộ trình demo mạch lạc theo đúng vòng đời: gửi → phân loại → sửa nhãn → streaming → cảnh báo → phân tích → báo cáo thành task → hỏi chat. Nếu thiếu thời gian, ưu tiên bước 6 (báo cáo → task) vì đó là điểm nhấn sản phẩm.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Trung thực về ranh giới demo vs production tạo uy tín. Nhấn: phần khác biệt chủ yếu là nguồn dữ liệu và kênh thông báo — kiến trúc lõi đã sẵn sàng. Đây cũng là lời mời tự nhiên cho bước hợp tác/đầu tư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bằng một câu đọng lại: biến tiếng nói khách hàng thành hành động trước khi sự cố lan. Sau đó là lời mời rõ ràng (dùng thử / đồng hành / đầu tư). Dừng lại, cảm ơn, mở phần hỏi đáp.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cho phần hỏi đáp. Chuẩn bị sẵn năm câu khó nhất và câu trả lời ngắn dựa trên dữ kiện thật. Chỉ hiện khi cần.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6E36"/>
        </a:solidFill>
      </p:bgPr>
    </p:bg>
    <p:spTree>
      <p:nvGrpSpPr>
        <p:cNvPr id="1" name=""/>
        <p:cNvGrpSpPr/>
        <p:nvPr/>
      </p:nvGrpSpPr>
      <p:grpSpPr>
        <a:xfrm>
          <a:off x="0" y="0"/>
          <a:ext cx="0" cy="0"/>
          <a:chOff x="0" y="0"/>
          <a:chExt cx="0" cy="0"/>
        </a:xfrm>
      </p:grpSpPr>
      <p:sp>
        <p:nvSpPr>
          <p:cNvPr id="2" name="Shape 0"/>
          <p:cNvSpPr/>
          <p:nvPr/>
        </p:nvSpPr>
        <p:spPr>
          <a:xfrm>
            <a:off x="0" y="0"/>
            <a:ext cx="9144000" cy="201168"/>
          </a:xfrm>
          <a:prstGeom prst="rect">
            <a:avLst/>
          </a:prstGeom>
          <a:solidFill>
            <a:srgbClr val="E0A82E"/>
          </a:solidFill>
          <a:ln/>
        </p:spPr>
      </p:sp>
      <p:sp>
        <p:nvSpPr>
          <p:cNvPr id="3" name="Shape 1"/>
          <p:cNvSpPr/>
          <p:nvPr/>
        </p:nvSpPr>
        <p:spPr>
          <a:xfrm>
            <a:off x="0" y="4937760"/>
            <a:ext cx="9144000" cy="201168"/>
          </a:xfrm>
          <a:prstGeom prst="rect">
            <a:avLst/>
          </a:prstGeom>
          <a:solidFill>
            <a:srgbClr val="22B14C"/>
          </a:solidFill>
          <a:ln/>
        </p:spPr>
      </p:sp>
      <p:sp>
        <p:nvSpPr>
          <p:cNvPr id="4" name="Text 2"/>
          <p:cNvSpPr/>
          <p:nvPr/>
        </p:nvSpPr>
        <p:spPr>
          <a:xfrm>
            <a:off x="548640" y="548640"/>
            <a:ext cx="5486400" cy="457200"/>
          </a:xfrm>
          <a:prstGeom prst="rect">
            <a:avLst/>
          </a:prstGeom>
          <a:noFill/>
          <a:ln/>
        </p:spPr>
        <p:txBody>
          <a:bodyPr wrap="square" rtlCol="0" anchor="ctr"/>
          <a:lstStyle/>
          <a:p>
            <a:pPr indent="0" marL="0">
              <a:buNone/>
            </a:pPr>
            <a:r>
              <a:rPr lang="en-US" sz="2000" b="1" spc="300" kern="0" dirty="0">
                <a:solidFill>
                  <a:srgbClr val="22B14C"/>
                </a:solidFill>
                <a:latin typeface="Arial" pitchFamily="34" charset="0"/>
                <a:ea typeface="Arial" pitchFamily="34" charset="-122"/>
                <a:cs typeface="Arial" pitchFamily="34" charset="-120"/>
              </a:rPr>
              <a:t>xanhSM</a:t>
            </a:r>
            <a:endParaRPr lang="en-US" sz="2000" dirty="0"/>
          </a:p>
        </p:txBody>
      </p:sp>
      <p:sp>
        <p:nvSpPr>
          <p:cNvPr id="5" name="Text 3"/>
          <p:cNvSpPr/>
          <p:nvPr/>
        </p:nvSpPr>
        <p:spPr>
          <a:xfrm>
            <a:off x="548640" y="1371600"/>
            <a:ext cx="8046720" cy="100584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AI Quality Intelligence Platform</a:t>
            </a:r>
            <a:endParaRPr lang="en-US" sz="4200" dirty="0"/>
          </a:p>
        </p:txBody>
      </p:sp>
      <p:sp>
        <p:nvSpPr>
          <p:cNvPr id="6" name="Text 4"/>
          <p:cNvSpPr/>
          <p:nvPr/>
        </p:nvSpPr>
        <p:spPr>
          <a:xfrm>
            <a:off x="566928" y="2514600"/>
            <a:ext cx="7863840" cy="640080"/>
          </a:xfrm>
          <a:prstGeom prst="rect">
            <a:avLst/>
          </a:prstGeom>
          <a:noFill/>
          <a:ln/>
        </p:spPr>
        <p:txBody>
          <a:bodyPr wrap="square" rtlCol="0" anchor="ctr"/>
          <a:lstStyle/>
          <a:p>
            <a:pPr indent="0" marL="0">
              <a:buNone/>
            </a:pPr>
            <a:r>
              <a:rPr lang="en-US" sz="1600" dirty="0">
                <a:solidFill>
                  <a:srgbClr val="D7EFE0"/>
                </a:solidFill>
                <a:latin typeface="Arial" pitchFamily="34" charset="0"/>
                <a:ea typeface="Arial" pitchFamily="34" charset="-122"/>
                <a:cs typeface="Arial" pitchFamily="34" charset="-120"/>
              </a:rPr>
              <a:t>Quality Operation Cockpit cho xanhSM — AI đọc phản hồi khách hàng thay con người.</a:t>
            </a:r>
            <a:endParaRPr lang="en-US" sz="1600" dirty="0"/>
          </a:p>
        </p:txBody>
      </p:sp>
      <p:sp>
        <p:nvSpPr>
          <p:cNvPr id="7" name="Shape 5"/>
          <p:cNvSpPr/>
          <p:nvPr/>
        </p:nvSpPr>
        <p:spPr>
          <a:xfrm>
            <a:off x="566928" y="3291840"/>
            <a:ext cx="1828800" cy="41148"/>
          </a:xfrm>
          <a:prstGeom prst="rect">
            <a:avLst/>
          </a:prstGeom>
          <a:solidFill>
            <a:srgbClr val="E0A82E"/>
          </a:solidFill>
          <a:ln/>
        </p:spPr>
      </p:sp>
      <p:sp>
        <p:nvSpPr>
          <p:cNvPr id="8" name="Text 6"/>
          <p:cNvSpPr/>
          <p:nvPr/>
        </p:nvSpPr>
        <p:spPr>
          <a:xfrm>
            <a:off x="566928" y="3429000"/>
            <a:ext cx="7863840" cy="457200"/>
          </a:xfrm>
          <a:prstGeom prst="rect">
            <a:avLst/>
          </a:prstGeom>
          <a:noFill/>
          <a:ln/>
        </p:spPr>
        <p:txBody>
          <a:bodyPr wrap="square" rtlCol="0" anchor="ctr"/>
          <a:lstStyle/>
          <a:p>
            <a:pPr indent="0" marL="0">
              <a:buNone/>
            </a:pPr>
            <a:r>
              <a:rPr lang="en-US" sz="1150" dirty="0">
                <a:solidFill>
                  <a:srgbClr val="AFD9C2"/>
                </a:solidFill>
                <a:latin typeface="Arial" pitchFamily="34" charset="0"/>
                <a:ea typeface="Arial" pitchFamily="34" charset="-122"/>
                <a:cs typeface="Arial" pitchFamily="34" charset="-120"/>
              </a:rPr>
              <a:t>Phát hiện sớm vấn đề chất lượng dịch vụ · Giao đúng phòng ban theo SLA · Khép kín tới hành động</a:t>
            </a:r>
            <a:endParaRPr lang="en-US" sz="1150" dirty="0"/>
          </a:p>
        </p:txBody>
      </p:sp>
      <p:sp>
        <p:nvSpPr>
          <p:cNvPr id="9" name="Text 7"/>
          <p:cNvSpPr/>
          <p:nvPr/>
        </p:nvSpPr>
        <p:spPr>
          <a:xfrm>
            <a:off x="566928" y="4297680"/>
            <a:ext cx="731520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AI20K Build Cohort 2 · Team 116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2/20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BÀI TOÁN</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Mỗi ngày hàng nghìn phản hồi, con người không đọc xuể</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457200" y="1554480"/>
            <a:ext cx="3200400" cy="2926080"/>
          </a:xfrm>
          <a:prstGeom prst="roundRect">
            <a:avLst>
              <a:gd name="adj" fmla="val 3125"/>
            </a:avLst>
          </a:prstGeom>
          <a:solidFill>
            <a:srgbClr val="0B6E36"/>
          </a:solidFill>
          <a:ln/>
        </p:spPr>
      </p:sp>
      <p:sp>
        <p:nvSpPr>
          <p:cNvPr id="9" name="Text 7"/>
          <p:cNvSpPr/>
          <p:nvPr/>
        </p:nvSpPr>
        <p:spPr>
          <a:xfrm>
            <a:off x="548640" y="2057400"/>
            <a:ext cx="3017520" cy="640080"/>
          </a:xfrm>
          <a:prstGeom prst="rect">
            <a:avLst/>
          </a:prstGeom>
          <a:noFill/>
          <a:ln/>
        </p:spPr>
        <p:txBody>
          <a:bodyPr wrap="square"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Hàng nghìn</a:t>
            </a:r>
            <a:endParaRPr lang="en-US" sz="3400" dirty="0"/>
          </a:p>
        </p:txBody>
      </p:sp>
      <p:sp>
        <p:nvSpPr>
          <p:cNvPr id="10" name="Text 8"/>
          <p:cNvSpPr/>
          <p:nvPr/>
        </p:nvSpPr>
        <p:spPr>
          <a:xfrm>
            <a:off x="548640" y="2743200"/>
            <a:ext cx="3017520" cy="457200"/>
          </a:xfrm>
          <a:prstGeom prst="rect">
            <a:avLst/>
          </a:prstGeom>
          <a:noFill/>
          <a:ln/>
        </p:spPr>
        <p:txBody>
          <a:bodyPr wrap="square" rtlCol="0" anchor="ctr"/>
          <a:lstStyle/>
          <a:p>
            <a:pPr algn="ctr" indent="0" marL="0">
              <a:buNone/>
            </a:pPr>
            <a:r>
              <a:rPr lang="en-US" sz="1400" dirty="0">
                <a:solidFill>
                  <a:srgbClr val="CFEBDB"/>
                </a:solidFill>
                <a:latin typeface="Arial" pitchFamily="34" charset="0"/>
                <a:ea typeface="Arial" pitchFamily="34" charset="-122"/>
                <a:cs typeface="Arial" pitchFamily="34" charset="-120"/>
              </a:rPr>
              <a:t>phản hồi khách hàng mỗi ngày</a:t>
            </a:r>
            <a:endParaRPr lang="en-US" sz="1400" dirty="0"/>
          </a:p>
        </p:txBody>
      </p:sp>
      <p:sp>
        <p:nvSpPr>
          <p:cNvPr id="11" name="Text 9"/>
          <p:cNvSpPr/>
          <p:nvPr/>
        </p:nvSpPr>
        <p:spPr>
          <a:xfrm>
            <a:off x="548640" y="3200400"/>
            <a:ext cx="3017520" cy="365760"/>
          </a:xfrm>
          <a:prstGeom prst="rect">
            <a:avLst/>
          </a:prstGeom>
          <a:noFill/>
          <a:ln/>
        </p:spPr>
        <p:txBody>
          <a:bodyPr wrap="square" rtlCol="0" anchor="ctr"/>
          <a:lstStyle/>
          <a:p>
            <a:pPr algn="ctr" indent="0" marL="0">
              <a:buNone/>
            </a:pPr>
            <a:r>
              <a:rPr lang="en-US" sz="1200" i="1" dirty="0">
                <a:solidFill>
                  <a:srgbClr val="AFD9C2"/>
                </a:solidFill>
                <a:latin typeface="Arial" pitchFamily="34" charset="0"/>
                <a:ea typeface="Arial" pitchFamily="34" charset="-122"/>
                <a:cs typeface="Arial" pitchFamily="34" charset="-120"/>
              </a:rPr>
              <a:t>về dịch vụ gọi xe</a:t>
            </a:r>
            <a:endParaRPr lang="en-US" sz="1200" dirty="0"/>
          </a:p>
        </p:txBody>
      </p:sp>
      <p:sp>
        <p:nvSpPr>
          <p:cNvPr id="12" name="Shape 10"/>
          <p:cNvSpPr/>
          <p:nvPr/>
        </p:nvSpPr>
        <p:spPr>
          <a:xfrm>
            <a:off x="3931920" y="1554480"/>
            <a:ext cx="4754880" cy="914400"/>
          </a:xfrm>
          <a:prstGeom prst="roundRect">
            <a:avLst>
              <a:gd name="adj" fmla="val 7000"/>
            </a:avLst>
          </a:prstGeom>
          <a:solidFill>
            <a:srgbClr val="FFFFFF"/>
          </a:solidFill>
          <a:ln w="12700">
            <a:solidFill>
              <a:srgbClr val="D2E9DC"/>
            </a:solidFill>
            <a:prstDash val="solid"/>
          </a:ln>
        </p:spPr>
      </p:sp>
      <p:sp>
        <p:nvSpPr>
          <p:cNvPr id="13" name="Shape 11"/>
          <p:cNvSpPr/>
          <p:nvPr/>
        </p:nvSpPr>
        <p:spPr>
          <a:xfrm>
            <a:off x="3931920" y="1664208"/>
            <a:ext cx="64008" cy="694944"/>
          </a:xfrm>
          <a:prstGeom prst="rect">
            <a:avLst/>
          </a:prstGeom>
          <a:solidFill>
            <a:srgbClr val="D64545"/>
          </a:solidFill>
          <a:ln/>
        </p:spPr>
      </p:sp>
      <p:sp>
        <p:nvSpPr>
          <p:cNvPr id="14" name="Text 12"/>
          <p:cNvSpPr/>
          <p:nvPr/>
        </p:nvSpPr>
        <p:spPr>
          <a:xfrm>
            <a:off x="4133088" y="1700784"/>
            <a:ext cx="4443984" cy="310896"/>
          </a:xfrm>
          <a:prstGeom prst="rect">
            <a:avLst/>
          </a:prstGeom>
          <a:noFill/>
          <a:ln/>
        </p:spPr>
        <p:txBody>
          <a:bodyPr wrap="square" rtlCol="0" anchor="ctr"/>
          <a:lstStyle/>
          <a:p>
            <a:pPr indent="0" marL="0">
              <a:buNone/>
            </a:pPr>
            <a:r>
              <a:rPr lang="en-US" sz="1400" b="1" dirty="0">
                <a:solidFill>
                  <a:srgbClr val="13241B"/>
                </a:solidFill>
                <a:latin typeface="Arial" pitchFamily="34" charset="0"/>
                <a:ea typeface="Arial" pitchFamily="34" charset="-122"/>
                <a:cs typeface="Arial" pitchFamily="34" charset="-120"/>
              </a:rPr>
              <a:t>Đọc thủ công không kịp</a:t>
            </a:r>
            <a:endParaRPr lang="en-US" sz="1400" dirty="0"/>
          </a:p>
        </p:txBody>
      </p:sp>
      <p:sp>
        <p:nvSpPr>
          <p:cNvPr id="15" name="Text 13"/>
          <p:cNvSpPr/>
          <p:nvPr/>
        </p:nvSpPr>
        <p:spPr>
          <a:xfrm>
            <a:off x="4133088" y="2066544"/>
            <a:ext cx="4389120" cy="292608"/>
          </a:xfrm>
          <a:prstGeom prst="rect">
            <a:avLst/>
          </a:prstGeom>
          <a:noFill/>
          <a:ln/>
        </p:spPr>
        <p:txBody>
          <a:bodyPr wrap="square" rtlCol="0" anchor="t"/>
          <a:lstStyle/>
          <a:p>
            <a:pPr indent="0" marL="0">
              <a:buNone/>
            </a:pPr>
            <a:r>
              <a:rPr lang="en-US" sz="1200" dirty="0">
                <a:solidFill>
                  <a:srgbClr val="2B3B31"/>
                </a:solidFill>
                <a:latin typeface="Arial" pitchFamily="34" charset="0"/>
                <a:ea typeface="Arial" pitchFamily="34" charset="-122"/>
                <a:cs typeface="Arial" pitchFamily="34" charset="-120"/>
              </a:rPr>
              <a:t>Đội vận hành không thể đọc hết khối lượng phản hồi đổ về mỗi ngày.</a:t>
            </a:r>
            <a:endParaRPr lang="en-US" sz="1200" dirty="0"/>
          </a:p>
        </p:txBody>
      </p:sp>
      <p:sp>
        <p:nvSpPr>
          <p:cNvPr id="16" name="Shape 14"/>
          <p:cNvSpPr/>
          <p:nvPr/>
        </p:nvSpPr>
        <p:spPr>
          <a:xfrm>
            <a:off x="3931920" y="2560320"/>
            <a:ext cx="4754880" cy="914400"/>
          </a:xfrm>
          <a:prstGeom prst="roundRect">
            <a:avLst>
              <a:gd name="adj" fmla="val 7000"/>
            </a:avLst>
          </a:prstGeom>
          <a:solidFill>
            <a:srgbClr val="FFFFFF"/>
          </a:solidFill>
          <a:ln w="12700">
            <a:solidFill>
              <a:srgbClr val="D2E9DC"/>
            </a:solidFill>
            <a:prstDash val="solid"/>
          </a:ln>
        </p:spPr>
      </p:sp>
      <p:sp>
        <p:nvSpPr>
          <p:cNvPr id="17" name="Shape 15"/>
          <p:cNvSpPr/>
          <p:nvPr/>
        </p:nvSpPr>
        <p:spPr>
          <a:xfrm>
            <a:off x="3931920" y="2670048"/>
            <a:ext cx="64008" cy="694944"/>
          </a:xfrm>
          <a:prstGeom prst="rect">
            <a:avLst/>
          </a:prstGeom>
          <a:solidFill>
            <a:srgbClr val="E0A82E"/>
          </a:solidFill>
          <a:ln/>
        </p:spPr>
      </p:sp>
      <p:sp>
        <p:nvSpPr>
          <p:cNvPr id="18" name="Text 16"/>
          <p:cNvSpPr/>
          <p:nvPr/>
        </p:nvSpPr>
        <p:spPr>
          <a:xfrm>
            <a:off x="4133088" y="2706624"/>
            <a:ext cx="4443984" cy="310896"/>
          </a:xfrm>
          <a:prstGeom prst="rect">
            <a:avLst/>
          </a:prstGeom>
          <a:noFill/>
          <a:ln/>
        </p:spPr>
        <p:txBody>
          <a:bodyPr wrap="square" rtlCol="0" anchor="ctr"/>
          <a:lstStyle/>
          <a:p>
            <a:pPr indent="0" marL="0">
              <a:buNone/>
            </a:pPr>
            <a:r>
              <a:rPr lang="en-US" sz="1400" b="1" dirty="0">
                <a:solidFill>
                  <a:srgbClr val="13241B"/>
                </a:solidFill>
                <a:latin typeface="Arial" pitchFamily="34" charset="0"/>
                <a:ea typeface="Arial" pitchFamily="34" charset="-122"/>
                <a:cs typeface="Arial" pitchFamily="34" charset="-120"/>
              </a:rPr>
              <a:t>Vấn đề nghiêm trọng bị chìm</a:t>
            </a:r>
            <a:endParaRPr lang="en-US" sz="1400" dirty="0"/>
          </a:p>
        </p:txBody>
      </p:sp>
      <p:sp>
        <p:nvSpPr>
          <p:cNvPr id="19" name="Text 17"/>
          <p:cNvSpPr/>
          <p:nvPr/>
        </p:nvSpPr>
        <p:spPr>
          <a:xfrm>
            <a:off x="4133088" y="3072384"/>
            <a:ext cx="4389120" cy="292608"/>
          </a:xfrm>
          <a:prstGeom prst="rect">
            <a:avLst/>
          </a:prstGeom>
          <a:noFill/>
          <a:ln/>
        </p:spPr>
        <p:txBody>
          <a:bodyPr wrap="square" rtlCol="0" anchor="t"/>
          <a:lstStyle/>
          <a:p>
            <a:pPr indent="0" marL="0">
              <a:buNone/>
            </a:pPr>
            <a:r>
              <a:rPr lang="en-US" sz="1200" dirty="0">
                <a:solidFill>
                  <a:srgbClr val="2B3B31"/>
                </a:solidFill>
                <a:latin typeface="Arial" pitchFamily="34" charset="0"/>
                <a:ea typeface="Arial" pitchFamily="34" charset="-122"/>
                <a:cs typeface="Arial" pitchFamily="34" charset="-120"/>
              </a:rPr>
              <a:t>Một ca mất an toàn có thể lẫn giữa hàng trăm góp ý thông thường.</a:t>
            </a:r>
            <a:endParaRPr lang="en-US" sz="1200" dirty="0"/>
          </a:p>
        </p:txBody>
      </p:sp>
      <p:sp>
        <p:nvSpPr>
          <p:cNvPr id="20" name="Shape 18"/>
          <p:cNvSpPr/>
          <p:nvPr/>
        </p:nvSpPr>
        <p:spPr>
          <a:xfrm>
            <a:off x="3931920" y="3566160"/>
            <a:ext cx="4754880" cy="914400"/>
          </a:xfrm>
          <a:prstGeom prst="roundRect">
            <a:avLst>
              <a:gd name="adj" fmla="val 7000"/>
            </a:avLst>
          </a:prstGeom>
          <a:solidFill>
            <a:srgbClr val="FFFFFF"/>
          </a:solidFill>
          <a:ln w="12700">
            <a:solidFill>
              <a:srgbClr val="D2E9DC"/>
            </a:solidFill>
            <a:prstDash val="solid"/>
          </a:ln>
        </p:spPr>
      </p:sp>
      <p:sp>
        <p:nvSpPr>
          <p:cNvPr id="21" name="Shape 19"/>
          <p:cNvSpPr/>
          <p:nvPr/>
        </p:nvSpPr>
        <p:spPr>
          <a:xfrm>
            <a:off x="3931920" y="3675888"/>
            <a:ext cx="64008" cy="694944"/>
          </a:xfrm>
          <a:prstGeom prst="rect">
            <a:avLst/>
          </a:prstGeom>
          <a:solidFill>
            <a:srgbClr val="12A150"/>
          </a:solidFill>
          <a:ln/>
        </p:spPr>
      </p:sp>
      <p:sp>
        <p:nvSpPr>
          <p:cNvPr id="22" name="Text 20"/>
          <p:cNvSpPr/>
          <p:nvPr/>
        </p:nvSpPr>
        <p:spPr>
          <a:xfrm>
            <a:off x="4133088" y="3712464"/>
            <a:ext cx="4443984" cy="310896"/>
          </a:xfrm>
          <a:prstGeom prst="rect">
            <a:avLst/>
          </a:prstGeom>
          <a:noFill/>
          <a:ln/>
        </p:spPr>
        <p:txBody>
          <a:bodyPr wrap="square" rtlCol="0" anchor="ctr"/>
          <a:lstStyle/>
          <a:p>
            <a:pPr indent="0" marL="0">
              <a:buNone/>
            </a:pPr>
            <a:r>
              <a:rPr lang="en-US" sz="1400" b="1" dirty="0">
                <a:solidFill>
                  <a:srgbClr val="13241B"/>
                </a:solidFill>
                <a:latin typeface="Arial" pitchFamily="34" charset="0"/>
                <a:ea typeface="Arial" pitchFamily="34" charset="-122"/>
                <a:cs typeface="Arial" pitchFamily="34" charset="-120"/>
              </a:rPr>
              <a:t>Phản ứng chậm = rủi ro tăng</a:t>
            </a:r>
            <a:endParaRPr lang="en-US" sz="1400" dirty="0"/>
          </a:p>
        </p:txBody>
      </p:sp>
      <p:sp>
        <p:nvSpPr>
          <p:cNvPr id="23" name="Text 21"/>
          <p:cNvSpPr/>
          <p:nvPr/>
        </p:nvSpPr>
        <p:spPr>
          <a:xfrm>
            <a:off x="4133088" y="4078224"/>
            <a:ext cx="4389120" cy="292608"/>
          </a:xfrm>
          <a:prstGeom prst="rect">
            <a:avLst/>
          </a:prstGeom>
          <a:noFill/>
          <a:ln/>
        </p:spPr>
        <p:txBody>
          <a:bodyPr wrap="square" rtlCol="0" anchor="t"/>
          <a:lstStyle/>
          <a:p>
            <a:pPr indent="0" marL="0">
              <a:buNone/>
            </a:pPr>
            <a:r>
              <a:rPr lang="en-US" sz="1200" dirty="0">
                <a:solidFill>
                  <a:srgbClr val="2B3B31"/>
                </a:solidFill>
                <a:latin typeface="Arial" pitchFamily="34" charset="0"/>
                <a:ea typeface="Arial" pitchFamily="34" charset="-122"/>
                <a:cs typeface="Arial" pitchFamily="34" charset="-120"/>
              </a:rPr>
              <a:t>Càng phát hiện muộn, sự cố càng lan và càng tốn chi phí xử lý.</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3/20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VÌ SAO CẤP THIẾT</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Phát hiện chậm một sự cố, trả giá bằng nhiều thứ</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457200" y="1691640"/>
            <a:ext cx="2606040" cy="1828800"/>
          </a:xfrm>
          <a:prstGeom prst="roundRect">
            <a:avLst>
              <a:gd name="adj" fmla="val 3500"/>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9" name="Shape 7"/>
          <p:cNvSpPr/>
          <p:nvPr/>
        </p:nvSpPr>
        <p:spPr>
          <a:xfrm>
            <a:off x="457200" y="1801368"/>
            <a:ext cx="64008" cy="1609344"/>
          </a:xfrm>
          <a:prstGeom prst="rect">
            <a:avLst/>
          </a:prstGeom>
          <a:solidFill>
            <a:srgbClr val="D64545"/>
          </a:solidFill>
          <a:ln/>
        </p:spPr>
      </p:sp>
      <p:sp>
        <p:nvSpPr>
          <p:cNvPr id="10" name="Text 8"/>
          <p:cNvSpPr/>
          <p:nvPr/>
        </p:nvSpPr>
        <p:spPr>
          <a:xfrm>
            <a:off x="658368" y="1837944"/>
            <a:ext cx="2295144" cy="310896"/>
          </a:xfrm>
          <a:prstGeom prst="rect">
            <a:avLst/>
          </a:prstGeom>
          <a:noFill/>
          <a:ln/>
        </p:spPr>
        <p:txBody>
          <a:bodyPr wrap="square" rtlCol="0" anchor="ctr"/>
          <a:lstStyle/>
          <a:p>
            <a:pPr indent="0" marL="0">
              <a:buNone/>
            </a:pPr>
            <a:r>
              <a:rPr lang="en-US" sz="1500" b="1" dirty="0">
                <a:solidFill>
                  <a:srgbClr val="13241B"/>
                </a:solidFill>
                <a:latin typeface="Arial" pitchFamily="34" charset="0"/>
                <a:ea typeface="Arial" pitchFamily="34" charset="-122"/>
                <a:cs typeface="Arial" pitchFamily="34" charset="-120"/>
              </a:rPr>
              <a:t>An toàn lan rộng</a:t>
            </a:r>
            <a:endParaRPr lang="en-US" sz="1500" dirty="0"/>
          </a:p>
        </p:txBody>
      </p:sp>
      <p:sp>
        <p:nvSpPr>
          <p:cNvPr id="11" name="Text 9"/>
          <p:cNvSpPr/>
          <p:nvPr/>
        </p:nvSpPr>
        <p:spPr>
          <a:xfrm>
            <a:off x="658368" y="2203704"/>
            <a:ext cx="2240280" cy="1207008"/>
          </a:xfrm>
          <a:prstGeom prst="rect">
            <a:avLst/>
          </a:prstGeom>
          <a:noFill/>
          <a:ln/>
        </p:spPr>
        <p:txBody>
          <a:bodyPr wrap="square" rtlCol="0" anchor="t"/>
          <a:lstStyle/>
          <a:p>
            <a:pPr indent="0" marL="0">
              <a:buNone/>
            </a:pPr>
            <a:r>
              <a:rPr lang="en-US" sz="1200" dirty="0">
                <a:solidFill>
                  <a:srgbClr val="2B3B31"/>
                </a:solidFill>
                <a:latin typeface="Arial" pitchFamily="34" charset="0"/>
                <a:ea typeface="Arial" pitchFamily="34" charset="-122"/>
                <a:cs typeface="Arial" pitchFamily="34" charset="-120"/>
              </a:rPr>
              <a:t>Tài xế đi ẩu hôm nay nếu bỏ sót có thể thành tai nạn ngày mai.</a:t>
            </a:r>
            <a:endParaRPr lang="en-US" sz="1200" dirty="0"/>
          </a:p>
        </p:txBody>
      </p:sp>
      <p:sp>
        <p:nvSpPr>
          <p:cNvPr id="12" name="Shape 10"/>
          <p:cNvSpPr/>
          <p:nvPr/>
        </p:nvSpPr>
        <p:spPr>
          <a:xfrm>
            <a:off x="3264408" y="1691640"/>
            <a:ext cx="2606040" cy="1828800"/>
          </a:xfrm>
          <a:prstGeom prst="roundRect">
            <a:avLst>
              <a:gd name="adj" fmla="val 3500"/>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13" name="Shape 11"/>
          <p:cNvSpPr/>
          <p:nvPr/>
        </p:nvSpPr>
        <p:spPr>
          <a:xfrm>
            <a:off x="3264408" y="1801368"/>
            <a:ext cx="64008" cy="1609344"/>
          </a:xfrm>
          <a:prstGeom prst="rect">
            <a:avLst/>
          </a:prstGeom>
          <a:solidFill>
            <a:srgbClr val="E0A82E"/>
          </a:solidFill>
          <a:ln/>
        </p:spPr>
      </p:sp>
      <p:sp>
        <p:nvSpPr>
          <p:cNvPr id="14" name="Text 12"/>
          <p:cNvSpPr/>
          <p:nvPr/>
        </p:nvSpPr>
        <p:spPr>
          <a:xfrm>
            <a:off x="3465576" y="1837944"/>
            <a:ext cx="2295144" cy="310896"/>
          </a:xfrm>
          <a:prstGeom prst="rect">
            <a:avLst/>
          </a:prstGeom>
          <a:noFill/>
          <a:ln/>
        </p:spPr>
        <p:txBody>
          <a:bodyPr wrap="square" rtlCol="0" anchor="ctr"/>
          <a:lstStyle/>
          <a:p>
            <a:pPr indent="0" marL="0">
              <a:buNone/>
            </a:pPr>
            <a:r>
              <a:rPr lang="en-US" sz="1500" b="1" dirty="0">
                <a:solidFill>
                  <a:srgbClr val="13241B"/>
                </a:solidFill>
                <a:latin typeface="Arial" pitchFamily="34" charset="0"/>
                <a:ea typeface="Arial" pitchFamily="34" charset="-122"/>
                <a:cs typeface="Arial" pitchFamily="34" charset="-120"/>
              </a:rPr>
              <a:t>Mất khách hàng</a:t>
            </a:r>
            <a:endParaRPr lang="en-US" sz="1500" dirty="0"/>
          </a:p>
        </p:txBody>
      </p:sp>
      <p:sp>
        <p:nvSpPr>
          <p:cNvPr id="15" name="Text 13"/>
          <p:cNvSpPr/>
          <p:nvPr/>
        </p:nvSpPr>
        <p:spPr>
          <a:xfrm>
            <a:off x="3465576" y="2203704"/>
            <a:ext cx="2240280" cy="1207008"/>
          </a:xfrm>
          <a:prstGeom prst="rect">
            <a:avLst/>
          </a:prstGeom>
          <a:noFill/>
          <a:ln/>
        </p:spPr>
        <p:txBody>
          <a:bodyPr wrap="square" rtlCol="0" anchor="t"/>
          <a:lstStyle/>
          <a:p>
            <a:pPr indent="0" marL="0">
              <a:buNone/>
            </a:pPr>
            <a:r>
              <a:rPr lang="en-US" sz="1200" dirty="0">
                <a:solidFill>
                  <a:srgbClr val="2B3B31"/>
                </a:solidFill>
                <a:latin typeface="Arial" pitchFamily="34" charset="0"/>
                <a:ea typeface="Arial" pitchFamily="34" charset="-122"/>
                <a:cs typeface="Arial" pitchFamily="34" charset="-120"/>
              </a:rPr>
              <a:t>Trải nghiệm xấu không được xử lý kịp đẩy khách sang đối thủ.</a:t>
            </a:r>
            <a:endParaRPr lang="en-US" sz="1200" dirty="0"/>
          </a:p>
        </p:txBody>
      </p:sp>
      <p:sp>
        <p:nvSpPr>
          <p:cNvPr id="16" name="Shape 14"/>
          <p:cNvSpPr/>
          <p:nvPr/>
        </p:nvSpPr>
        <p:spPr>
          <a:xfrm>
            <a:off x="6071616" y="1691640"/>
            <a:ext cx="2606040" cy="1828800"/>
          </a:xfrm>
          <a:prstGeom prst="roundRect">
            <a:avLst>
              <a:gd name="adj" fmla="val 3500"/>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17" name="Shape 15"/>
          <p:cNvSpPr/>
          <p:nvPr/>
        </p:nvSpPr>
        <p:spPr>
          <a:xfrm>
            <a:off x="6071616" y="1801368"/>
            <a:ext cx="64008" cy="1609344"/>
          </a:xfrm>
          <a:prstGeom prst="rect">
            <a:avLst/>
          </a:prstGeom>
          <a:solidFill>
            <a:srgbClr val="0B6E36"/>
          </a:solidFill>
          <a:ln/>
        </p:spPr>
      </p:sp>
      <p:sp>
        <p:nvSpPr>
          <p:cNvPr id="18" name="Text 16"/>
          <p:cNvSpPr/>
          <p:nvPr/>
        </p:nvSpPr>
        <p:spPr>
          <a:xfrm>
            <a:off x="6272784" y="1837944"/>
            <a:ext cx="2295144" cy="310896"/>
          </a:xfrm>
          <a:prstGeom prst="rect">
            <a:avLst/>
          </a:prstGeom>
          <a:noFill/>
          <a:ln/>
        </p:spPr>
        <p:txBody>
          <a:bodyPr wrap="square" rtlCol="0" anchor="ctr"/>
          <a:lstStyle/>
          <a:p>
            <a:pPr indent="0" marL="0">
              <a:buNone/>
            </a:pPr>
            <a:r>
              <a:rPr lang="en-US" sz="1500" b="1" dirty="0">
                <a:solidFill>
                  <a:srgbClr val="13241B"/>
                </a:solidFill>
                <a:latin typeface="Arial" pitchFamily="34" charset="0"/>
                <a:ea typeface="Arial" pitchFamily="34" charset="-122"/>
                <a:cs typeface="Arial" pitchFamily="34" charset="-120"/>
              </a:rPr>
              <a:t>Hại thương hiệu</a:t>
            </a:r>
            <a:endParaRPr lang="en-US" sz="1500" dirty="0"/>
          </a:p>
        </p:txBody>
      </p:sp>
      <p:sp>
        <p:nvSpPr>
          <p:cNvPr id="19" name="Text 17"/>
          <p:cNvSpPr/>
          <p:nvPr/>
        </p:nvSpPr>
        <p:spPr>
          <a:xfrm>
            <a:off x="6272784" y="2203704"/>
            <a:ext cx="2240280" cy="1207008"/>
          </a:xfrm>
          <a:prstGeom prst="rect">
            <a:avLst/>
          </a:prstGeom>
          <a:noFill/>
          <a:ln/>
        </p:spPr>
        <p:txBody>
          <a:bodyPr wrap="square" rtlCol="0" anchor="t"/>
          <a:lstStyle/>
          <a:p>
            <a:pPr indent="0" marL="0">
              <a:buNone/>
            </a:pPr>
            <a:r>
              <a:rPr lang="en-US" sz="1200" dirty="0">
                <a:solidFill>
                  <a:srgbClr val="2B3B31"/>
                </a:solidFill>
                <a:latin typeface="Arial" pitchFamily="34" charset="0"/>
                <a:ea typeface="Arial" pitchFamily="34" charset="-122"/>
                <a:cs typeface="Arial" pitchFamily="34" charset="-120"/>
              </a:rPr>
              <a:t>Sự cố lan trên mạng xã hội nhanh hơn quy trình xử lý thủ công.</a:t>
            </a:r>
            <a:endParaRPr lang="en-US" sz="1200" dirty="0"/>
          </a:p>
        </p:txBody>
      </p:sp>
      <p:sp>
        <p:nvSpPr>
          <p:cNvPr id="20" name="Shape 18"/>
          <p:cNvSpPr/>
          <p:nvPr/>
        </p:nvSpPr>
        <p:spPr>
          <a:xfrm>
            <a:off x="457200" y="3794760"/>
            <a:ext cx="8229600" cy="713232"/>
          </a:xfrm>
          <a:prstGeom prst="roundRect">
            <a:avLst>
              <a:gd name="adj" fmla="val 10256"/>
            </a:avLst>
          </a:prstGeom>
          <a:solidFill>
            <a:srgbClr val="E4F1EA"/>
          </a:solidFill>
          <a:ln w="12700">
            <a:solidFill>
              <a:srgbClr val="12A150"/>
            </a:solidFill>
            <a:prstDash val="solid"/>
          </a:ln>
        </p:spPr>
      </p:sp>
      <p:sp>
        <p:nvSpPr>
          <p:cNvPr id="21" name="Text 19"/>
          <p:cNvSpPr/>
          <p:nvPr/>
        </p:nvSpPr>
        <p:spPr>
          <a:xfrm>
            <a:off x="640080" y="3794760"/>
            <a:ext cx="7863840" cy="713232"/>
          </a:xfrm>
          <a:prstGeom prst="rect">
            <a:avLst/>
          </a:prstGeom>
          <a:noFill/>
          <a:ln/>
        </p:spPr>
        <p:txBody>
          <a:bodyPr wrap="square" rtlCol="0" anchor="ctr"/>
          <a:lstStyle/>
          <a:p>
            <a:pPr indent="0" marL="0">
              <a:buNone/>
            </a:pPr>
            <a:r>
              <a:rPr lang="en-US" sz="1300" b="1" dirty="0">
                <a:solidFill>
                  <a:srgbClr val="0B6E36"/>
                </a:solidFill>
                <a:latin typeface="Arial" pitchFamily="34" charset="0"/>
                <a:ea typeface="Arial" pitchFamily="34" charset="-122"/>
                <a:cs typeface="Arial" pitchFamily="34" charset="-120"/>
              </a:rPr>
              <a:t>Tốc độ phát hiện chính là tiền. </a:t>
            </a:r>
            <a:pPr indent="0" marL="0">
              <a:buNone/>
            </a:pPr>
            <a:r>
              <a:rPr lang="en-US" sz="1300" dirty="0">
                <a:solidFill>
                  <a:srgbClr val="13241B"/>
                </a:solidFill>
                <a:latin typeface="Arial" pitchFamily="34" charset="0"/>
                <a:ea typeface="Arial" pitchFamily="34" charset="-122"/>
                <a:cs typeface="Arial" pitchFamily="34" charset="-120"/>
              </a:rPr>
              <a:t>Mỗi giờ rút ngắn từ lúc khách phàn nàn đến lúc đúng người xử lý là rủi ro được chặn lại.</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4/20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GIẢI PHÁP</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Một dây chuyền khép kín: từ phản hồi đến hành động</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548640" y="1965960"/>
            <a:ext cx="1360627" cy="1234440"/>
          </a:xfrm>
          <a:prstGeom prst="roundRect">
            <a:avLst>
              <a:gd name="adj" fmla="val 4444"/>
            </a:avLst>
          </a:prstGeom>
          <a:solidFill>
            <a:srgbClr val="12A150"/>
          </a:solidFill>
          <a:ln w="12700">
            <a:solidFill>
              <a:srgbClr val="0B6E36"/>
            </a:solidFill>
            <a:prstDash val="solid"/>
          </a:ln>
        </p:spPr>
      </p:sp>
      <p:sp>
        <p:nvSpPr>
          <p:cNvPr id="9" name="Text 7"/>
          <p:cNvSpPr/>
          <p:nvPr/>
        </p:nvSpPr>
        <p:spPr>
          <a:xfrm>
            <a:off x="585216" y="1965960"/>
            <a:ext cx="1287475" cy="12344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Đọc thay</a:t>
            </a:r>
            <a:endParaRPr lang="en-US" sz="1200" dirty="0"/>
          </a:p>
          <a:p>
            <a:pPr algn="ctr" indent="0" marL="0">
              <a:buNone/>
            </a:pPr>
            <a:r>
              <a:rPr lang="en-US" sz="950" dirty="0">
                <a:solidFill>
                  <a:srgbClr val="EAF6EF"/>
                </a:solidFill>
                <a:latin typeface="Arial" pitchFamily="34" charset="0"/>
                <a:ea typeface="Arial" pitchFamily="34" charset="-122"/>
                <a:cs typeface="Arial" pitchFamily="34" charset="-120"/>
              </a:rPr>
              <a:t>che PII + chuẩn hóa</a:t>
            </a:r>
            <a:endParaRPr lang="en-US" sz="1200" dirty="0"/>
          </a:p>
        </p:txBody>
      </p:sp>
      <p:sp>
        <p:nvSpPr>
          <p:cNvPr id="10" name="Shape 8"/>
          <p:cNvSpPr/>
          <p:nvPr/>
        </p:nvSpPr>
        <p:spPr>
          <a:xfrm>
            <a:off x="1945843" y="2491740"/>
            <a:ext cx="237744" cy="182880"/>
          </a:xfrm>
          <a:prstGeom prst="rightArrow">
            <a:avLst/>
          </a:prstGeom>
          <a:solidFill>
            <a:srgbClr val="0B6E36"/>
          </a:solidFill>
          <a:ln/>
        </p:spPr>
      </p:sp>
      <p:sp>
        <p:nvSpPr>
          <p:cNvPr id="11" name="Shape 9"/>
          <p:cNvSpPr/>
          <p:nvPr/>
        </p:nvSpPr>
        <p:spPr>
          <a:xfrm>
            <a:off x="2220163" y="1965960"/>
            <a:ext cx="1360627" cy="1234440"/>
          </a:xfrm>
          <a:prstGeom prst="roundRect">
            <a:avLst>
              <a:gd name="adj" fmla="val 4444"/>
            </a:avLst>
          </a:prstGeom>
          <a:solidFill>
            <a:srgbClr val="12A150"/>
          </a:solidFill>
          <a:ln w="12700">
            <a:solidFill>
              <a:srgbClr val="0B6E36"/>
            </a:solidFill>
            <a:prstDash val="solid"/>
          </a:ln>
        </p:spPr>
      </p:sp>
      <p:sp>
        <p:nvSpPr>
          <p:cNvPr id="12" name="Text 10"/>
          <p:cNvSpPr/>
          <p:nvPr/>
        </p:nvSpPr>
        <p:spPr>
          <a:xfrm>
            <a:off x="2256739" y="1965960"/>
            <a:ext cx="1287475" cy="12344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Phân loại</a:t>
            </a:r>
            <a:endParaRPr lang="en-US" sz="1200" dirty="0"/>
          </a:p>
          <a:p>
            <a:pPr algn="ctr" indent="0" marL="0">
              <a:buNone/>
            </a:pPr>
            <a:r>
              <a:rPr lang="en-US" sz="950" dirty="0">
                <a:solidFill>
                  <a:srgbClr val="EAF6EF"/>
                </a:solidFill>
                <a:latin typeface="Arial" pitchFamily="34" charset="0"/>
                <a:ea typeface="Arial" pitchFamily="34" charset="-122"/>
                <a:cs typeface="Arial" pitchFamily="34" charset="-120"/>
              </a:rPr>
              <a:t>chủ đề · cảm xúc · mức độ</a:t>
            </a:r>
            <a:endParaRPr lang="en-US" sz="1200" dirty="0"/>
          </a:p>
        </p:txBody>
      </p:sp>
      <p:sp>
        <p:nvSpPr>
          <p:cNvPr id="13" name="Shape 11"/>
          <p:cNvSpPr/>
          <p:nvPr/>
        </p:nvSpPr>
        <p:spPr>
          <a:xfrm>
            <a:off x="3617366" y="2491740"/>
            <a:ext cx="237744" cy="182880"/>
          </a:xfrm>
          <a:prstGeom prst="rightArrow">
            <a:avLst/>
          </a:prstGeom>
          <a:solidFill>
            <a:srgbClr val="0B6E36"/>
          </a:solidFill>
          <a:ln/>
        </p:spPr>
      </p:sp>
      <p:sp>
        <p:nvSpPr>
          <p:cNvPr id="14" name="Shape 12"/>
          <p:cNvSpPr/>
          <p:nvPr/>
        </p:nvSpPr>
        <p:spPr>
          <a:xfrm>
            <a:off x="3891686" y="1965960"/>
            <a:ext cx="1360627" cy="1234440"/>
          </a:xfrm>
          <a:prstGeom prst="roundRect">
            <a:avLst>
              <a:gd name="adj" fmla="val 4444"/>
            </a:avLst>
          </a:prstGeom>
          <a:solidFill>
            <a:srgbClr val="12A150"/>
          </a:solidFill>
          <a:ln w="12700">
            <a:solidFill>
              <a:srgbClr val="0B6E36"/>
            </a:solidFill>
            <a:prstDash val="solid"/>
          </a:ln>
        </p:spPr>
      </p:sp>
      <p:sp>
        <p:nvSpPr>
          <p:cNvPr id="15" name="Text 13"/>
          <p:cNvSpPr/>
          <p:nvPr/>
        </p:nvSpPr>
        <p:spPr>
          <a:xfrm>
            <a:off x="3928262" y="1965960"/>
            <a:ext cx="1287475" cy="12344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Phát hiện điểm nóng</a:t>
            </a:r>
            <a:endParaRPr lang="en-US" sz="1200" dirty="0"/>
          </a:p>
          <a:p>
            <a:pPr algn="ctr" indent="0" marL="0">
              <a:buNone/>
            </a:pPr>
            <a:r>
              <a:rPr lang="en-US" sz="950" dirty="0">
                <a:solidFill>
                  <a:srgbClr val="EAF6EF"/>
                </a:solidFill>
                <a:latin typeface="Arial" pitchFamily="34" charset="0"/>
                <a:ea typeface="Arial" pitchFamily="34" charset="-122"/>
                <a:cs typeface="Arial" pitchFamily="34" charset="-120"/>
              </a:rPr>
              <a:t>gom cụm bất thường</a:t>
            </a:r>
            <a:endParaRPr lang="en-US" sz="1200" dirty="0"/>
          </a:p>
        </p:txBody>
      </p:sp>
      <p:sp>
        <p:nvSpPr>
          <p:cNvPr id="16" name="Shape 14"/>
          <p:cNvSpPr/>
          <p:nvPr/>
        </p:nvSpPr>
        <p:spPr>
          <a:xfrm>
            <a:off x="5288890" y="2491740"/>
            <a:ext cx="237744" cy="182880"/>
          </a:xfrm>
          <a:prstGeom prst="rightArrow">
            <a:avLst/>
          </a:prstGeom>
          <a:solidFill>
            <a:srgbClr val="0B6E36"/>
          </a:solidFill>
          <a:ln/>
        </p:spPr>
      </p:sp>
      <p:sp>
        <p:nvSpPr>
          <p:cNvPr id="17" name="Shape 15"/>
          <p:cNvSpPr/>
          <p:nvPr/>
        </p:nvSpPr>
        <p:spPr>
          <a:xfrm>
            <a:off x="5563210" y="1965960"/>
            <a:ext cx="1360627" cy="1234440"/>
          </a:xfrm>
          <a:prstGeom prst="roundRect">
            <a:avLst>
              <a:gd name="adj" fmla="val 4444"/>
            </a:avLst>
          </a:prstGeom>
          <a:solidFill>
            <a:srgbClr val="12A150"/>
          </a:solidFill>
          <a:ln w="12700">
            <a:solidFill>
              <a:srgbClr val="0B6E36"/>
            </a:solidFill>
            <a:prstDash val="solid"/>
          </a:ln>
        </p:spPr>
      </p:sp>
      <p:sp>
        <p:nvSpPr>
          <p:cNvPr id="18" name="Text 16"/>
          <p:cNvSpPr/>
          <p:nvPr/>
        </p:nvSpPr>
        <p:spPr>
          <a:xfrm>
            <a:off x="5599786" y="1965960"/>
            <a:ext cx="1287475" cy="12344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Giao việc theo SLA</a:t>
            </a:r>
            <a:endParaRPr lang="en-US" sz="1200" dirty="0"/>
          </a:p>
          <a:p>
            <a:pPr algn="ctr" indent="0" marL="0">
              <a:buNone/>
            </a:pPr>
            <a:r>
              <a:rPr lang="en-US" sz="950" dirty="0">
                <a:solidFill>
                  <a:srgbClr val="EAF6EF"/>
                </a:solidFill>
                <a:latin typeface="Arial" pitchFamily="34" charset="0"/>
                <a:ea typeface="Arial" pitchFamily="34" charset="-122"/>
                <a:cs typeface="Arial" pitchFamily="34" charset="-120"/>
              </a:rPr>
              <a:t>đúng phòng ban</a:t>
            </a:r>
            <a:endParaRPr lang="en-US" sz="1200" dirty="0"/>
          </a:p>
        </p:txBody>
      </p:sp>
      <p:sp>
        <p:nvSpPr>
          <p:cNvPr id="19" name="Shape 17"/>
          <p:cNvSpPr/>
          <p:nvPr/>
        </p:nvSpPr>
        <p:spPr>
          <a:xfrm>
            <a:off x="6960413" y="2491740"/>
            <a:ext cx="237744" cy="182880"/>
          </a:xfrm>
          <a:prstGeom prst="rightArrow">
            <a:avLst/>
          </a:prstGeom>
          <a:solidFill>
            <a:srgbClr val="0B6E36"/>
          </a:solidFill>
          <a:ln/>
        </p:spPr>
      </p:sp>
      <p:sp>
        <p:nvSpPr>
          <p:cNvPr id="20" name="Shape 18"/>
          <p:cNvSpPr/>
          <p:nvPr/>
        </p:nvSpPr>
        <p:spPr>
          <a:xfrm>
            <a:off x="7234733" y="1965960"/>
            <a:ext cx="1360627" cy="1234440"/>
          </a:xfrm>
          <a:prstGeom prst="roundRect">
            <a:avLst>
              <a:gd name="adj" fmla="val 4444"/>
            </a:avLst>
          </a:prstGeom>
          <a:solidFill>
            <a:srgbClr val="12A150"/>
          </a:solidFill>
          <a:ln w="12700">
            <a:solidFill>
              <a:srgbClr val="0B6E36"/>
            </a:solidFill>
            <a:prstDash val="solid"/>
          </a:ln>
        </p:spPr>
      </p:sp>
      <p:sp>
        <p:nvSpPr>
          <p:cNvPr id="21" name="Text 19"/>
          <p:cNvSpPr/>
          <p:nvPr/>
        </p:nvSpPr>
        <p:spPr>
          <a:xfrm>
            <a:off x="7271309" y="1965960"/>
            <a:ext cx="1287475" cy="12344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Báo cáo</a:t>
            </a:r>
            <a:endParaRPr lang="en-US" sz="1200" dirty="0"/>
          </a:p>
          <a:p>
            <a:pPr algn="ctr" indent="0" marL="0">
              <a:buNone/>
            </a:pPr>
            <a:r>
              <a:rPr lang="en-US" sz="950" dirty="0">
                <a:solidFill>
                  <a:srgbClr val="EAF6EF"/>
                </a:solidFill>
                <a:latin typeface="Arial" pitchFamily="34" charset="0"/>
                <a:ea typeface="Arial" pitchFamily="34" charset="-122"/>
                <a:cs typeface="Arial" pitchFamily="34" charset="-120"/>
              </a:rPr>
              <a:t>tổng hợp &amp; đề xuất</a:t>
            </a:r>
            <a:endParaRPr lang="en-US" sz="1200" dirty="0"/>
          </a:p>
        </p:txBody>
      </p:sp>
      <p:sp>
        <p:nvSpPr>
          <p:cNvPr id="22" name="Shape 20"/>
          <p:cNvSpPr/>
          <p:nvPr/>
        </p:nvSpPr>
        <p:spPr>
          <a:xfrm>
            <a:off x="457200" y="3657600"/>
            <a:ext cx="8229600" cy="868680"/>
          </a:xfrm>
          <a:prstGeom prst="roundRect">
            <a:avLst>
              <a:gd name="adj" fmla="val 8421"/>
            </a:avLst>
          </a:prstGeom>
          <a:solidFill>
            <a:srgbClr val="0B6E36"/>
          </a:solidFill>
          <a:ln/>
        </p:spPr>
      </p:sp>
      <p:sp>
        <p:nvSpPr>
          <p:cNvPr id="23" name="Text 21"/>
          <p:cNvSpPr/>
          <p:nvPr/>
        </p:nvSpPr>
        <p:spPr>
          <a:xfrm>
            <a:off x="640080" y="3657600"/>
            <a:ext cx="7863840" cy="868680"/>
          </a:xfrm>
          <a:prstGeom prst="rect">
            <a:avLst/>
          </a:prstGeom>
          <a:noFill/>
          <a:ln/>
        </p:spPr>
        <p:txBody>
          <a:bodyPr wrap="square" rtlCol="0" anchor="ctr"/>
          <a:lstStyle/>
          <a:p>
            <a:pPr algn="ctr" indent="0" marL="0">
              <a:buNone/>
            </a:pPr>
            <a:r>
              <a:rPr lang="en-US" sz="1350" dirty="0">
                <a:solidFill>
                  <a:srgbClr val="FFFFFF"/>
                </a:solidFill>
                <a:latin typeface="Arial" pitchFamily="34" charset="0"/>
                <a:ea typeface="Arial" pitchFamily="34" charset="-122"/>
                <a:cs typeface="Arial" pitchFamily="34" charset="-120"/>
              </a:rPr>
              <a:t>Hệ thống đọc thay con người, </a:t>
            </a:r>
            <a:pPr algn="ctr" indent="0" marL="0">
              <a:buNone/>
            </a:pPr>
            <a:r>
              <a:rPr lang="en-US" sz="1350" b="1" dirty="0">
                <a:solidFill>
                  <a:srgbClr val="22B14C"/>
                </a:solidFill>
                <a:latin typeface="Arial" pitchFamily="34" charset="0"/>
                <a:ea typeface="Arial" pitchFamily="34" charset="-122"/>
                <a:cs typeface="Arial" pitchFamily="34" charset="-120"/>
              </a:rPr>
              <a:t>phân loại → phát hiện → giao đúng phòng ban theo SLA → tổng hợp báo cáo</a:t>
            </a:r>
            <a:pPr algn="ctr" indent="0" marL="0">
              <a:buNone/>
            </a:pPr>
            <a:r>
              <a:rPr lang="en-US" sz="1350" dirty="0">
                <a:solidFill>
                  <a:srgbClr val="FFFFFF"/>
                </a:solidFill>
                <a:latin typeface="Arial" pitchFamily="34" charset="0"/>
                <a:ea typeface="Arial" pitchFamily="34" charset="-122"/>
                <a:cs typeface="Arial" pitchFamily="34" charset="-120"/>
              </a:rPr>
              <a:t>. Khép kín từ tiếng nói khách hàng đến việc làm cụ thể.</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5/20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SẢN PHẨM</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Quality Cockpit — bảng điều khiển thời gian thực</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4572000" y="1600200"/>
            <a:ext cx="4114800" cy="2971800"/>
          </a:xfrm>
          <a:prstGeom prst="roundRect">
            <a:avLst>
              <a:gd name="adj" fmla="val 1846"/>
            </a:avLst>
          </a:prstGeom>
          <a:solidFill>
            <a:srgbClr val="FFFFFF"/>
          </a:solidFill>
          <a:ln w="19050">
            <a:solidFill>
              <a:srgbClr val="D2E9DC"/>
            </a:solidFill>
            <a:prstDash val="solid"/>
          </a:ln>
          <a:effectLst>
            <a:outerShdw sx="100000" sy="100000" kx="0" ky="0" algn="bl" rotWithShape="0" blurRad="88900" dist="38100" dir="5400000">
              <a:srgbClr val="B7C9BE">
                <a:alpha val="50000"/>
              </a:srgbClr>
            </a:outerShdw>
          </a:effectLst>
        </p:spPr>
      </p:sp>
      <p:sp>
        <p:nvSpPr>
          <p:cNvPr id="9" name="Shape 7"/>
          <p:cNvSpPr/>
          <p:nvPr/>
        </p:nvSpPr>
        <p:spPr>
          <a:xfrm>
            <a:off x="4572000" y="1600200"/>
            <a:ext cx="4114800" cy="365760"/>
          </a:xfrm>
          <a:prstGeom prst="rect">
            <a:avLst/>
          </a:prstGeom>
          <a:solidFill>
            <a:srgbClr val="0B6E36"/>
          </a:solidFill>
          <a:ln/>
        </p:spPr>
      </p:sp>
      <p:sp>
        <p:nvSpPr>
          <p:cNvPr id="10" name="Text 8"/>
          <p:cNvSpPr/>
          <p:nvPr/>
        </p:nvSpPr>
        <p:spPr>
          <a:xfrm>
            <a:off x="4709160" y="1600200"/>
            <a:ext cx="2743200"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Dashboard</a:t>
            </a:r>
            <a:endParaRPr lang="en-US" sz="1000" dirty="0"/>
          </a:p>
        </p:txBody>
      </p:sp>
      <p:sp>
        <p:nvSpPr>
          <p:cNvPr id="11" name="Shape 9"/>
          <p:cNvSpPr/>
          <p:nvPr/>
        </p:nvSpPr>
        <p:spPr>
          <a:xfrm>
            <a:off x="4709160" y="2103120"/>
            <a:ext cx="868680" cy="502920"/>
          </a:xfrm>
          <a:prstGeom prst="roundRect">
            <a:avLst>
              <a:gd name="adj" fmla="val 9091"/>
            </a:avLst>
          </a:prstGeom>
          <a:solidFill>
            <a:srgbClr val="E4F1EA"/>
          </a:solidFill>
          <a:ln/>
        </p:spPr>
      </p:sp>
      <p:sp>
        <p:nvSpPr>
          <p:cNvPr id="12" name="Shape 10"/>
          <p:cNvSpPr/>
          <p:nvPr/>
        </p:nvSpPr>
        <p:spPr>
          <a:xfrm>
            <a:off x="5669280" y="2103120"/>
            <a:ext cx="868680" cy="502920"/>
          </a:xfrm>
          <a:prstGeom prst="roundRect">
            <a:avLst>
              <a:gd name="adj" fmla="val 9091"/>
            </a:avLst>
          </a:prstGeom>
          <a:solidFill>
            <a:srgbClr val="E4F1EA"/>
          </a:solidFill>
          <a:ln/>
        </p:spPr>
      </p:sp>
      <p:sp>
        <p:nvSpPr>
          <p:cNvPr id="13" name="Shape 11"/>
          <p:cNvSpPr/>
          <p:nvPr/>
        </p:nvSpPr>
        <p:spPr>
          <a:xfrm>
            <a:off x="6629400" y="2103120"/>
            <a:ext cx="868680" cy="502920"/>
          </a:xfrm>
          <a:prstGeom prst="roundRect">
            <a:avLst>
              <a:gd name="adj" fmla="val 9091"/>
            </a:avLst>
          </a:prstGeom>
          <a:solidFill>
            <a:srgbClr val="E4F1EA"/>
          </a:solidFill>
          <a:ln/>
        </p:spPr>
      </p:sp>
      <p:sp>
        <p:nvSpPr>
          <p:cNvPr id="14" name="Shape 12"/>
          <p:cNvSpPr/>
          <p:nvPr/>
        </p:nvSpPr>
        <p:spPr>
          <a:xfrm>
            <a:off x="7589520" y="2103120"/>
            <a:ext cx="868680" cy="502920"/>
          </a:xfrm>
          <a:prstGeom prst="roundRect">
            <a:avLst>
              <a:gd name="adj" fmla="val 9091"/>
            </a:avLst>
          </a:prstGeom>
          <a:solidFill>
            <a:srgbClr val="E4F1EA"/>
          </a:solidFill>
          <a:ln/>
        </p:spPr>
      </p:sp>
      <p:sp>
        <p:nvSpPr>
          <p:cNvPr id="15" name="Shape 13"/>
          <p:cNvSpPr/>
          <p:nvPr/>
        </p:nvSpPr>
        <p:spPr>
          <a:xfrm>
            <a:off x="4709160" y="2743200"/>
            <a:ext cx="1874520" cy="1691640"/>
          </a:xfrm>
          <a:prstGeom prst="roundRect">
            <a:avLst>
              <a:gd name="adj" fmla="val 2703"/>
            </a:avLst>
          </a:prstGeom>
          <a:solidFill>
            <a:srgbClr val="EEF5F1"/>
          </a:solidFill>
          <a:ln/>
        </p:spPr>
      </p:sp>
      <p:sp>
        <p:nvSpPr>
          <p:cNvPr id="16" name="Text 14"/>
          <p:cNvSpPr/>
          <p:nvPr/>
        </p:nvSpPr>
        <p:spPr>
          <a:xfrm>
            <a:off x="4754880" y="2788920"/>
            <a:ext cx="1828800" cy="274320"/>
          </a:xfrm>
          <a:prstGeom prst="rect">
            <a:avLst/>
          </a:prstGeom>
          <a:noFill/>
          <a:ln/>
        </p:spPr>
        <p:txBody>
          <a:bodyPr wrap="square" rtlCol="0" anchor="ctr"/>
          <a:lstStyle/>
          <a:p>
            <a:pPr indent="0" marL="0">
              <a:buNone/>
            </a:pPr>
            <a:r>
              <a:rPr lang="en-US" sz="850" b="1" dirty="0">
                <a:solidFill>
                  <a:srgbClr val="6B7C72"/>
                </a:solidFill>
                <a:latin typeface="Arial" pitchFamily="34" charset="0"/>
                <a:ea typeface="Arial" pitchFamily="34" charset="-122"/>
                <a:cs typeface="Arial" pitchFamily="34" charset="-120"/>
              </a:rPr>
              <a:t>Luồng phản hồi</a:t>
            </a:r>
            <a:endParaRPr lang="en-US" sz="850" dirty="0"/>
          </a:p>
        </p:txBody>
      </p:sp>
      <p:sp>
        <p:nvSpPr>
          <p:cNvPr id="17" name="Shape 15"/>
          <p:cNvSpPr/>
          <p:nvPr/>
        </p:nvSpPr>
        <p:spPr>
          <a:xfrm>
            <a:off x="6675120" y="2743200"/>
            <a:ext cx="1874520" cy="960120"/>
          </a:xfrm>
          <a:prstGeom prst="roundRect">
            <a:avLst>
              <a:gd name="adj" fmla="val 4762"/>
            </a:avLst>
          </a:prstGeom>
          <a:solidFill>
            <a:srgbClr val="EEF5F1"/>
          </a:solidFill>
          <a:ln/>
        </p:spPr>
      </p:sp>
      <p:sp>
        <p:nvSpPr>
          <p:cNvPr id="18" name="Text 16"/>
          <p:cNvSpPr/>
          <p:nvPr/>
        </p:nvSpPr>
        <p:spPr>
          <a:xfrm>
            <a:off x="6720840" y="2788920"/>
            <a:ext cx="1828800" cy="274320"/>
          </a:xfrm>
          <a:prstGeom prst="rect">
            <a:avLst/>
          </a:prstGeom>
          <a:noFill/>
          <a:ln/>
        </p:spPr>
        <p:txBody>
          <a:bodyPr wrap="square" rtlCol="0" anchor="ctr"/>
          <a:lstStyle/>
          <a:p>
            <a:pPr indent="0" marL="0">
              <a:buNone/>
            </a:pPr>
            <a:r>
              <a:rPr lang="en-US" sz="850" b="1" dirty="0">
                <a:solidFill>
                  <a:srgbClr val="6B7C72"/>
                </a:solidFill>
                <a:latin typeface="Arial" pitchFamily="34" charset="0"/>
                <a:ea typeface="Arial" pitchFamily="34" charset="-122"/>
                <a:cs typeface="Arial" pitchFamily="34" charset="-120"/>
              </a:rPr>
              <a:t>Bản đồ nhiệt khu vực</a:t>
            </a:r>
            <a:endParaRPr lang="en-US" sz="850" dirty="0"/>
          </a:p>
        </p:txBody>
      </p:sp>
      <p:sp>
        <p:nvSpPr>
          <p:cNvPr id="19" name="Shape 17"/>
          <p:cNvSpPr/>
          <p:nvPr/>
        </p:nvSpPr>
        <p:spPr>
          <a:xfrm>
            <a:off x="6675120" y="3794760"/>
            <a:ext cx="1874520" cy="640080"/>
          </a:xfrm>
          <a:prstGeom prst="roundRect">
            <a:avLst>
              <a:gd name="adj" fmla="val 7143"/>
            </a:avLst>
          </a:prstGeom>
          <a:solidFill>
            <a:srgbClr val="EEF5F1"/>
          </a:solidFill>
          <a:ln/>
        </p:spPr>
      </p:sp>
      <p:sp>
        <p:nvSpPr>
          <p:cNvPr id="20" name="Text 18"/>
          <p:cNvSpPr/>
          <p:nvPr/>
        </p:nvSpPr>
        <p:spPr>
          <a:xfrm>
            <a:off x="6720840" y="3840480"/>
            <a:ext cx="1828800" cy="274320"/>
          </a:xfrm>
          <a:prstGeom prst="rect">
            <a:avLst/>
          </a:prstGeom>
          <a:noFill/>
          <a:ln/>
        </p:spPr>
        <p:txBody>
          <a:bodyPr wrap="square" rtlCol="0" anchor="ctr"/>
          <a:lstStyle/>
          <a:p>
            <a:pPr indent="0" marL="0">
              <a:buNone/>
            </a:pPr>
            <a:r>
              <a:rPr lang="en-US" sz="850" b="1" dirty="0">
                <a:solidFill>
                  <a:srgbClr val="6B7C72"/>
                </a:solidFill>
                <a:latin typeface="Arial" pitchFamily="34" charset="0"/>
                <a:ea typeface="Arial" pitchFamily="34" charset="-122"/>
                <a:cs typeface="Arial" pitchFamily="34" charset="-120"/>
              </a:rPr>
              <a:t>Xếp hạng phòng ban</a:t>
            </a:r>
            <a:endParaRPr lang="en-US" sz="850" dirty="0"/>
          </a:p>
        </p:txBody>
      </p:sp>
      <p:sp>
        <p:nvSpPr>
          <p:cNvPr id="21" name="Text 19"/>
          <p:cNvSpPr/>
          <p:nvPr/>
        </p:nvSpPr>
        <p:spPr>
          <a:xfrm>
            <a:off x="4572000" y="4617720"/>
            <a:ext cx="4114800" cy="274320"/>
          </a:xfrm>
          <a:prstGeom prst="rect">
            <a:avLst/>
          </a:prstGeom>
          <a:noFill/>
          <a:ln/>
        </p:spPr>
        <p:txBody>
          <a:bodyPr wrap="square" rtlCol="0" anchor="ctr"/>
          <a:lstStyle/>
          <a:p>
            <a:pPr algn="ctr" indent="0" marL="0">
              <a:buNone/>
            </a:pPr>
            <a:r>
              <a:rPr lang="en-US" sz="800" i="1" dirty="0">
                <a:solidFill>
                  <a:srgbClr val="6B7C72"/>
                </a:solidFill>
                <a:latin typeface="Arial" pitchFamily="34" charset="0"/>
                <a:ea typeface="Arial" pitchFamily="34" charset="-122"/>
                <a:cs typeface="Arial" pitchFamily="34" charset="-120"/>
              </a:rPr>
              <a:t>Gợi ý: thay khối này bằng ảnh chụp dashboard thật</a:t>
            </a:r>
            <a:endParaRPr lang="en-US" sz="800" dirty="0"/>
          </a:p>
        </p:txBody>
      </p:sp>
      <p:sp>
        <p:nvSpPr>
          <p:cNvPr id="22" name="Shape 20"/>
          <p:cNvSpPr/>
          <p:nvPr/>
        </p:nvSpPr>
        <p:spPr>
          <a:xfrm>
            <a:off x="457200" y="1600200"/>
            <a:ext cx="3840480" cy="2971800"/>
          </a:xfrm>
          <a:prstGeom prst="roundRect">
            <a:avLst>
              <a:gd name="adj" fmla="val 2154"/>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23" name="Shape 21"/>
          <p:cNvSpPr/>
          <p:nvPr/>
        </p:nvSpPr>
        <p:spPr>
          <a:xfrm>
            <a:off x="457200" y="1709928"/>
            <a:ext cx="64008" cy="2752344"/>
          </a:xfrm>
          <a:prstGeom prst="rect">
            <a:avLst/>
          </a:prstGeom>
          <a:solidFill>
            <a:srgbClr val="12A150"/>
          </a:solidFill>
          <a:ln/>
        </p:spPr>
      </p:sp>
      <p:sp>
        <p:nvSpPr>
          <p:cNvPr id="24" name="Text 22"/>
          <p:cNvSpPr/>
          <p:nvPr/>
        </p:nvSpPr>
        <p:spPr>
          <a:xfrm>
            <a:off x="658368" y="1746504"/>
            <a:ext cx="3529584" cy="310896"/>
          </a:xfrm>
          <a:prstGeom prst="rect">
            <a:avLst/>
          </a:prstGeom>
          <a:noFill/>
          <a:ln/>
        </p:spPr>
        <p:txBody>
          <a:bodyPr wrap="square" rtlCol="0" anchor="ctr"/>
          <a:lstStyle/>
          <a:p>
            <a:pPr indent="0" marL="0">
              <a:buNone/>
            </a:pPr>
            <a:r>
              <a:rPr lang="en-US" sz="1500" b="1" dirty="0">
                <a:solidFill>
                  <a:srgbClr val="13241B"/>
                </a:solidFill>
                <a:latin typeface="Arial" pitchFamily="34" charset="0"/>
                <a:ea typeface="Arial" pitchFamily="34" charset="-122"/>
                <a:cs typeface="Arial" pitchFamily="34" charset="-120"/>
              </a:rPr>
              <a:t>Mọi thứ trong một màn hình</a:t>
            </a:r>
            <a:endParaRPr lang="en-US" sz="1500" dirty="0"/>
          </a:p>
        </p:txBody>
      </p:sp>
      <p:sp>
        <p:nvSpPr>
          <p:cNvPr id="25" name="Text 23"/>
          <p:cNvSpPr/>
          <p:nvPr/>
        </p:nvSpPr>
        <p:spPr>
          <a:xfrm>
            <a:off x="658368" y="2112264"/>
            <a:ext cx="3474720" cy="2350008"/>
          </a:xfrm>
          <a:prstGeom prst="rect">
            <a:avLst/>
          </a:prstGeom>
          <a:noFill/>
          <a:ln/>
        </p:spPr>
        <p:txBody>
          <a:bodyPr wrap="square" rtlCol="0" anchor="t"/>
          <a:lstStyle/>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KPI tổng quan cập nhật realtime, không cần bấm refresh</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Luồng phản hồi trực tiếp + biểu đồ xu hướng theo chủ đề</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Bản đồ nhiệt theo khu vực, bảng xếp hạng phòng ban</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Bảng ticket và danh sách tài xế cần theo dõi</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Bấm vào một cụm chủ đề / khu vực để mở chi tiết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6/20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CÁCH VẬN HÀNH</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Hành trình một phản hồi, từ đầu đến cuối</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457200" y="1463040"/>
            <a:ext cx="8229600" cy="502920"/>
          </a:xfrm>
          <a:prstGeom prst="roundRect">
            <a:avLst>
              <a:gd name="adj" fmla="val 10909"/>
            </a:avLst>
          </a:prstGeom>
          <a:solidFill>
            <a:srgbClr val="E4F1EA"/>
          </a:solidFill>
          <a:ln w="12700">
            <a:solidFill>
              <a:srgbClr val="12A150"/>
            </a:solidFill>
            <a:prstDash val="solid"/>
          </a:ln>
        </p:spPr>
      </p:sp>
      <p:sp>
        <p:nvSpPr>
          <p:cNvPr id="9" name="Text 7"/>
          <p:cNvSpPr/>
          <p:nvPr/>
        </p:nvSpPr>
        <p:spPr>
          <a:xfrm>
            <a:off x="640080" y="1463040"/>
            <a:ext cx="7863840" cy="502920"/>
          </a:xfrm>
          <a:prstGeom prst="rect">
            <a:avLst/>
          </a:prstGeom>
          <a:noFill/>
          <a:ln/>
        </p:spPr>
        <p:txBody>
          <a:bodyPr wrap="square" rtlCol="0" anchor="ctr"/>
          <a:lstStyle/>
          <a:p>
            <a:pPr indent="0" marL="0">
              <a:buNone/>
            </a:pPr>
            <a:r>
              <a:rPr lang="en-US" sz="1250" i="1" dirty="0">
                <a:solidFill>
                  <a:srgbClr val="13241B"/>
                </a:solidFill>
                <a:latin typeface="Arial" pitchFamily="34" charset="0"/>
                <a:ea typeface="Arial" pitchFamily="34" charset="-122"/>
                <a:cs typeface="Arial" pitchFamily="34" charset="-120"/>
              </a:rPr>
              <a:t>Ví dụ: "Tài xế đi ẩu, suýt tông người, thái độ còn khó chịu."</a:t>
            </a:r>
            <a:endParaRPr lang="en-US" sz="1250" dirty="0"/>
          </a:p>
        </p:txBody>
      </p:sp>
      <p:sp>
        <p:nvSpPr>
          <p:cNvPr id="10" name="Shape 8"/>
          <p:cNvSpPr/>
          <p:nvPr/>
        </p:nvSpPr>
        <p:spPr>
          <a:xfrm>
            <a:off x="548640" y="2240280"/>
            <a:ext cx="1778508" cy="914400"/>
          </a:xfrm>
          <a:prstGeom prst="roundRect">
            <a:avLst>
              <a:gd name="adj" fmla="val 6000"/>
            </a:avLst>
          </a:prstGeom>
          <a:solidFill>
            <a:srgbClr val="12A150"/>
          </a:solidFill>
          <a:ln w="12700">
            <a:solidFill>
              <a:srgbClr val="0B6E36"/>
            </a:solidFill>
            <a:prstDash val="solid"/>
          </a:ln>
        </p:spPr>
      </p:sp>
      <p:sp>
        <p:nvSpPr>
          <p:cNvPr id="11" name="Text 9"/>
          <p:cNvSpPr/>
          <p:nvPr/>
        </p:nvSpPr>
        <p:spPr>
          <a:xfrm>
            <a:off x="585216" y="2240280"/>
            <a:ext cx="1705356" cy="9144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Che PII</a:t>
            </a:r>
            <a:endParaRPr lang="en-US" sz="1000" dirty="0"/>
          </a:p>
          <a:p>
            <a:pPr algn="ctr" indent="0" marL="0">
              <a:buNone/>
            </a:pPr>
            <a:r>
              <a:rPr lang="en-US" sz="750" dirty="0">
                <a:solidFill>
                  <a:srgbClr val="EAF6EF"/>
                </a:solidFill>
                <a:latin typeface="Arial" pitchFamily="34" charset="0"/>
                <a:ea typeface="Arial" pitchFamily="34" charset="-122"/>
                <a:cs typeface="Arial" pitchFamily="34" charset="-120"/>
              </a:rPr>
              <a:t>clean</a:t>
            </a:r>
            <a:endParaRPr lang="en-US" sz="1000" dirty="0"/>
          </a:p>
        </p:txBody>
      </p:sp>
      <p:sp>
        <p:nvSpPr>
          <p:cNvPr id="12" name="Shape 10"/>
          <p:cNvSpPr/>
          <p:nvPr/>
        </p:nvSpPr>
        <p:spPr>
          <a:xfrm>
            <a:off x="2363724" y="2606040"/>
            <a:ext cx="237744" cy="182880"/>
          </a:xfrm>
          <a:prstGeom prst="rightArrow">
            <a:avLst/>
          </a:prstGeom>
          <a:solidFill>
            <a:srgbClr val="0B6E36"/>
          </a:solidFill>
          <a:ln/>
        </p:spPr>
      </p:sp>
      <p:sp>
        <p:nvSpPr>
          <p:cNvPr id="13" name="Shape 11"/>
          <p:cNvSpPr/>
          <p:nvPr/>
        </p:nvSpPr>
        <p:spPr>
          <a:xfrm>
            <a:off x="2638044" y="2240280"/>
            <a:ext cx="1778508" cy="914400"/>
          </a:xfrm>
          <a:prstGeom prst="roundRect">
            <a:avLst>
              <a:gd name="adj" fmla="val 6000"/>
            </a:avLst>
          </a:prstGeom>
          <a:solidFill>
            <a:srgbClr val="12A150"/>
          </a:solidFill>
          <a:ln w="12700">
            <a:solidFill>
              <a:srgbClr val="0B6E36"/>
            </a:solidFill>
            <a:prstDash val="solid"/>
          </a:ln>
        </p:spPr>
      </p:sp>
      <p:sp>
        <p:nvSpPr>
          <p:cNvPr id="14" name="Text 12"/>
          <p:cNvSpPr/>
          <p:nvPr/>
        </p:nvSpPr>
        <p:spPr>
          <a:xfrm>
            <a:off x="2674620" y="2240280"/>
            <a:ext cx="1705356" cy="9144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ML phân loại</a:t>
            </a:r>
            <a:endParaRPr lang="en-US" sz="1000" dirty="0"/>
          </a:p>
          <a:p>
            <a:pPr algn="ctr" indent="0" marL="0">
              <a:buNone/>
            </a:pPr>
            <a:r>
              <a:rPr lang="en-US" sz="750" dirty="0">
                <a:solidFill>
                  <a:srgbClr val="EAF6EF"/>
                </a:solidFill>
                <a:latin typeface="Arial" pitchFamily="34" charset="0"/>
                <a:ea typeface="Arial" pitchFamily="34" charset="-122"/>
                <a:cs typeface="Arial" pitchFamily="34" charset="-120"/>
              </a:rPr>
              <a:t>topic+sentiment</a:t>
            </a:r>
            <a:endParaRPr lang="en-US" sz="1000" dirty="0"/>
          </a:p>
        </p:txBody>
      </p:sp>
      <p:sp>
        <p:nvSpPr>
          <p:cNvPr id="15" name="Shape 13"/>
          <p:cNvSpPr/>
          <p:nvPr/>
        </p:nvSpPr>
        <p:spPr>
          <a:xfrm>
            <a:off x="4453128" y="2606040"/>
            <a:ext cx="237744" cy="182880"/>
          </a:xfrm>
          <a:prstGeom prst="rightArrow">
            <a:avLst/>
          </a:prstGeom>
          <a:solidFill>
            <a:srgbClr val="0B6E36"/>
          </a:solidFill>
          <a:ln/>
        </p:spPr>
      </p:sp>
      <p:sp>
        <p:nvSpPr>
          <p:cNvPr id="16" name="Shape 14"/>
          <p:cNvSpPr/>
          <p:nvPr/>
        </p:nvSpPr>
        <p:spPr>
          <a:xfrm>
            <a:off x="4727448" y="2240280"/>
            <a:ext cx="1778508" cy="914400"/>
          </a:xfrm>
          <a:prstGeom prst="roundRect">
            <a:avLst>
              <a:gd name="adj" fmla="val 6000"/>
            </a:avLst>
          </a:prstGeom>
          <a:solidFill>
            <a:srgbClr val="0B6E36"/>
          </a:solidFill>
          <a:ln w="12700">
            <a:solidFill>
              <a:srgbClr val="0B6E36"/>
            </a:solidFill>
            <a:prstDash val="solid"/>
          </a:ln>
        </p:spPr>
      </p:sp>
      <p:sp>
        <p:nvSpPr>
          <p:cNvPr id="17" name="Text 15"/>
          <p:cNvSpPr/>
          <p:nvPr/>
        </p:nvSpPr>
        <p:spPr>
          <a:xfrm>
            <a:off x="4764024" y="2240280"/>
            <a:ext cx="1705356" cy="9144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Rule ghi đè</a:t>
            </a:r>
            <a:endParaRPr lang="en-US" sz="1000" dirty="0"/>
          </a:p>
          <a:p>
            <a:pPr algn="ctr" indent="0" marL="0">
              <a:buNone/>
            </a:pPr>
            <a:r>
              <a:rPr lang="en-US" sz="750" dirty="0">
                <a:solidFill>
                  <a:srgbClr val="EAF6EF"/>
                </a:solidFill>
                <a:latin typeface="Arial" pitchFamily="34" charset="0"/>
                <a:ea typeface="Arial" pitchFamily="34" charset="-122"/>
                <a:cs typeface="Arial" pitchFamily="34" charset="-120"/>
              </a:rPr>
              <a:t>lưới Safety</a:t>
            </a:r>
            <a:endParaRPr lang="en-US" sz="1000" dirty="0"/>
          </a:p>
        </p:txBody>
      </p:sp>
      <p:sp>
        <p:nvSpPr>
          <p:cNvPr id="18" name="Shape 16"/>
          <p:cNvSpPr/>
          <p:nvPr/>
        </p:nvSpPr>
        <p:spPr>
          <a:xfrm>
            <a:off x="6542532" y="2606040"/>
            <a:ext cx="237744" cy="182880"/>
          </a:xfrm>
          <a:prstGeom prst="rightArrow">
            <a:avLst/>
          </a:prstGeom>
          <a:solidFill>
            <a:srgbClr val="0B6E36"/>
          </a:solidFill>
          <a:ln/>
        </p:spPr>
      </p:sp>
      <p:sp>
        <p:nvSpPr>
          <p:cNvPr id="19" name="Shape 17"/>
          <p:cNvSpPr/>
          <p:nvPr/>
        </p:nvSpPr>
        <p:spPr>
          <a:xfrm>
            <a:off x="6816852" y="2240280"/>
            <a:ext cx="1778508" cy="914400"/>
          </a:xfrm>
          <a:prstGeom prst="roundRect">
            <a:avLst>
              <a:gd name="adj" fmla="val 6000"/>
            </a:avLst>
          </a:prstGeom>
          <a:solidFill>
            <a:srgbClr val="12A150"/>
          </a:solidFill>
          <a:ln w="12700">
            <a:solidFill>
              <a:srgbClr val="0B6E36"/>
            </a:solidFill>
            <a:prstDash val="solid"/>
          </a:ln>
        </p:spPr>
      </p:sp>
      <p:sp>
        <p:nvSpPr>
          <p:cNvPr id="20" name="Text 18"/>
          <p:cNvSpPr/>
          <p:nvPr/>
        </p:nvSpPr>
        <p:spPr>
          <a:xfrm>
            <a:off x="6853428" y="2240280"/>
            <a:ext cx="1705356" cy="9144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Phát hiện spike</a:t>
            </a:r>
            <a:endParaRPr lang="en-US" sz="1000" dirty="0"/>
          </a:p>
          <a:p>
            <a:pPr algn="ctr" indent="0" marL="0">
              <a:buNone/>
            </a:pPr>
            <a:r>
              <a:rPr lang="en-US" sz="750" dirty="0">
                <a:solidFill>
                  <a:srgbClr val="EAF6EF"/>
                </a:solidFill>
                <a:latin typeface="Arial" pitchFamily="34" charset="0"/>
                <a:ea typeface="Arial" pitchFamily="34" charset="-122"/>
                <a:cs typeface="Arial" pitchFamily="34" charset="-120"/>
              </a:rPr>
              <a:t>gom cụm</a:t>
            </a:r>
            <a:endParaRPr lang="en-US" sz="1000" dirty="0"/>
          </a:p>
        </p:txBody>
      </p:sp>
      <p:sp>
        <p:nvSpPr>
          <p:cNvPr id="21" name="Shape 19"/>
          <p:cNvSpPr/>
          <p:nvPr/>
        </p:nvSpPr>
        <p:spPr>
          <a:xfrm>
            <a:off x="548640" y="3383280"/>
            <a:ext cx="1778508" cy="914400"/>
          </a:xfrm>
          <a:prstGeom prst="roundRect">
            <a:avLst>
              <a:gd name="adj" fmla="val 6000"/>
            </a:avLst>
          </a:prstGeom>
          <a:solidFill>
            <a:srgbClr val="12A150"/>
          </a:solidFill>
          <a:ln w="12700">
            <a:solidFill>
              <a:srgbClr val="0B6E36"/>
            </a:solidFill>
            <a:prstDash val="solid"/>
          </a:ln>
        </p:spPr>
      </p:sp>
      <p:sp>
        <p:nvSpPr>
          <p:cNvPr id="22" name="Text 20"/>
          <p:cNvSpPr/>
          <p:nvPr/>
        </p:nvSpPr>
        <p:spPr>
          <a:xfrm>
            <a:off x="585216" y="3383280"/>
            <a:ext cx="1705356" cy="9144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Định tuyến</a:t>
            </a:r>
            <a:endParaRPr lang="en-US" sz="1000" dirty="0"/>
          </a:p>
          <a:p>
            <a:pPr algn="ctr" indent="0" marL="0">
              <a:buNone/>
            </a:pPr>
            <a:r>
              <a:rPr lang="en-US" sz="750" dirty="0">
                <a:solidFill>
                  <a:srgbClr val="EAF6EF"/>
                </a:solidFill>
                <a:latin typeface="Arial" pitchFamily="34" charset="0"/>
                <a:ea typeface="Arial" pitchFamily="34" charset="-122"/>
                <a:cs typeface="Arial" pitchFamily="34" charset="-120"/>
              </a:rPr>
              <a:t>phòng + SLA</a:t>
            </a:r>
            <a:endParaRPr lang="en-US" sz="1000" dirty="0"/>
          </a:p>
        </p:txBody>
      </p:sp>
      <p:sp>
        <p:nvSpPr>
          <p:cNvPr id="23" name="Shape 21"/>
          <p:cNvSpPr/>
          <p:nvPr/>
        </p:nvSpPr>
        <p:spPr>
          <a:xfrm>
            <a:off x="2363724" y="3749040"/>
            <a:ext cx="237744" cy="182880"/>
          </a:xfrm>
          <a:prstGeom prst="rightArrow">
            <a:avLst/>
          </a:prstGeom>
          <a:solidFill>
            <a:srgbClr val="0B6E36"/>
          </a:solidFill>
          <a:ln/>
        </p:spPr>
      </p:sp>
      <p:sp>
        <p:nvSpPr>
          <p:cNvPr id="24" name="Shape 22"/>
          <p:cNvSpPr/>
          <p:nvPr/>
        </p:nvSpPr>
        <p:spPr>
          <a:xfrm>
            <a:off x="2638044" y="3383280"/>
            <a:ext cx="1778508" cy="914400"/>
          </a:xfrm>
          <a:prstGeom prst="roundRect">
            <a:avLst>
              <a:gd name="adj" fmla="val 6000"/>
            </a:avLst>
          </a:prstGeom>
          <a:solidFill>
            <a:srgbClr val="12A150"/>
          </a:solidFill>
          <a:ln w="12700">
            <a:solidFill>
              <a:srgbClr val="0B6E36"/>
            </a:solidFill>
            <a:prstDash val="solid"/>
          </a:ln>
        </p:spPr>
      </p:sp>
      <p:sp>
        <p:nvSpPr>
          <p:cNvPr id="25" name="Text 23"/>
          <p:cNvSpPr/>
          <p:nvPr/>
        </p:nvSpPr>
        <p:spPr>
          <a:xfrm>
            <a:off x="2674620" y="3383280"/>
            <a:ext cx="1705356" cy="9144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Tạo ticket</a:t>
            </a:r>
            <a:endParaRPr lang="en-US" sz="1000" dirty="0"/>
          </a:p>
          <a:p>
            <a:pPr algn="ctr" indent="0" marL="0">
              <a:buNone/>
            </a:pPr>
            <a:r>
              <a:rPr lang="en-US" sz="750" dirty="0">
                <a:solidFill>
                  <a:srgbClr val="EAF6EF"/>
                </a:solidFill>
                <a:latin typeface="Arial" pitchFamily="34" charset="0"/>
                <a:ea typeface="Arial" pitchFamily="34" charset="-122"/>
                <a:cs typeface="Arial" pitchFamily="34" charset="-120"/>
              </a:rPr>
              <a:t>realtime</a:t>
            </a:r>
            <a:endParaRPr lang="en-US" sz="1000" dirty="0"/>
          </a:p>
        </p:txBody>
      </p:sp>
      <p:sp>
        <p:nvSpPr>
          <p:cNvPr id="26" name="Shape 24"/>
          <p:cNvSpPr/>
          <p:nvPr/>
        </p:nvSpPr>
        <p:spPr>
          <a:xfrm>
            <a:off x="4453128" y="3749040"/>
            <a:ext cx="237744" cy="182880"/>
          </a:xfrm>
          <a:prstGeom prst="rightArrow">
            <a:avLst/>
          </a:prstGeom>
          <a:solidFill>
            <a:srgbClr val="0B6E36"/>
          </a:solidFill>
          <a:ln/>
        </p:spPr>
      </p:sp>
      <p:sp>
        <p:nvSpPr>
          <p:cNvPr id="27" name="Shape 25"/>
          <p:cNvSpPr/>
          <p:nvPr/>
        </p:nvSpPr>
        <p:spPr>
          <a:xfrm>
            <a:off x="4727448" y="3383280"/>
            <a:ext cx="1778508" cy="914400"/>
          </a:xfrm>
          <a:prstGeom prst="roundRect">
            <a:avLst>
              <a:gd name="adj" fmla="val 6000"/>
            </a:avLst>
          </a:prstGeom>
          <a:solidFill>
            <a:srgbClr val="12A150"/>
          </a:solidFill>
          <a:ln w="12700">
            <a:solidFill>
              <a:srgbClr val="0B6E36"/>
            </a:solidFill>
            <a:prstDash val="solid"/>
          </a:ln>
        </p:spPr>
      </p:sp>
      <p:sp>
        <p:nvSpPr>
          <p:cNvPr id="28" name="Text 26"/>
          <p:cNvSpPr/>
          <p:nvPr/>
        </p:nvSpPr>
        <p:spPr>
          <a:xfrm>
            <a:off x="4764024" y="3383280"/>
            <a:ext cx="1705356" cy="9144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Gom thành task</a:t>
            </a:r>
            <a:endParaRPr lang="en-US" sz="1000" dirty="0"/>
          </a:p>
          <a:p>
            <a:pPr algn="ctr" indent="0" marL="0">
              <a:buNone/>
            </a:pPr>
            <a:r>
              <a:rPr lang="en-US" sz="750" dirty="0">
                <a:solidFill>
                  <a:srgbClr val="EAF6EF"/>
                </a:solidFill>
                <a:latin typeface="Arial" pitchFamily="34" charset="0"/>
                <a:ea typeface="Arial" pitchFamily="34" charset="-122"/>
                <a:cs typeface="Arial" pitchFamily="34" charset="-120"/>
              </a:rPr>
              <a:t>theo phòng/khu vực</a:t>
            </a:r>
            <a:endParaRPr lang="en-US" sz="1000" dirty="0"/>
          </a:p>
        </p:txBody>
      </p:sp>
      <p:sp>
        <p:nvSpPr>
          <p:cNvPr id="29" name="Shape 27"/>
          <p:cNvSpPr/>
          <p:nvPr/>
        </p:nvSpPr>
        <p:spPr>
          <a:xfrm>
            <a:off x="6542532" y="3749040"/>
            <a:ext cx="237744" cy="182880"/>
          </a:xfrm>
          <a:prstGeom prst="rightArrow">
            <a:avLst/>
          </a:prstGeom>
          <a:solidFill>
            <a:srgbClr val="0B6E36"/>
          </a:solidFill>
          <a:ln/>
        </p:spPr>
      </p:sp>
      <p:sp>
        <p:nvSpPr>
          <p:cNvPr id="30" name="Shape 28"/>
          <p:cNvSpPr/>
          <p:nvPr/>
        </p:nvSpPr>
        <p:spPr>
          <a:xfrm>
            <a:off x="6816852" y="3383280"/>
            <a:ext cx="1778508" cy="914400"/>
          </a:xfrm>
          <a:prstGeom prst="roundRect">
            <a:avLst>
              <a:gd name="adj" fmla="val 6000"/>
            </a:avLst>
          </a:prstGeom>
          <a:solidFill>
            <a:srgbClr val="12A150"/>
          </a:solidFill>
          <a:ln w="12700">
            <a:solidFill>
              <a:srgbClr val="0B6E36"/>
            </a:solidFill>
            <a:prstDash val="solid"/>
          </a:ln>
        </p:spPr>
      </p:sp>
      <p:sp>
        <p:nvSpPr>
          <p:cNvPr id="31" name="Text 29"/>
          <p:cNvSpPr/>
          <p:nvPr/>
        </p:nvSpPr>
        <p:spPr>
          <a:xfrm>
            <a:off x="6853428" y="3383280"/>
            <a:ext cx="1705356" cy="91440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Báo cáo</a:t>
            </a:r>
            <a:endParaRPr lang="en-US" sz="1000" dirty="0"/>
          </a:p>
          <a:p>
            <a:pPr algn="ctr" indent="0" marL="0">
              <a:buNone/>
            </a:pPr>
            <a:r>
              <a:rPr lang="en-US" sz="750" dirty="0">
                <a:solidFill>
                  <a:srgbClr val="EAF6EF"/>
                </a:solidFill>
                <a:latin typeface="Arial" pitchFamily="34" charset="0"/>
                <a:ea typeface="Arial" pitchFamily="34" charset="-122"/>
                <a:cs typeface="Arial" pitchFamily="34" charset="-120"/>
              </a:rPr>
              <a:t>insight + analyst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7/20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TƯ DUY THIẾT KẾ</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Bốn nguyên tắc chi phối toàn bộ hệ thống</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457200" y="1600200"/>
            <a:ext cx="4023360" cy="1371600"/>
          </a:xfrm>
          <a:prstGeom prst="roundRect">
            <a:avLst>
              <a:gd name="adj" fmla="val 4667"/>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9" name="Shape 7"/>
          <p:cNvSpPr/>
          <p:nvPr/>
        </p:nvSpPr>
        <p:spPr>
          <a:xfrm>
            <a:off x="457200" y="1709928"/>
            <a:ext cx="64008" cy="1152144"/>
          </a:xfrm>
          <a:prstGeom prst="rect">
            <a:avLst/>
          </a:prstGeom>
          <a:solidFill>
            <a:srgbClr val="12A150"/>
          </a:solidFill>
          <a:ln/>
        </p:spPr>
      </p:sp>
      <p:sp>
        <p:nvSpPr>
          <p:cNvPr id="10" name="Text 8"/>
          <p:cNvSpPr/>
          <p:nvPr/>
        </p:nvSpPr>
        <p:spPr>
          <a:xfrm>
            <a:off x="658368" y="1746504"/>
            <a:ext cx="3712464" cy="310896"/>
          </a:xfrm>
          <a:prstGeom prst="rect">
            <a:avLst/>
          </a:prstGeom>
          <a:noFill/>
          <a:ln/>
        </p:spPr>
        <p:txBody>
          <a:bodyPr wrap="square" rtlCol="0" anchor="ctr"/>
          <a:lstStyle/>
          <a:p>
            <a:pPr indent="0" marL="0">
              <a:buNone/>
            </a:pPr>
            <a:r>
              <a:rPr lang="en-US" sz="1500" b="1" dirty="0">
                <a:solidFill>
                  <a:srgbClr val="13241B"/>
                </a:solidFill>
                <a:latin typeface="Arial" pitchFamily="34" charset="0"/>
                <a:ea typeface="Arial" pitchFamily="34" charset="-122"/>
                <a:cs typeface="Arial" pitchFamily="34" charset="-120"/>
              </a:rPr>
              <a:t>Hybrid nhanh/chậm</a:t>
            </a:r>
            <a:endParaRPr lang="en-US" sz="1500" dirty="0"/>
          </a:p>
        </p:txBody>
      </p:sp>
      <p:sp>
        <p:nvSpPr>
          <p:cNvPr id="11" name="Text 9"/>
          <p:cNvSpPr/>
          <p:nvPr/>
        </p:nvSpPr>
        <p:spPr>
          <a:xfrm>
            <a:off x="658368" y="2112264"/>
            <a:ext cx="3657600" cy="749808"/>
          </a:xfrm>
          <a:prstGeom prst="rect">
            <a:avLst/>
          </a:prstGeom>
          <a:noFill/>
          <a:ln/>
        </p:spPr>
        <p:txBody>
          <a:bodyPr wrap="square" rtlCol="0" anchor="t"/>
          <a:lstStyle/>
          <a:p>
            <a:pPr indent="0" marL="0">
              <a:buNone/>
            </a:pPr>
            <a:r>
              <a:rPr lang="en-US" sz="1150" dirty="0">
                <a:solidFill>
                  <a:srgbClr val="2B3B31"/>
                </a:solidFill>
                <a:latin typeface="Arial" pitchFamily="34" charset="0"/>
                <a:ea typeface="Arial" pitchFamily="34" charset="-122"/>
                <a:cs typeface="Arial" pitchFamily="34" charset="-120"/>
              </a:rPr>
              <a:t>ML rẻ chạy trên mọi review; LLM đắt chỉ dùng ở chỗ cần suy luận. Tối ưu chi phí ngay từ kiến trúc.</a:t>
            </a:r>
            <a:endParaRPr lang="en-US" sz="1150" dirty="0"/>
          </a:p>
        </p:txBody>
      </p:sp>
      <p:sp>
        <p:nvSpPr>
          <p:cNvPr id="12" name="Shape 10"/>
          <p:cNvSpPr/>
          <p:nvPr/>
        </p:nvSpPr>
        <p:spPr>
          <a:xfrm>
            <a:off x="4663440" y="1600200"/>
            <a:ext cx="4023360" cy="1371600"/>
          </a:xfrm>
          <a:prstGeom prst="roundRect">
            <a:avLst>
              <a:gd name="adj" fmla="val 4667"/>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13" name="Shape 11"/>
          <p:cNvSpPr/>
          <p:nvPr/>
        </p:nvSpPr>
        <p:spPr>
          <a:xfrm>
            <a:off x="4663440" y="1709928"/>
            <a:ext cx="64008" cy="1152144"/>
          </a:xfrm>
          <a:prstGeom prst="rect">
            <a:avLst/>
          </a:prstGeom>
          <a:solidFill>
            <a:srgbClr val="D64545"/>
          </a:solidFill>
          <a:ln/>
        </p:spPr>
      </p:sp>
      <p:sp>
        <p:nvSpPr>
          <p:cNvPr id="14" name="Text 12"/>
          <p:cNvSpPr/>
          <p:nvPr/>
        </p:nvSpPr>
        <p:spPr>
          <a:xfrm>
            <a:off x="4864608" y="1746504"/>
            <a:ext cx="3712464" cy="310896"/>
          </a:xfrm>
          <a:prstGeom prst="rect">
            <a:avLst/>
          </a:prstGeom>
          <a:noFill/>
          <a:ln/>
        </p:spPr>
        <p:txBody>
          <a:bodyPr wrap="square" rtlCol="0" anchor="ctr"/>
          <a:lstStyle/>
          <a:p>
            <a:pPr indent="0" marL="0">
              <a:buNone/>
            </a:pPr>
            <a:r>
              <a:rPr lang="en-US" sz="1500" b="1" dirty="0">
                <a:solidFill>
                  <a:srgbClr val="13241B"/>
                </a:solidFill>
                <a:latin typeface="Arial" pitchFamily="34" charset="0"/>
                <a:ea typeface="Arial" pitchFamily="34" charset="-122"/>
                <a:cs typeface="Arial" pitchFamily="34" charset="-120"/>
              </a:rPr>
              <a:t>Safety-first</a:t>
            </a:r>
            <a:endParaRPr lang="en-US" sz="1500" dirty="0"/>
          </a:p>
        </p:txBody>
      </p:sp>
      <p:sp>
        <p:nvSpPr>
          <p:cNvPr id="15" name="Text 13"/>
          <p:cNvSpPr/>
          <p:nvPr/>
        </p:nvSpPr>
        <p:spPr>
          <a:xfrm>
            <a:off x="4864608" y="2112264"/>
            <a:ext cx="3657600" cy="749808"/>
          </a:xfrm>
          <a:prstGeom prst="rect">
            <a:avLst/>
          </a:prstGeom>
          <a:noFill/>
          <a:ln/>
        </p:spPr>
        <p:txBody>
          <a:bodyPr wrap="square" rtlCol="0" anchor="t"/>
          <a:lstStyle/>
          <a:p>
            <a:pPr indent="0" marL="0">
              <a:buNone/>
            </a:pPr>
            <a:r>
              <a:rPr lang="en-US" sz="1150" dirty="0">
                <a:solidFill>
                  <a:srgbClr val="2B3B31"/>
                </a:solidFill>
                <a:latin typeface="Arial" pitchFamily="34" charset="0"/>
                <a:ea typeface="Arial" pitchFamily="34" charset="-122"/>
                <a:cs typeface="Arial" pitchFamily="34" charset="-120"/>
              </a:rPr>
              <a:t>An toàn không nhường cho xác suất. Lưới Safety luôn ghi đè model, ép mức P5 và cần con người duyệt.</a:t>
            </a:r>
            <a:endParaRPr lang="en-US" sz="1150" dirty="0"/>
          </a:p>
        </p:txBody>
      </p:sp>
      <p:sp>
        <p:nvSpPr>
          <p:cNvPr id="16" name="Shape 14"/>
          <p:cNvSpPr/>
          <p:nvPr/>
        </p:nvSpPr>
        <p:spPr>
          <a:xfrm>
            <a:off x="457200" y="3108960"/>
            <a:ext cx="4023360" cy="1371600"/>
          </a:xfrm>
          <a:prstGeom prst="roundRect">
            <a:avLst>
              <a:gd name="adj" fmla="val 4667"/>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17" name="Shape 15"/>
          <p:cNvSpPr/>
          <p:nvPr/>
        </p:nvSpPr>
        <p:spPr>
          <a:xfrm>
            <a:off x="457200" y="3218688"/>
            <a:ext cx="64008" cy="1152144"/>
          </a:xfrm>
          <a:prstGeom prst="rect">
            <a:avLst/>
          </a:prstGeom>
          <a:solidFill>
            <a:srgbClr val="E0A82E"/>
          </a:solidFill>
          <a:ln/>
        </p:spPr>
      </p:sp>
      <p:sp>
        <p:nvSpPr>
          <p:cNvPr id="18" name="Text 16"/>
          <p:cNvSpPr/>
          <p:nvPr/>
        </p:nvSpPr>
        <p:spPr>
          <a:xfrm>
            <a:off x="658368" y="3255264"/>
            <a:ext cx="3712464" cy="310896"/>
          </a:xfrm>
          <a:prstGeom prst="rect">
            <a:avLst/>
          </a:prstGeom>
          <a:noFill/>
          <a:ln/>
        </p:spPr>
        <p:txBody>
          <a:bodyPr wrap="square" rtlCol="0" anchor="ctr"/>
          <a:lstStyle/>
          <a:p>
            <a:pPr indent="0" marL="0">
              <a:buNone/>
            </a:pPr>
            <a:r>
              <a:rPr lang="en-US" sz="1500" b="1" dirty="0">
                <a:solidFill>
                  <a:srgbClr val="13241B"/>
                </a:solidFill>
                <a:latin typeface="Arial" pitchFamily="34" charset="0"/>
                <a:ea typeface="Arial" pitchFamily="34" charset="-122"/>
                <a:cs typeface="Arial" pitchFamily="34" charset="-120"/>
              </a:rPr>
              <a:t>Config-driven</a:t>
            </a:r>
            <a:endParaRPr lang="en-US" sz="1500" dirty="0"/>
          </a:p>
        </p:txBody>
      </p:sp>
      <p:sp>
        <p:nvSpPr>
          <p:cNvPr id="19" name="Text 17"/>
          <p:cNvSpPr/>
          <p:nvPr/>
        </p:nvSpPr>
        <p:spPr>
          <a:xfrm>
            <a:off x="658368" y="3621024"/>
            <a:ext cx="3657600" cy="749808"/>
          </a:xfrm>
          <a:prstGeom prst="rect">
            <a:avLst/>
          </a:prstGeom>
          <a:noFill/>
          <a:ln/>
        </p:spPr>
        <p:txBody>
          <a:bodyPr wrap="square" rtlCol="0" anchor="t"/>
          <a:lstStyle/>
          <a:p>
            <a:pPr indent="0" marL="0">
              <a:buNone/>
            </a:pPr>
            <a:r>
              <a:rPr lang="en-US" sz="1150" dirty="0">
                <a:solidFill>
                  <a:srgbClr val="2B3B31"/>
                </a:solidFill>
                <a:latin typeface="Arial" pitchFamily="34" charset="0"/>
                <a:ea typeface="Arial" pitchFamily="34" charset="-122"/>
                <a:cs typeface="Arial" pitchFamily="34" charset="-120"/>
              </a:rPr>
              <a:t>Đổi hành vi nghiệp vụ (định tuyến, ngưỡng) bằng file cấu hình, không phải sửa code.</a:t>
            </a:r>
            <a:endParaRPr lang="en-US" sz="1150" dirty="0"/>
          </a:p>
        </p:txBody>
      </p:sp>
      <p:sp>
        <p:nvSpPr>
          <p:cNvPr id="20" name="Shape 18"/>
          <p:cNvSpPr/>
          <p:nvPr/>
        </p:nvSpPr>
        <p:spPr>
          <a:xfrm>
            <a:off x="4663440" y="3108960"/>
            <a:ext cx="4023360" cy="1371600"/>
          </a:xfrm>
          <a:prstGeom prst="roundRect">
            <a:avLst>
              <a:gd name="adj" fmla="val 4667"/>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21" name="Shape 19"/>
          <p:cNvSpPr/>
          <p:nvPr/>
        </p:nvSpPr>
        <p:spPr>
          <a:xfrm>
            <a:off x="4663440" y="3218688"/>
            <a:ext cx="64008" cy="1152144"/>
          </a:xfrm>
          <a:prstGeom prst="rect">
            <a:avLst/>
          </a:prstGeom>
          <a:solidFill>
            <a:srgbClr val="0B6E36"/>
          </a:solidFill>
          <a:ln/>
        </p:spPr>
      </p:sp>
      <p:sp>
        <p:nvSpPr>
          <p:cNvPr id="22" name="Text 20"/>
          <p:cNvSpPr/>
          <p:nvPr/>
        </p:nvSpPr>
        <p:spPr>
          <a:xfrm>
            <a:off x="4864608" y="3255264"/>
            <a:ext cx="3712464" cy="310896"/>
          </a:xfrm>
          <a:prstGeom prst="rect">
            <a:avLst/>
          </a:prstGeom>
          <a:noFill/>
          <a:ln/>
        </p:spPr>
        <p:txBody>
          <a:bodyPr wrap="square" rtlCol="0" anchor="ctr"/>
          <a:lstStyle/>
          <a:p>
            <a:pPr indent="0" marL="0">
              <a:buNone/>
            </a:pPr>
            <a:r>
              <a:rPr lang="en-US" sz="1500" b="1" dirty="0">
                <a:solidFill>
                  <a:srgbClr val="13241B"/>
                </a:solidFill>
                <a:latin typeface="Arial" pitchFamily="34" charset="0"/>
                <a:ea typeface="Arial" pitchFamily="34" charset="-122"/>
                <a:cs typeface="Arial" pitchFamily="34" charset="-120"/>
              </a:rPr>
              <a:t>Graceful degradation</a:t>
            </a:r>
            <a:endParaRPr lang="en-US" sz="1500" dirty="0"/>
          </a:p>
        </p:txBody>
      </p:sp>
      <p:sp>
        <p:nvSpPr>
          <p:cNvPr id="23" name="Text 21"/>
          <p:cNvSpPr/>
          <p:nvPr/>
        </p:nvSpPr>
        <p:spPr>
          <a:xfrm>
            <a:off x="4864608" y="3621024"/>
            <a:ext cx="3657600" cy="749808"/>
          </a:xfrm>
          <a:prstGeom prst="rect">
            <a:avLst/>
          </a:prstGeom>
          <a:noFill/>
          <a:ln/>
        </p:spPr>
        <p:txBody>
          <a:bodyPr wrap="square" rtlCol="0" anchor="t"/>
          <a:lstStyle/>
          <a:p>
            <a:pPr indent="0" marL="0">
              <a:buNone/>
            </a:pPr>
            <a:r>
              <a:rPr lang="en-US" sz="1150" dirty="0">
                <a:solidFill>
                  <a:srgbClr val="2B3B31"/>
                </a:solidFill>
                <a:latin typeface="Arial" pitchFamily="34" charset="0"/>
                <a:ea typeface="Arial" pitchFamily="34" charset="-122"/>
                <a:cs typeface="Arial" pitchFamily="34" charset="-120"/>
              </a:rPr>
              <a:t>Hỏng một mảnh không sập cả hệ. Mọi agent có fallback; hết key LLM thật thì chạy mock.</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8/20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LÕI AI</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Bốn lớp AI, mỗi lớp một việc và một mức chi phí</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457200" y="1554480"/>
            <a:ext cx="4206240" cy="475488"/>
          </a:xfrm>
          <a:prstGeom prst="roundRect">
            <a:avLst>
              <a:gd name="adj" fmla="val 9615"/>
            </a:avLst>
          </a:prstGeom>
          <a:solidFill>
            <a:srgbClr val="22B14C"/>
          </a:solidFill>
          <a:ln/>
        </p:spPr>
      </p:sp>
      <p:sp>
        <p:nvSpPr>
          <p:cNvPr id="9" name="Text 7"/>
          <p:cNvSpPr/>
          <p:nvPr/>
        </p:nvSpPr>
        <p:spPr>
          <a:xfrm>
            <a:off x="594360" y="1554480"/>
            <a:ext cx="3931920" cy="475488"/>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Lớp A — Chat LLM realtime  —  </a:t>
            </a:r>
            <a:pPr indent="0" marL="0">
              <a:buNone/>
            </a:pPr>
            <a:r>
              <a:rPr lang="en-US" sz="1000" dirty="0">
                <a:solidFill>
                  <a:srgbClr val="EAF6EF"/>
                </a:solidFill>
                <a:latin typeface="Arial" pitchFamily="34" charset="0"/>
                <a:ea typeface="Arial" pitchFamily="34" charset="-122"/>
                <a:cs typeface="Arial" pitchFamily="34" charset="-120"/>
              </a:rPr>
              <a:t>Trả lời hỏi đáp, phân tầng theo vai trò</a:t>
            </a:r>
            <a:endParaRPr lang="en-US" sz="1000" dirty="0"/>
          </a:p>
        </p:txBody>
      </p:sp>
      <p:sp>
        <p:nvSpPr>
          <p:cNvPr id="10" name="Shape 8"/>
          <p:cNvSpPr/>
          <p:nvPr/>
        </p:nvSpPr>
        <p:spPr>
          <a:xfrm>
            <a:off x="457200" y="2121408"/>
            <a:ext cx="4206240" cy="475488"/>
          </a:xfrm>
          <a:prstGeom prst="roundRect">
            <a:avLst>
              <a:gd name="adj" fmla="val 9615"/>
            </a:avLst>
          </a:prstGeom>
          <a:solidFill>
            <a:srgbClr val="12A150"/>
          </a:solidFill>
          <a:ln/>
        </p:spPr>
      </p:sp>
      <p:sp>
        <p:nvSpPr>
          <p:cNvPr id="11" name="Text 9"/>
          <p:cNvSpPr/>
          <p:nvPr/>
        </p:nvSpPr>
        <p:spPr>
          <a:xfrm>
            <a:off x="594360" y="2121408"/>
            <a:ext cx="3931920" cy="475488"/>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Lớp B — Multi-agent (batch)  —  </a:t>
            </a:r>
            <a:pPr indent="0" marL="0">
              <a:buNone/>
            </a:pPr>
            <a:r>
              <a:rPr lang="en-US" sz="1000" dirty="0">
                <a:solidFill>
                  <a:srgbClr val="EAF6EF"/>
                </a:solidFill>
                <a:latin typeface="Arial" pitchFamily="34" charset="0"/>
                <a:ea typeface="Arial" pitchFamily="34" charset="-122"/>
                <a:cs typeface="Arial" pitchFamily="34" charset="-120"/>
              </a:rPr>
              <a:t>8 agent nghiệp vụ + orchestrator</a:t>
            </a:r>
            <a:endParaRPr lang="en-US" sz="1000" dirty="0"/>
          </a:p>
        </p:txBody>
      </p:sp>
      <p:sp>
        <p:nvSpPr>
          <p:cNvPr id="12" name="Shape 10"/>
          <p:cNvSpPr/>
          <p:nvPr/>
        </p:nvSpPr>
        <p:spPr>
          <a:xfrm>
            <a:off x="457200" y="2688336"/>
            <a:ext cx="4206240" cy="475488"/>
          </a:xfrm>
          <a:prstGeom prst="roundRect">
            <a:avLst>
              <a:gd name="adj" fmla="val 9615"/>
            </a:avLst>
          </a:prstGeom>
          <a:solidFill>
            <a:srgbClr val="0B6E36"/>
          </a:solidFill>
          <a:ln/>
        </p:spPr>
      </p:sp>
      <p:sp>
        <p:nvSpPr>
          <p:cNvPr id="13" name="Text 11"/>
          <p:cNvSpPr/>
          <p:nvPr/>
        </p:nvSpPr>
        <p:spPr>
          <a:xfrm>
            <a:off x="594360" y="2688336"/>
            <a:ext cx="3931920" cy="475488"/>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Lớp C — ML phân loại  —  </a:t>
            </a:r>
            <a:pPr indent="0" marL="0">
              <a:buNone/>
            </a:pPr>
            <a:r>
              <a:rPr lang="en-US" sz="1000" dirty="0">
                <a:solidFill>
                  <a:srgbClr val="EAF6EF"/>
                </a:solidFill>
                <a:latin typeface="Arial" pitchFamily="34" charset="0"/>
                <a:ea typeface="Arial" pitchFamily="34" charset="-122"/>
                <a:cs typeface="Arial" pitchFamily="34" charset="-120"/>
              </a:rPr>
              <a:t>TF-IDF + LinearSVC, chạy mọi review</a:t>
            </a:r>
            <a:endParaRPr lang="en-US" sz="1000" dirty="0"/>
          </a:p>
        </p:txBody>
      </p:sp>
      <p:sp>
        <p:nvSpPr>
          <p:cNvPr id="14" name="Shape 12"/>
          <p:cNvSpPr/>
          <p:nvPr/>
        </p:nvSpPr>
        <p:spPr>
          <a:xfrm>
            <a:off x="457200" y="3255264"/>
            <a:ext cx="4206240" cy="475488"/>
          </a:xfrm>
          <a:prstGeom prst="roundRect">
            <a:avLst>
              <a:gd name="adj" fmla="val 9615"/>
            </a:avLst>
          </a:prstGeom>
          <a:solidFill>
            <a:srgbClr val="0A5A2C"/>
          </a:solidFill>
          <a:ln/>
        </p:spPr>
      </p:sp>
      <p:sp>
        <p:nvSpPr>
          <p:cNvPr id="15" name="Text 13"/>
          <p:cNvSpPr/>
          <p:nvPr/>
        </p:nvSpPr>
        <p:spPr>
          <a:xfrm>
            <a:off x="594360" y="3255264"/>
            <a:ext cx="3931920" cy="475488"/>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Lớp D — Rule engine  —  </a:t>
            </a:r>
            <a:pPr indent="0" marL="0">
              <a:buNone/>
            </a:pPr>
            <a:r>
              <a:rPr lang="en-US" sz="1000" dirty="0">
                <a:solidFill>
                  <a:srgbClr val="EAF6EF"/>
                </a:solidFill>
                <a:latin typeface="Arial" pitchFamily="34" charset="0"/>
                <a:ea typeface="Arial" pitchFamily="34" charset="-122"/>
                <a:cs typeface="Arial" pitchFamily="34" charset="-120"/>
              </a:rPr>
              <a:t>Lưới Safety, spike, vòng đời ticket</a:t>
            </a:r>
            <a:endParaRPr lang="en-US" sz="1000" dirty="0"/>
          </a:p>
        </p:txBody>
      </p:sp>
      <p:sp>
        <p:nvSpPr>
          <p:cNvPr id="16" name="Text 14"/>
          <p:cNvSpPr/>
          <p:nvPr/>
        </p:nvSpPr>
        <p:spPr>
          <a:xfrm>
            <a:off x="4892040" y="1481328"/>
            <a:ext cx="3840480" cy="274320"/>
          </a:xfrm>
          <a:prstGeom prst="rect">
            <a:avLst/>
          </a:prstGeom>
          <a:noFill/>
          <a:ln/>
        </p:spPr>
        <p:txBody>
          <a:bodyPr wrap="square" rtlCol="0" anchor="ctr"/>
          <a:lstStyle/>
          <a:p>
            <a:pPr indent="0" marL="0">
              <a:buNone/>
            </a:pPr>
            <a:r>
              <a:rPr lang="en-US" sz="1100" b="1" dirty="0">
                <a:solidFill>
                  <a:srgbClr val="13241B"/>
                </a:solidFill>
                <a:latin typeface="Arial" pitchFamily="34" charset="0"/>
                <a:ea typeface="Arial" pitchFamily="34" charset="-122"/>
                <a:cs typeface="Arial" pitchFamily="34" charset="-120"/>
              </a:rPr>
              <a:t>Độ chính xác mô hình ML (test ~932 mẫu)</a:t>
            </a:r>
            <a:endParaRPr lang="en-US" sz="1100" dirty="0"/>
          </a:p>
        </p:txBody>
      </p:sp>
      <p:graphicFrame>
        <p:nvGraphicFramePr>
          <p:cNvPr id="17" name="Chart 0" descr=""/>
          <p:cNvGraphicFramePr/>
          <p:nvPr/>
        </p:nvGraphicFramePr>
        <p:xfrm>
          <a:off x="4800600" y="1783080"/>
          <a:ext cx="3886200" cy="233172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4800600" y="4160520"/>
            <a:ext cx="3886200" cy="365760"/>
          </a:xfrm>
          <a:prstGeom prst="rect">
            <a:avLst/>
          </a:prstGeom>
          <a:noFill/>
          <a:ln/>
        </p:spPr>
        <p:txBody>
          <a:bodyPr wrap="square" rtlCol="0" anchor="ctr"/>
          <a:lstStyle/>
          <a:p>
            <a:pPr indent="0" marL="0">
              <a:buNone/>
            </a:pPr>
            <a:r>
              <a:rPr lang="en-US" sz="950" i="1" dirty="0">
                <a:solidFill>
                  <a:srgbClr val="6B7C72"/>
                </a:solidFill>
                <a:latin typeface="Arial" pitchFamily="34" charset="0"/>
                <a:ea typeface="Arial" pitchFamily="34" charset="-122"/>
                <a:cs typeface="Arial" pitchFamily="34" charset="-120"/>
              </a:rPr>
              <a:t>Rule engine bù cho điểm yếu của model ở câu ngắn.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9/20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BỘ NÃO MULTI-AGENT</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8 agent nghiệp vụ, một orchestrator điều phối</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457200" y="1508760"/>
            <a:ext cx="8229600" cy="457200"/>
          </a:xfrm>
          <a:prstGeom prst="roundRect">
            <a:avLst>
              <a:gd name="adj" fmla="val 12000"/>
            </a:avLst>
          </a:prstGeom>
          <a:solidFill>
            <a:srgbClr val="0B6E36"/>
          </a:solidFill>
          <a:ln/>
        </p:spPr>
      </p:sp>
      <p:sp>
        <p:nvSpPr>
          <p:cNvPr id="9" name="Text 7"/>
          <p:cNvSpPr/>
          <p:nvPr/>
        </p:nvSpPr>
        <p:spPr>
          <a:xfrm>
            <a:off x="457200" y="1508760"/>
            <a:ext cx="82296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Orchestrator — điều phối toàn bộ dây chuyền theo nhịp 300 giây</a:t>
            </a:r>
            <a:endParaRPr lang="en-US" sz="1200" dirty="0"/>
          </a:p>
        </p:txBody>
      </p:sp>
      <p:sp>
        <p:nvSpPr>
          <p:cNvPr id="10" name="Shape 8"/>
          <p:cNvSpPr/>
          <p:nvPr/>
        </p:nvSpPr>
        <p:spPr>
          <a:xfrm>
            <a:off x="457200" y="2240280"/>
            <a:ext cx="1874520" cy="960120"/>
          </a:xfrm>
          <a:prstGeom prst="roundRect">
            <a:avLst>
              <a:gd name="adj" fmla="val 5714"/>
            </a:avLst>
          </a:prstGeom>
          <a:solidFill>
            <a:srgbClr val="D2E9DC"/>
          </a:solidFill>
          <a:ln w="12700">
            <a:solidFill>
              <a:srgbClr val="12A150"/>
            </a:solidFill>
            <a:prstDash val="solid"/>
          </a:ln>
        </p:spPr>
      </p:sp>
      <p:sp>
        <p:nvSpPr>
          <p:cNvPr id="11" name="Text 9"/>
          <p:cNvSpPr/>
          <p:nvPr/>
        </p:nvSpPr>
        <p:spPr>
          <a:xfrm>
            <a:off x="548640" y="2350008"/>
            <a:ext cx="1691640" cy="320040"/>
          </a:xfrm>
          <a:prstGeom prst="rect">
            <a:avLst/>
          </a:prstGeom>
          <a:noFill/>
          <a:ln/>
        </p:spPr>
        <p:txBody>
          <a:bodyPr wrap="square" rtlCol="0" anchor="ctr"/>
          <a:lstStyle/>
          <a:p>
            <a:pPr indent="0" marL="0">
              <a:buNone/>
            </a:pPr>
            <a:r>
              <a:rPr lang="en-US" sz="1200" b="1" dirty="0">
                <a:solidFill>
                  <a:srgbClr val="0B6E36"/>
                </a:solidFill>
                <a:latin typeface="Arial" pitchFamily="34" charset="0"/>
                <a:ea typeface="Arial" pitchFamily="34" charset="-122"/>
                <a:cs typeface="Arial" pitchFamily="34" charset="-120"/>
              </a:rPr>
              <a:t>1. ingestion</a:t>
            </a:r>
            <a:endParaRPr lang="en-US" sz="1200" dirty="0"/>
          </a:p>
        </p:txBody>
      </p:sp>
      <p:sp>
        <p:nvSpPr>
          <p:cNvPr id="12" name="Text 10"/>
          <p:cNvSpPr/>
          <p:nvPr/>
        </p:nvSpPr>
        <p:spPr>
          <a:xfrm>
            <a:off x="548640" y="2697480"/>
            <a:ext cx="1691640" cy="411480"/>
          </a:xfrm>
          <a:prstGeom prst="rect">
            <a:avLst/>
          </a:prstGeom>
          <a:noFill/>
          <a:ln/>
        </p:spPr>
        <p:txBody>
          <a:bodyPr wrap="square" rtlCol="0" anchor="ctr"/>
          <a:lstStyle/>
          <a:p>
            <a:pPr indent="0" marL="0">
              <a:buNone/>
            </a:pPr>
            <a:r>
              <a:rPr lang="en-US" sz="950" dirty="0">
                <a:solidFill>
                  <a:srgbClr val="2B3B31"/>
                </a:solidFill>
                <a:latin typeface="Arial" pitchFamily="34" charset="0"/>
                <a:ea typeface="Arial" pitchFamily="34" charset="-122"/>
                <a:cs typeface="Arial" pitchFamily="34" charset="-120"/>
              </a:rPr>
              <a:t>che PII, phân loại</a:t>
            </a:r>
            <a:endParaRPr lang="en-US" sz="950" dirty="0"/>
          </a:p>
        </p:txBody>
      </p:sp>
      <p:sp>
        <p:nvSpPr>
          <p:cNvPr id="13" name="Shape 11"/>
          <p:cNvSpPr/>
          <p:nvPr/>
        </p:nvSpPr>
        <p:spPr>
          <a:xfrm>
            <a:off x="2350008" y="2624328"/>
            <a:ext cx="146304" cy="182880"/>
          </a:xfrm>
          <a:prstGeom prst="rightArrow">
            <a:avLst/>
          </a:prstGeom>
          <a:solidFill>
            <a:srgbClr val="12A150"/>
          </a:solidFill>
          <a:ln/>
        </p:spPr>
      </p:sp>
      <p:sp>
        <p:nvSpPr>
          <p:cNvPr id="14" name="Shape 12"/>
          <p:cNvSpPr/>
          <p:nvPr/>
        </p:nvSpPr>
        <p:spPr>
          <a:xfrm>
            <a:off x="2532888" y="2240280"/>
            <a:ext cx="1874520" cy="960120"/>
          </a:xfrm>
          <a:prstGeom prst="roundRect">
            <a:avLst>
              <a:gd name="adj" fmla="val 5714"/>
            </a:avLst>
          </a:prstGeom>
          <a:solidFill>
            <a:srgbClr val="E4F1EA"/>
          </a:solidFill>
          <a:ln w="12700">
            <a:solidFill>
              <a:srgbClr val="12A150"/>
            </a:solidFill>
            <a:prstDash val="solid"/>
          </a:ln>
        </p:spPr>
      </p:sp>
      <p:sp>
        <p:nvSpPr>
          <p:cNvPr id="15" name="Text 13"/>
          <p:cNvSpPr/>
          <p:nvPr/>
        </p:nvSpPr>
        <p:spPr>
          <a:xfrm>
            <a:off x="2624328" y="2350008"/>
            <a:ext cx="1691640" cy="320040"/>
          </a:xfrm>
          <a:prstGeom prst="rect">
            <a:avLst/>
          </a:prstGeom>
          <a:noFill/>
          <a:ln/>
        </p:spPr>
        <p:txBody>
          <a:bodyPr wrap="square" rtlCol="0" anchor="ctr"/>
          <a:lstStyle/>
          <a:p>
            <a:pPr indent="0" marL="0">
              <a:buNone/>
            </a:pPr>
            <a:r>
              <a:rPr lang="en-US" sz="1200" b="1" dirty="0">
                <a:solidFill>
                  <a:srgbClr val="0B6E36"/>
                </a:solidFill>
                <a:latin typeface="Arial" pitchFamily="34" charset="0"/>
                <a:ea typeface="Arial" pitchFamily="34" charset="-122"/>
                <a:cs typeface="Arial" pitchFamily="34" charset="-120"/>
              </a:rPr>
              <a:t>2. scoring</a:t>
            </a:r>
            <a:endParaRPr lang="en-US" sz="1200" dirty="0"/>
          </a:p>
        </p:txBody>
      </p:sp>
      <p:sp>
        <p:nvSpPr>
          <p:cNvPr id="16" name="Text 14"/>
          <p:cNvSpPr/>
          <p:nvPr/>
        </p:nvSpPr>
        <p:spPr>
          <a:xfrm>
            <a:off x="2624328" y="2697480"/>
            <a:ext cx="1691640" cy="411480"/>
          </a:xfrm>
          <a:prstGeom prst="rect">
            <a:avLst/>
          </a:prstGeom>
          <a:noFill/>
          <a:ln/>
        </p:spPr>
        <p:txBody>
          <a:bodyPr wrap="square" rtlCol="0" anchor="ctr"/>
          <a:lstStyle/>
          <a:p>
            <a:pPr indent="0" marL="0">
              <a:buNone/>
            </a:pPr>
            <a:r>
              <a:rPr lang="en-US" sz="950" dirty="0">
                <a:solidFill>
                  <a:srgbClr val="2B3B31"/>
                </a:solidFill>
                <a:latin typeface="Arial" pitchFamily="34" charset="0"/>
                <a:ea typeface="Arial" pitchFamily="34" charset="-122"/>
                <a:cs typeface="Arial" pitchFamily="34" charset="-120"/>
              </a:rPr>
              <a:t>chấm rủi ro 5 chiều</a:t>
            </a:r>
            <a:endParaRPr lang="en-US" sz="950" dirty="0"/>
          </a:p>
        </p:txBody>
      </p:sp>
      <p:sp>
        <p:nvSpPr>
          <p:cNvPr id="17" name="Shape 15"/>
          <p:cNvSpPr/>
          <p:nvPr/>
        </p:nvSpPr>
        <p:spPr>
          <a:xfrm>
            <a:off x="4425696" y="2624328"/>
            <a:ext cx="146304" cy="182880"/>
          </a:xfrm>
          <a:prstGeom prst="rightArrow">
            <a:avLst/>
          </a:prstGeom>
          <a:solidFill>
            <a:srgbClr val="12A150"/>
          </a:solidFill>
          <a:ln/>
        </p:spPr>
      </p:sp>
      <p:sp>
        <p:nvSpPr>
          <p:cNvPr id="18" name="Shape 16"/>
          <p:cNvSpPr/>
          <p:nvPr/>
        </p:nvSpPr>
        <p:spPr>
          <a:xfrm>
            <a:off x="4608576" y="2240280"/>
            <a:ext cx="1874520" cy="960120"/>
          </a:xfrm>
          <a:prstGeom prst="roundRect">
            <a:avLst>
              <a:gd name="adj" fmla="val 5714"/>
            </a:avLst>
          </a:prstGeom>
          <a:solidFill>
            <a:srgbClr val="D2E9DC"/>
          </a:solidFill>
          <a:ln w="12700">
            <a:solidFill>
              <a:srgbClr val="12A150"/>
            </a:solidFill>
            <a:prstDash val="solid"/>
          </a:ln>
        </p:spPr>
      </p:sp>
      <p:sp>
        <p:nvSpPr>
          <p:cNvPr id="19" name="Text 17"/>
          <p:cNvSpPr/>
          <p:nvPr/>
        </p:nvSpPr>
        <p:spPr>
          <a:xfrm>
            <a:off x="4700016" y="2350008"/>
            <a:ext cx="1691640" cy="320040"/>
          </a:xfrm>
          <a:prstGeom prst="rect">
            <a:avLst/>
          </a:prstGeom>
          <a:noFill/>
          <a:ln/>
        </p:spPr>
        <p:txBody>
          <a:bodyPr wrap="square" rtlCol="0" anchor="ctr"/>
          <a:lstStyle/>
          <a:p>
            <a:pPr indent="0" marL="0">
              <a:buNone/>
            </a:pPr>
            <a:r>
              <a:rPr lang="en-US" sz="1200" b="1" dirty="0">
                <a:solidFill>
                  <a:srgbClr val="0B6E36"/>
                </a:solidFill>
                <a:latin typeface="Arial" pitchFamily="34" charset="0"/>
                <a:ea typeface="Arial" pitchFamily="34" charset="-122"/>
                <a:cs typeface="Arial" pitchFamily="34" charset="-120"/>
              </a:rPr>
              <a:t>3. alert</a:t>
            </a:r>
            <a:endParaRPr lang="en-US" sz="1200" dirty="0"/>
          </a:p>
        </p:txBody>
      </p:sp>
      <p:sp>
        <p:nvSpPr>
          <p:cNvPr id="20" name="Text 18"/>
          <p:cNvSpPr/>
          <p:nvPr/>
        </p:nvSpPr>
        <p:spPr>
          <a:xfrm>
            <a:off x="4700016" y="2697480"/>
            <a:ext cx="1691640" cy="411480"/>
          </a:xfrm>
          <a:prstGeom prst="rect">
            <a:avLst/>
          </a:prstGeom>
          <a:noFill/>
          <a:ln/>
        </p:spPr>
        <p:txBody>
          <a:bodyPr wrap="square" rtlCol="0" anchor="ctr"/>
          <a:lstStyle/>
          <a:p>
            <a:pPr indent="0" marL="0">
              <a:buNone/>
            </a:pPr>
            <a:r>
              <a:rPr lang="en-US" sz="950" dirty="0">
                <a:solidFill>
                  <a:srgbClr val="2B3B31"/>
                </a:solidFill>
                <a:latin typeface="Arial" pitchFamily="34" charset="0"/>
                <a:ea typeface="Arial" pitchFamily="34" charset="-122"/>
                <a:cs typeface="Arial" pitchFamily="34" charset="-120"/>
              </a:rPr>
              <a:t>phân cấp cảnh báo</a:t>
            </a:r>
            <a:endParaRPr lang="en-US" sz="950" dirty="0"/>
          </a:p>
        </p:txBody>
      </p:sp>
      <p:sp>
        <p:nvSpPr>
          <p:cNvPr id="21" name="Shape 19"/>
          <p:cNvSpPr/>
          <p:nvPr/>
        </p:nvSpPr>
        <p:spPr>
          <a:xfrm>
            <a:off x="6501384" y="2624328"/>
            <a:ext cx="146304" cy="182880"/>
          </a:xfrm>
          <a:prstGeom prst="rightArrow">
            <a:avLst/>
          </a:prstGeom>
          <a:solidFill>
            <a:srgbClr val="12A150"/>
          </a:solidFill>
          <a:ln/>
        </p:spPr>
      </p:sp>
      <p:sp>
        <p:nvSpPr>
          <p:cNvPr id="22" name="Shape 20"/>
          <p:cNvSpPr/>
          <p:nvPr/>
        </p:nvSpPr>
        <p:spPr>
          <a:xfrm>
            <a:off x="6684264" y="2240280"/>
            <a:ext cx="1874520" cy="960120"/>
          </a:xfrm>
          <a:prstGeom prst="roundRect">
            <a:avLst>
              <a:gd name="adj" fmla="val 5714"/>
            </a:avLst>
          </a:prstGeom>
          <a:solidFill>
            <a:srgbClr val="E4F1EA"/>
          </a:solidFill>
          <a:ln w="12700">
            <a:solidFill>
              <a:srgbClr val="12A150"/>
            </a:solidFill>
            <a:prstDash val="solid"/>
          </a:ln>
        </p:spPr>
      </p:sp>
      <p:sp>
        <p:nvSpPr>
          <p:cNvPr id="23" name="Text 21"/>
          <p:cNvSpPr/>
          <p:nvPr/>
        </p:nvSpPr>
        <p:spPr>
          <a:xfrm>
            <a:off x="6775704" y="2350008"/>
            <a:ext cx="1691640" cy="320040"/>
          </a:xfrm>
          <a:prstGeom prst="rect">
            <a:avLst/>
          </a:prstGeom>
          <a:noFill/>
          <a:ln/>
        </p:spPr>
        <p:txBody>
          <a:bodyPr wrap="square" rtlCol="0" anchor="ctr"/>
          <a:lstStyle/>
          <a:p>
            <a:pPr indent="0" marL="0">
              <a:buNone/>
            </a:pPr>
            <a:r>
              <a:rPr lang="en-US" sz="1200" b="1" dirty="0">
                <a:solidFill>
                  <a:srgbClr val="0B6E36"/>
                </a:solidFill>
                <a:latin typeface="Arial" pitchFamily="34" charset="0"/>
                <a:ea typeface="Arial" pitchFamily="34" charset="-122"/>
                <a:cs typeface="Arial" pitchFamily="34" charset="-120"/>
              </a:rPr>
              <a:t>4. router</a:t>
            </a:r>
            <a:endParaRPr lang="en-US" sz="1200" dirty="0"/>
          </a:p>
        </p:txBody>
      </p:sp>
      <p:sp>
        <p:nvSpPr>
          <p:cNvPr id="24" name="Text 22"/>
          <p:cNvSpPr/>
          <p:nvPr/>
        </p:nvSpPr>
        <p:spPr>
          <a:xfrm>
            <a:off x="6775704" y="2697480"/>
            <a:ext cx="1691640" cy="411480"/>
          </a:xfrm>
          <a:prstGeom prst="rect">
            <a:avLst/>
          </a:prstGeom>
          <a:noFill/>
          <a:ln/>
        </p:spPr>
        <p:txBody>
          <a:bodyPr wrap="square" rtlCol="0" anchor="ctr"/>
          <a:lstStyle/>
          <a:p>
            <a:pPr indent="0" marL="0">
              <a:buNone/>
            </a:pPr>
            <a:r>
              <a:rPr lang="en-US" sz="950" dirty="0">
                <a:solidFill>
                  <a:srgbClr val="2B3B31"/>
                </a:solidFill>
                <a:latin typeface="Arial" pitchFamily="34" charset="0"/>
                <a:ea typeface="Arial" pitchFamily="34" charset="-122"/>
                <a:cs typeface="Arial" pitchFamily="34" charset="-120"/>
              </a:rPr>
              <a:t>định tuyến phòng</a:t>
            </a:r>
            <a:endParaRPr lang="en-US" sz="950" dirty="0"/>
          </a:p>
        </p:txBody>
      </p:sp>
      <p:sp>
        <p:nvSpPr>
          <p:cNvPr id="25" name="Shape 23"/>
          <p:cNvSpPr/>
          <p:nvPr/>
        </p:nvSpPr>
        <p:spPr>
          <a:xfrm>
            <a:off x="457200" y="3383280"/>
            <a:ext cx="1874520" cy="960120"/>
          </a:xfrm>
          <a:prstGeom prst="roundRect">
            <a:avLst>
              <a:gd name="adj" fmla="val 5714"/>
            </a:avLst>
          </a:prstGeom>
          <a:solidFill>
            <a:srgbClr val="D2E9DC"/>
          </a:solidFill>
          <a:ln w="12700">
            <a:solidFill>
              <a:srgbClr val="12A150"/>
            </a:solidFill>
            <a:prstDash val="solid"/>
          </a:ln>
        </p:spPr>
      </p:sp>
      <p:sp>
        <p:nvSpPr>
          <p:cNvPr id="26" name="Text 24"/>
          <p:cNvSpPr/>
          <p:nvPr/>
        </p:nvSpPr>
        <p:spPr>
          <a:xfrm>
            <a:off x="548640" y="3493008"/>
            <a:ext cx="1691640" cy="320040"/>
          </a:xfrm>
          <a:prstGeom prst="rect">
            <a:avLst/>
          </a:prstGeom>
          <a:noFill/>
          <a:ln/>
        </p:spPr>
        <p:txBody>
          <a:bodyPr wrap="square" rtlCol="0" anchor="ctr"/>
          <a:lstStyle/>
          <a:p>
            <a:pPr indent="0" marL="0">
              <a:buNone/>
            </a:pPr>
            <a:r>
              <a:rPr lang="en-US" sz="1200" b="1" dirty="0">
                <a:solidFill>
                  <a:srgbClr val="0B6E36"/>
                </a:solidFill>
                <a:latin typeface="Arial" pitchFamily="34" charset="0"/>
                <a:ea typeface="Arial" pitchFamily="34" charset="-122"/>
                <a:cs typeface="Arial" pitchFamily="34" charset="-120"/>
              </a:rPr>
              <a:t>5. ticket</a:t>
            </a:r>
            <a:endParaRPr lang="en-US" sz="1200" dirty="0"/>
          </a:p>
        </p:txBody>
      </p:sp>
      <p:sp>
        <p:nvSpPr>
          <p:cNvPr id="27" name="Text 25"/>
          <p:cNvSpPr/>
          <p:nvPr/>
        </p:nvSpPr>
        <p:spPr>
          <a:xfrm>
            <a:off x="548640" y="3840480"/>
            <a:ext cx="1691640" cy="411480"/>
          </a:xfrm>
          <a:prstGeom prst="rect">
            <a:avLst/>
          </a:prstGeom>
          <a:noFill/>
          <a:ln/>
        </p:spPr>
        <p:txBody>
          <a:bodyPr wrap="square" rtlCol="0" anchor="ctr"/>
          <a:lstStyle/>
          <a:p>
            <a:pPr indent="0" marL="0">
              <a:buNone/>
            </a:pPr>
            <a:r>
              <a:rPr lang="en-US" sz="950" dirty="0">
                <a:solidFill>
                  <a:srgbClr val="2B3B31"/>
                </a:solidFill>
                <a:latin typeface="Arial" pitchFamily="34" charset="0"/>
                <a:ea typeface="Arial" pitchFamily="34" charset="-122"/>
                <a:cs typeface="Arial" pitchFamily="34" charset="-120"/>
              </a:rPr>
              <a:t>tạo &amp; quá hạn SLA</a:t>
            </a:r>
            <a:endParaRPr lang="en-US" sz="950" dirty="0"/>
          </a:p>
        </p:txBody>
      </p:sp>
      <p:sp>
        <p:nvSpPr>
          <p:cNvPr id="28" name="Shape 26"/>
          <p:cNvSpPr/>
          <p:nvPr/>
        </p:nvSpPr>
        <p:spPr>
          <a:xfrm>
            <a:off x="2350008" y="3767328"/>
            <a:ext cx="146304" cy="182880"/>
          </a:xfrm>
          <a:prstGeom prst="rightArrow">
            <a:avLst/>
          </a:prstGeom>
          <a:solidFill>
            <a:srgbClr val="12A150"/>
          </a:solidFill>
          <a:ln/>
        </p:spPr>
      </p:sp>
      <p:sp>
        <p:nvSpPr>
          <p:cNvPr id="29" name="Shape 27"/>
          <p:cNvSpPr/>
          <p:nvPr/>
        </p:nvSpPr>
        <p:spPr>
          <a:xfrm>
            <a:off x="2532888" y="3383280"/>
            <a:ext cx="1874520" cy="960120"/>
          </a:xfrm>
          <a:prstGeom prst="roundRect">
            <a:avLst>
              <a:gd name="adj" fmla="val 5714"/>
            </a:avLst>
          </a:prstGeom>
          <a:solidFill>
            <a:srgbClr val="E4F1EA"/>
          </a:solidFill>
          <a:ln w="12700">
            <a:solidFill>
              <a:srgbClr val="12A150"/>
            </a:solidFill>
            <a:prstDash val="solid"/>
          </a:ln>
        </p:spPr>
      </p:sp>
      <p:sp>
        <p:nvSpPr>
          <p:cNvPr id="30" name="Text 28"/>
          <p:cNvSpPr/>
          <p:nvPr/>
        </p:nvSpPr>
        <p:spPr>
          <a:xfrm>
            <a:off x="2624328" y="3493008"/>
            <a:ext cx="1691640" cy="320040"/>
          </a:xfrm>
          <a:prstGeom prst="rect">
            <a:avLst/>
          </a:prstGeom>
          <a:noFill/>
          <a:ln/>
        </p:spPr>
        <p:txBody>
          <a:bodyPr wrap="square" rtlCol="0" anchor="ctr"/>
          <a:lstStyle/>
          <a:p>
            <a:pPr indent="0" marL="0">
              <a:buNone/>
            </a:pPr>
            <a:r>
              <a:rPr lang="en-US" sz="1200" b="1" dirty="0">
                <a:solidFill>
                  <a:srgbClr val="0B6E36"/>
                </a:solidFill>
                <a:latin typeface="Arial" pitchFamily="34" charset="0"/>
                <a:ea typeface="Arial" pitchFamily="34" charset="-122"/>
                <a:cs typeface="Arial" pitchFamily="34" charset="-120"/>
              </a:rPr>
              <a:t>6. task</a:t>
            </a:r>
            <a:endParaRPr lang="en-US" sz="1200" dirty="0"/>
          </a:p>
        </p:txBody>
      </p:sp>
      <p:sp>
        <p:nvSpPr>
          <p:cNvPr id="31" name="Text 29"/>
          <p:cNvSpPr/>
          <p:nvPr/>
        </p:nvSpPr>
        <p:spPr>
          <a:xfrm>
            <a:off x="2624328" y="3840480"/>
            <a:ext cx="1691640" cy="411480"/>
          </a:xfrm>
          <a:prstGeom prst="rect">
            <a:avLst/>
          </a:prstGeom>
          <a:noFill/>
          <a:ln/>
        </p:spPr>
        <p:txBody>
          <a:bodyPr wrap="square" rtlCol="0" anchor="ctr"/>
          <a:lstStyle/>
          <a:p>
            <a:pPr indent="0" marL="0">
              <a:buNone/>
            </a:pPr>
            <a:r>
              <a:rPr lang="en-US" sz="950" dirty="0">
                <a:solidFill>
                  <a:srgbClr val="2B3B31"/>
                </a:solidFill>
                <a:latin typeface="Arial" pitchFamily="34" charset="0"/>
                <a:ea typeface="Arial" pitchFamily="34" charset="-122"/>
                <a:cs typeface="Arial" pitchFamily="34" charset="-120"/>
              </a:rPr>
              <a:t>gom + đặt tên</a:t>
            </a:r>
            <a:endParaRPr lang="en-US" sz="950" dirty="0"/>
          </a:p>
        </p:txBody>
      </p:sp>
      <p:sp>
        <p:nvSpPr>
          <p:cNvPr id="32" name="Shape 30"/>
          <p:cNvSpPr/>
          <p:nvPr/>
        </p:nvSpPr>
        <p:spPr>
          <a:xfrm>
            <a:off x="4425696" y="3767328"/>
            <a:ext cx="146304" cy="182880"/>
          </a:xfrm>
          <a:prstGeom prst="rightArrow">
            <a:avLst/>
          </a:prstGeom>
          <a:solidFill>
            <a:srgbClr val="12A150"/>
          </a:solidFill>
          <a:ln/>
        </p:spPr>
      </p:sp>
      <p:sp>
        <p:nvSpPr>
          <p:cNvPr id="33" name="Shape 31"/>
          <p:cNvSpPr/>
          <p:nvPr/>
        </p:nvSpPr>
        <p:spPr>
          <a:xfrm>
            <a:off x="4608576" y="3383280"/>
            <a:ext cx="1874520" cy="960120"/>
          </a:xfrm>
          <a:prstGeom prst="roundRect">
            <a:avLst>
              <a:gd name="adj" fmla="val 5714"/>
            </a:avLst>
          </a:prstGeom>
          <a:solidFill>
            <a:srgbClr val="D2E9DC"/>
          </a:solidFill>
          <a:ln w="12700">
            <a:solidFill>
              <a:srgbClr val="12A150"/>
            </a:solidFill>
            <a:prstDash val="solid"/>
          </a:ln>
        </p:spPr>
      </p:sp>
      <p:sp>
        <p:nvSpPr>
          <p:cNvPr id="34" name="Text 32"/>
          <p:cNvSpPr/>
          <p:nvPr/>
        </p:nvSpPr>
        <p:spPr>
          <a:xfrm>
            <a:off x="4700016" y="3493008"/>
            <a:ext cx="1691640" cy="320040"/>
          </a:xfrm>
          <a:prstGeom prst="rect">
            <a:avLst/>
          </a:prstGeom>
          <a:noFill/>
          <a:ln/>
        </p:spPr>
        <p:txBody>
          <a:bodyPr wrap="square" rtlCol="0" anchor="ctr"/>
          <a:lstStyle/>
          <a:p>
            <a:pPr indent="0" marL="0">
              <a:buNone/>
            </a:pPr>
            <a:r>
              <a:rPr lang="en-US" sz="1200" b="1" dirty="0">
                <a:solidFill>
                  <a:srgbClr val="0B6E36"/>
                </a:solidFill>
                <a:latin typeface="Arial" pitchFamily="34" charset="0"/>
                <a:ea typeface="Arial" pitchFamily="34" charset="-122"/>
                <a:cs typeface="Arial" pitchFamily="34" charset="-120"/>
              </a:rPr>
              <a:t>7. insight</a:t>
            </a:r>
            <a:endParaRPr lang="en-US" sz="1200" dirty="0"/>
          </a:p>
        </p:txBody>
      </p:sp>
      <p:sp>
        <p:nvSpPr>
          <p:cNvPr id="35" name="Text 33"/>
          <p:cNvSpPr/>
          <p:nvPr/>
        </p:nvSpPr>
        <p:spPr>
          <a:xfrm>
            <a:off x="4700016" y="3840480"/>
            <a:ext cx="1691640" cy="411480"/>
          </a:xfrm>
          <a:prstGeom prst="rect">
            <a:avLst/>
          </a:prstGeom>
          <a:noFill/>
          <a:ln/>
        </p:spPr>
        <p:txBody>
          <a:bodyPr wrap="square" rtlCol="0" anchor="ctr"/>
          <a:lstStyle/>
          <a:p>
            <a:pPr indent="0" marL="0">
              <a:buNone/>
            </a:pPr>
            <a:r>
              <a:rPr lang="en-US" sz="950" dirty="0">
                <a:solidFill>
                  <a:srgbClr val="2B3B31"/>
                </a:solidFill>
                <a:latin typeface="Arial" pitchFamily="34" charset="0"/>
                <a:ea typeface="Arial" pitchFamily="34" charset="-122"/>
                <a:cs typeface="Arial" pitchFamily="34" charset="-120"/>
              </a:rPr>
              <a:t>tổng hợp số liệu</a:t>
            </a:r>
            <a:endParaRPr lang="en-US" sz="950" dirty="0"/>
          </a:p>
        </p:txBody>
      </p:sp>
      <p:sp>
        <p:nvSpPr>
          <p:cNvPr id="36" name="Shape 34"/>
          <p:cNvSpPr/>
          <p:nvPr/>
        </p:nvSpPr>
        <p:spPr>
          <a:xfrm>
            <a:off x="6501384" y="3767328"/>
            <a:ext cx="146304" cy="182880"/>
          </a:xfrm>
          <a:prstGeom prst="rightArrow">
            <a:avLst/>
          </a:prstGeom>
          <a:solidFill>
            <a:srgbClr val="12A150"/>
          </a:solidFill>
          <a:ln/>
        </p:spPr>
      </p:sp>
      <p:sp>
        <p:nvSpPr>
          <p:cNvPr id="37" name="Shape 35"/>
          <p:cNvSpPr/>
          <p:nvPr/>
        </p:nvSpPr>
        <p:spPr>
          <a:xfrm>
            <a:off x="6684264" y="3383280"/>
            <a:ext cx="1874520" cy="960120"/>
          </a:xfrm>
          <a:prstGeom prst="roundRect">
            <a:avLst>
              <a:gd name="adj" fmla="val 5714"/>
            </a:avLst>
          </a:prstGeom>
          <a:solidFill>
            <a:srgbClr val="E4F1EA"/>
          </a:solidFill>
          <a:ln w="12700">
            <a:solidFill>
              <a:srgbClr val="12A150"/>
            </a:solidFill>
            <a:prstDash val="solid"/>
          </a:ln>
        </p:spPr>
      </p:sp>
      <p:sp>
        <p:nvSpPr>
          <p:cNvPr id="38" name="Text 36"/>
          <p:cNvSpPr/>
          <p:nvPr/>
        </p:nvSpPr>
        <p:spPr>
          <a:xfrm>
            <a:off x="6775704" y="3493008"/>
            <a:ext cx="1691640" cy="320040"/>
          </a:xfrm>
          <a:prstGeom prst="rect">
            <a:avLst/>
          </a:prstGeom>
          <a:noFill/>
          <a:ln/>
        </p:spPr>
        <p:txBody>
          <a:bodyPr wrap="square" rtlCol="0" anchor="ctr"/>
          <a:lstStyle/>
          <a:p>
            <a:pPr indent="0" marL="0">
              <a:buNone/>
            </a:pPr>
            <a:r>
              <a:rPr lang="en-US" sz="1200" b="1" dirty="0">
                <a:solidFill>
                  <a:srgbClr val="0B6E36"/>
                </a:solidFill>
                <a:latin typeface="Arial" pitchFamily="34" charset="0"/>
                <a:ea typeface="Arial" pitchFamily="34" charset="-122"/>
                <a:cs typeface="Arial" pitchFamily="34" charset="-120"/>
              </a:rPr>
              <a:t>8. analyst</a:t>
            </a:r>
            <a:endParaRPr lang="en-US" sz="1200" dirty="0"/>
          </a:p>
        </p:txBody>
      </p:sp>
      <p:sp>
        <p:nvSpPr>
          <p:cNvPr id="39" name="Text 37"/>
          <p:cNvSpPr/>
          <p:nvPr/>
        </p:nvSpPr>
        <p:spPr>
          <a:xfrm>
            <a:off x="6775704" y="3840480"/>
            <a:ext cx="1691640" cy="411480"/>
          </a:xfrm>
          <a:prstGeom prst="rect">
            <a:avLst/>
          </a:prstGeom>
          <a:noFill/>
          <a:ln/>
        </p:spPr>
        <p:txBody>
          <a:bodyPr wrap="square" rtlCol="0" anchor="ctr"/>
          <a:lstStyle/>
          <a:p>
            <a:pPr indent="0" marL="0">
              <a:buNone/>
            </a:pPr>
            <a:r>
              <a:rPr lang="en-US" sz="950" dirty="0">
                <a:solidFill>
                  <a:srgbClr val="2B3B31"/>
                </a:solidFill>
                <a:latin typeface="Arial" pitchFamily="34" charset="0"/>
                <a:ea typeface="Arial" pitchFamily="34" charset="-122"/>
                <a:cs typeface="Arial" pitchFamily="34" charset="-120"/>
              </a:rPr>
              <a:t>nguyên nhân + đề xuất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10/20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AN TOÀN LÀ TRÊN HẾT</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Lưới Safety luôn thắng, định tuyến theo SLA</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457200" y="1554480"/>
            <a:ext cx="3383280" cy="2926080"/>
          </a:xfrm>
          <a:prstGeom prst="roundRect">
            <a:avLst>
              <a:gd name="adj" fmla="val 2188"/>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9" name="Shape 7"/>
          <p:cNvSpPr/>
          <p:nvPr/>
        </p:nvSpPr>
        <p:spPr>
          <a:xfrm>
            <a:off x="457200" y="1664208"/>
            <a:ext cx="64008" cy="2706624"/>
          </a:xfrm>
          <a:prstGeom prst="rect">
            <a:avLst/>
          </a:prstGeom>
          <a:solidFill>
            <a:srgbClr val="D64545"/>
          </a:solidFill>
          <a:ln/>
        </p:spPr>
      </p:sp>
      <p:sp>
        <p:nvSpPr>
          <p:cNvPr id="10" name="Text 8"/>
          <p:cNvSpPr/>
          <p:nvPr/>
        </p:nvSpPr>
        <p:spPr>
          <a:xfrm>
            <a:off x="658368" y="1700784"/>
            <a:ext cx="3072384" cy="310896"/>
          </a:xfrm>
          <a:prstGeom prst="rect">
            <a:avLst/>
          </a:prstGeom>
          <a:noFill/>
          <a:ln/>
        </p:spPr>
        <p:txBody>
          <a:bodyPr wrap="square" rtlCol="0" anchor="ctr"/>
          <a:lstStyle/>
          <a:p>
            <a:pPr indent="0" marL="0">
              <a:buNone/>
            </a:pPr>
            <a:r>
              <a:rPr lang="en-US" sz="1500" b="1" dirty="0">
                <a:solidFill>
                  <a:srgbClr val="13241B"/>
                </a:solidFill>
                <a:latin typeface="Arial" pitchFamily="34" charset="0"/>
                <a:ea typeface="Arial" pitchFamily="34" charset="-122"/>
                <a:cs typeface="Arial" pitchFamily="34" charset="-120"/>
              </a:rPr>
              <a:t>Lưới Safety ghi đè</a:t>
            </a:r>
            <a:endParaRPr lang="en-US" sz="1500" dirty="0"/>
          </a:p>
        </p:txBody>
      </p:sp>
      <p:sp>
        <p:nvSpPr>
          <p:cNvPr id="11" name="Text 9"/>
          <p:cNvSpPr/>
          <p:nvPr/>
        </p:nvSpPr>
        <p:spPr>
          <a:xfrm>
            <a:off x="658368" y="2066544"/>
            <a:ext cx="3017520" cy="2304288"/>
          </a:xfrm>
          <a:prstGeom prst="rect">
            <a:avLst/>
          </a:prstGeom>
          <a:noFill/>
          <a:ln/>
        </p:spPr>
        <p:txBody>
          <a:bodyPr wrap="square" rtlCol="0" anchor="t"/>
          <a:lstStyle/>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Từ khóa nguy hiểm: tai nạn, xe tông, bỏ chạy, say xỉn, cướp, hành hung…</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Bị ép: Safety · negative · P5 · cần duyệt</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Mọi ca P5 dồn về đội Vận hành phản ứng nhanh</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An toàn không nhường cho xác suất model</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023360" y="1554480"/>
          <a:ext cx="4663440" cy="2926080"/>
        </p:xfrm>
        <a:graphic>
          <a:graphicData uri="http://schemas.openxmlformats.org/drawingml/2006/table">
            <a:tbl>
              <a:tblPr/>
              <a:tblGrid>
                <a:gridCol w="1737360"/>
                <a:gridCol w="1188720"/>
                <a:gridCol w="868680"/>
                <a:gridCol w="868680"/>
              </a:tblGrid>
              <a:tr h="384048">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Chủ đề</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0B6E36"/>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Phòng</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0B6E36"/>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SLA</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0B6E36"/>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Ưu tiên</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0B6E36"/>
                    </a:solidFill>
                  </a:tcPr>
                </a:tc>
              </a:tr>
              <a:tr h="384048">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Safety</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Vận hành</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1 giờ</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P5</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Driver Behavior</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Vận hành</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8 giờ</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P3</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App Issue</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IT</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12 giờ</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P3</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Payment / Pricing</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CSKH</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12 giờ</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P3</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Delay</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Vận hành</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8 giờ</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P3</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Other</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CSKH</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24 giờ</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3241B"/>
                          </a:solidFill>
                          <a:latin typeface="Arial" pitchFamily="34" charset="0"/>
                          <a:ea typeface="Arial" pitchFamily="34" charset="-122"/>
                          <a:cs typeface="Arial" pitchFamily="34" charset="-120"/>
                        </a:rPr>
                        <a:t>P4</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11/20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CON NGƯỜI TRONG VÒNG LẶP</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AI gợi ý, con người quyết, hệ thống học lại</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548640" y="1920240"/>
            <a:ext cx="1828800" cy="1188720"/>
          </a:xfrm>
          <a:prstGeom prst="roundRect">
            <a:avLst>
              <a:gd name="adj" fmla="val 6154"/>
            </a:avLst>
          </a:prstGeom>
          <a:solidFill>
            <a:srgbClr val="12A150"/>
          </a:solidFill>
          <a:ln/>
        </p:spPr>
      </p:sp>
      <p:sp>
        <p:nvSpPr>
          <p:cNvPr id="9" name="Text 7"/>
          <p:cNvSpPr/>
          <p:nvPr/>
        </p:nvSpPr>
        <p:spPr>
          <a:xfrm>
            <a:off x="603504" y="1920240"/>
            <a:ext cx="1719072" cy="11887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AI gán nhãn</a:t>
            </a:r>
            <a:endParaRPr lang="en-US" sz="1200" dirty="0"/>
          </a:p>
          <a:p>
            <a:pPr algn="ctr" indent="0" marL="0">
              <a:buNone/>
            </a:pPr>
            <a:r>
              <a:rPr lang="en-US" sz="900" dirty="0">
                <a:solidFill>
                  <a:srgbClr val="EAF6EF"/>
                </a:solidFill>
                <a:latin typeface="Arial" pitchFamily="34" charset="0"/>
                <a:ea typeface="Arial" pitchFamily="34" charset="-122"/>
                <a:cs typeface="Arial" pitchFamily="34" charset="-120"/>
              </a:rPr>
              <a:t>chủ đề · cảm xúc · mức độ</a:t>
            </a:r>
            <a:endParaRPr lang="en-US" sz="1200" dirty="0"/>
          </a:p>
        </p:txBody>
      </p:sp>
      <p:sp>
        <p:nvSpPr>
          <p:cNvPr id="10" name="Shape 8"/>
          <p:cNvSpPr/>
          <p:nvPr/>
        </p:nvSpPr>
        <p:spPr>
          <a:xfrm>
            <a:off x="2395728" y="2423160"/>
            <a:ext cx="201168" cy="182880"/>
          </a:xfrm>
          <a:prstGeom prst="rightArrow">
            <a:avLst/>
          </a:prstGeom>
          <a:solidFill>
            <a:srgbClr val="0B6E36"/>
          </a:solidFill>
          <a:ln/>
        </p:spPr>
      </p:sp>
      <p:sp>
        <p:nvSpPr>
          <p:cNvPr id="11" name="Shape 9"/>
          <p:cNvSpPr/>
          <p:nvPr/>
        </p:nvSpPr>
        <p:spPr>
          <a:xfrm>
            <a:off x="2624328" y="1920240"/>
            <a:ext cx="1828800" cy="1188720"/>
          </a:xfrm>
          <a:prstGeom prst="roundRect">
            <a:avLst>
              <a:gd name="adj" fmla="val 6154"/>
            </a:avLst>
          </a:prstGeom>
          <a:solidFill>
            <a:srgbClr val="E0A82E"/>
          </a:solidFill>
          <a:ln/>
        </p:spPr>
      </p:sp>
      <p:sp>
        <p:nvSpPr>
          <p:cNvPr id="12" name="Text 10"/>
          <p:cNvSpPr/>
          <p:nvPr/>
        </p:nvSpPr>
        <p:spPr>
          <a:xfrm>
            <a:off x="2679192" y="1920240"/>
            <a:ext cx="1719072" cy="11887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Nhân viên sửa</a:t>
            </a:r>
            <a:endParaRPr lang="en-US" sz="1200" dirty="0"/>
          </a:p>
          <a:p>
            <a:pPr algn="ctr" indent="0" marL="0">
              <a:buNone/>
            </a:pPr>
            <a:r>
              <a:rPr lang="en-US" sz="900" dirty="0">
                <a:solidFill>
                  <a:srgbClr val="EAF6EF"/>
                </a:solidFill>
                <a:latin typeface="Arial" pitchFamily="34" charset="0"/>
                <a:ea typeface="Arial" pitchFamily="34" charset="-122"/>
                <a:cs typeface="Arial" pitchFamily="34" charset="-120"/>
              </a:rPr>
              <a:t>khi nhãn chưa đúng</a:t>
            </a:r>
            <a:endParaRPr lang="en-US" sz="1200" dirty="0"/>
          </a:p>
        </p:txBody>
      </p:sp>
      <p:sp>
        <p:nvSpPr>
          <p:cNvPr id="13" name="Shape 11"/>
          <p:cNvSpPr/>
          <p:nvPr/>
        </p:nvSpPr>
        <p:spPr>
          <a:xfrm>
            <a:off x="4471416" y="2423160"/>
            <a:ext cx="201168" cy="182880"/>
          </a:xfrm>
          <a:prstGeom prst="rightArrow">
            <a:avLst/>
          </a:prstGeom>
          <a:solidFill>
            <a:srgbClr val="0B6E36"/>
          </a:solidFill>
          <a:ln/>
        </p:spPr>
      </p:sp>
      <p:sp>
        <p:nvSpPr>
          <p:cNvPr id="14" name="Shape 12"/>
          <p:cNvSpPr/>
          <p:nvPr/>
        </p:nvSpPr>
        <p:spPr>
          <a:xfrm>
            <a:off x="4700016" y="1920240"/>
            <a:ext cx="1828800" cy="1188720"/>
          </a:xfrm>
          <a:prstGeom prst="roundRect">
            <a:avLst>
              <a:gd name="adj" fmla="val 6154"/>
            </a:avLst>
          </a:prstGeom>
          <a:solidFill>
            <a:srgbClr val="0B6E36"/>
          </a:solidFill>
          <a:ln/>
        </p:spPr>
      </p:sp>
      <p:sp>
        <p:nvSpPr>
          <p:cNvPr id="15" name="Text 13"/>
          <p:cNvSpPr/>
          <p:nvPr/>
        </p:nvSpPr>
        <p:spPr>
          <a:xfrm>
            <a:off x="4754880" y="1920240"/>
            <a:ext cx="1719072" cy="11887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Correction log</a:t>
            </a:r>
            <a:endParaRPr lang="en-US" sz="1200" dirty="0"/>
          </a:p>
          <a:p>
            <a:pPr algn="ctr" indent="0" marL="0">
              <a:buNone/>
            </a:pPr>
            <a:r>
              <a:rPr lang="en-US" sz="900" dirty="0">
                <a:solidFill>
                  <a:srgbClr val="EAF6EF"/>
                </a:solidFill>
                <a:latin typeface="Arial" pitchFamily="34" charset="0"/>
                <a:ea typeface="Arial" pitchFamily="34" charset="-122"/>
                <a:cs typeface="Arial" pitchFamily="34" charset="-120"/>
              </a:rPr>
              <a:t>ai sửa, sửa gì, cũ → mới</a:t>
            </a:r>
            <a:endParaRPr lang="en-US" sz="1200" dirty="0"/>
          </a:p>
        </p:txBody>
      </p:sp>
      <p:sp>
        <p:nvSpPr>
          <p:cNvPr id="16" name="Shape 14"/>
          <p:cNvSpPr/>
          <p:nvPr/>
        </p:nvSpPr>
        <p:spPr>
          <a:xfrm>
            <a:off x="6547104" y="2423160"/>
            <a:ext cx="201168" cy="182880"/>
          </a:xfrm>
          <a:prstGeom prst="rightArrow">
            <a:avLst/>
          </a:prstGeom>
          <a:solidFill>
            <a:srgbClr val="0B6E36"/>
          </a:solidFill>
          <a:ln/>
        </p:spPr>
      </p:sp>
      <p:sp>
        <p:nvSpPr>
          <p:cNvPr id="17" name="Shape 15"/>
          <p:cNvSpPr/>
          <p:nvPr/>
        </p:nvSpPr>
        <p:spPr>
          <a:xfrm>
            <a:off x="6775704" y="1920240"/>
            <a:ext cx="1828800" cy="1188720"/>
          </a:xfrm>
          <a:prstGeom prst="roundRect">
            <a:avLst>
              <a:gd name="adj" fmla="val 6154"/>
            </a:avLst>
          </a:prstGeom>
          <a:solidFill>
            <a:srgbClr val="22B14C"/>
          </a:solidFill>
          <a:ln/>
        </p:spPr>
      </p:sp>
      <p:sp>
        <p:nvSpPr>
          <p:cNvPr id="18" name="Text 16"/>
          <p:cNvSpPr/>
          <p:nvPr/>
        </p:nvSpPr>
        <p:spPr>
          <a:xfrm>
            <a:off x="6830568" y="1920240"/>
            <a:ext cx="1719072" cy="11887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Dữ liệu retrain</a:t>
            </a:r>
            <a:endParaRPr lang="en-US" sz="1200" dirty="0"/>
          </a:p>
          <a:p>
            <a:pPr algn="ctr" indent="0" marL="0">
              <a:buNone/>
            </a:pPr>
            <a:r>
              <a:rPr lang="en-US" sz="900" dirty="0">
                <a:solidFill>
                  <a:srgbClr val="EAF6EF"/>
                </a:solidFill>
                <a:latin typeface="Arial" pitchFamily="34" charset="0"/>
                <a:ea typeface="Arial" pitchFamily="34" charset="-122"/>
                <a:cs typeface="Arial" pitchFamily="34" charset="-120"/>
              </a:rPr>
              <a:t>mô hình tốt dần lên</a:t>
            </a:r>
            <a:endParaRPr lang="en-US" sz="1200" dirty="0"/>
          </a:p>
        </p:txBody>
      </p:sp>
      <p:sp>
        <p:nvSpPr>
          <p:cNvPr id="19" name="Shape 17"/>
          <p:cNvSpPr/>
          <p:nvPr/>
        </p:nvSpPr>
        <p:spPr>
          <a:xfrm flipH="1">
            <a:off x="4206240" y="3383280"/>
            <a:ext cx="914400" cy="274320"/>
          </a:xfrm>
          <a:prstGeom prst="rightArrow">
            <a:avLst/>
          </a:prstGeom>
          <a:solidFill>
            <a:srgbClr val="6B7C72"/>
          </a:solidFill>
          <a:ln/>
        </p:spPr>
      </p:sp>
      <p:sp>
        <p:nvSpPr>
          <p:cNvPr id="20" name="Text 18"/>
          <p:cNvSpPr/>
          <p:nvPr/>
        </p:nvSpPr>
        <p:spPr>
          <a:xfrm>
            <a:off x="548640" y="3611880"/>
            <a:ext cx="8046720" cy="365760"/>
          </a:xfrm>
          <a:prstGeom prst="rect">
            <a:avLst/>
          </a:prstGeom>
          <a:noFill/>
          <a:ln/>
        </p:spPr>
        <p:txBody>
          <a:bodyPr wrap="square" rtlCol="0" anchor="ctr"/>
          <a:lstStyle/>
          <a:p>
            <a:pPr algn="ctr" indent="0" marL="0">
              <a:buNone/>
            </a:pPr>
            <a:r>
              <a:rPr lang="en-US" sz="1150" i="1" dirty="0">
                <a:solidFill>
                  <a:srgbClr val="6B7C72"/>
                </a:solidFill>
                <a:latin typeface="Arial" pitchFamily="34" charset="0"/>
                <a:ea typeface="Arial" pitchFamily="34" charset="-122"/>
                <a:cs typeface="Arial" pitchFamily="34" charset="-120"/>
              </a:rPr>
              <a:t>Vòng học khép kín — quay lại cải thiện chính lớp AI gán nhãn</a:t>
            </a:r>
            <a:endParaRPr lang="en-US" sz="1150" dirty="0"/>
          </a:p>
        </p:txBody>
      </p:sp>
      <p:sp>
        <p:nvSpPr>
          <p:cNvPr id="21" name="Shape 19"/>
          <p:cNvSpPr/>
          <p:nvPr/>
        </p:nvSpPr>
        <p:spPr>
          <a:xfrm>
            <a:off x="548640" y="4069080"/>
            <a:ext cx="8046720" cy="548640"/>
          </a:xfrm>
          <a:prstGeom prst="roundRect">
            <a:avLst>
              <a:gd name="adj" fmla="val 11667"/>
            </a:avLst>
          </a:prstGeom>
          <a:solidFill>
            <a:srgbClr val="FFFFFF"/>
          </a:solidFill>
          <a:ln w="12700">
            <a:solidFill>
              <a:srgbClr val="D2E9DC"/>
            </a:solidFill>
            <a:prstDash val="solid"/>
          </a:ln>
        </p:spPr>
      </p:sp>
      <p:sp>
        <p:nvSpPr>
          <p:cNvPr id="22" name="Shape 20"/>
          <p:cNvSpPr/>
          <p:nvPr/>
        </p:nvSpPr>
        <p:spPr>
          <a:xfrm>
            <a:off x="548640" y="4178808"/>
            <a:ext cx="64008" cy="329184"/>
          </a:xfrm>
          <a:prstGeom prst="rect">
            <a:avLst/>
          </a:prstGeom>
          <a:solidFill>
            <a:srgbClr val="12A150"/>
          </a:solidFill>
          <a:ln/>
        </p:spPr>
      </p:sp>
      <p:sp>
        <p:nvSpPr>
          <p:cNvPr id="23" name="Text 21"/>
          <p:cNvSpPr/>
          <p:nvPr/>
        </p:nvSpPr>
        <p:spPr>
          <a:xfrm>
            <a:off x="749808" y="4215384"/>
            <a:ext cx="7680960" cy="292608"/>
          </a:xfrm>
          <a:prstGeom prst="rect">
            <a:avLst/>
          </a:prstGeom>
          <a:noFill/>
          <a:ln/>
        </p:spPr>
        <p:txBody>
          <a:bodyPr wrap="square" rtlCol="0" anchor="t"/>
          <a:lstStyle/>
          <a:p>
            <a:pPr indent="0" marL="0">
              <a:buNone/>
            </a:pPr>
            <a:r>
              <a:rPr lang="en-US" sz="1100" dirty="0">
                <a:solidFill>
                  <a:srgbClr val="2B3B31"/>
                </a:solidFill>
                <a:latin typeface="Arial" pitchFamily="34" charset="0"/>
                <a:ea typeface="Arial" pitchFamily="34" charset="-122"/>
                <a:cs typeface="Arial" pitchFamily="34" charset="-120"/>
              </a:rPr>
              <a:t>Mọi can thiệp được lưu vết để kiểm toán; admin có thể phân loại lại bằng rule mới nhưng giữ nguyên bản đã có người duyệt.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12/20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ĐIỂM NHẤN</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Biến báo cáo AI thành việc làm chỉ với một nút</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548640" y="2011680"/>
            <a:ext cx="1778508" cy="1234440"/>
          </a:xfrm>
          <a:prstGeom prst="roundRect">
            <a:avLst>
              <a:gd name="adj" fmla="val 4444"/>
            </a:avLst>
          </a:prstGeom>
          <a:solidFill>
            <a:srgbClr val="12A150"/>
          </a:solidFill>
          <a:ln w="12700">
            <a:solidFill>
              <a:srgbClr val="0B6E36"/>
            </a:solidFill>
            <a:prstDash val="solid"/>
          </a:ln>
        </p:spPr>
      </p:sp>
      <p:sp>
        <p:nvSpPr>
          <p:cNvPr id="9" name="Text 7"/>
          <p:cNvSpPr/>
          <p:nvPr/>
        </p:nvSpPr>
        <p:spPr>
          <a:xfrm>
            <a:off x="585216" y="2011680"/>
            <a:ext cx="1705356" cy="12344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Báo cáo AI</a:t>
            </a:r>
            <a:endParaRPr lang="en-US" sz="1100" dirty="0"/>
          </a:p>
          <a:p>
            <a:pPr algn="ctr" indent="0" marL="0">
              <a:buNone/>
            </a:pPr>
            <a:r>
              <a:rPr lang="en-US" sz="850" dirty="0">
                <a:solidFill>
                  <a:srgbClr val="EAF6EF"/>
                </a:solidFill>
                <a:latin typeface="Arial" pitchFamily="34" charset="0"/>
                <a:ea typeface="Arial" pitchFamily="34" charset="-122"/>
                <a:cs typeface="Arial" pitchFamily="34" charset="-120"/>
              </a:rPr>
              <a:t>analyst sinh ra</a:t>
            </a:r>
            <a:endParaRPr lang="en-US" sz="1100" dirty="0"/>
          </a:p>
        </p:txBody>
      </p:sp>
      <p:sp>
        <p:nvSpPr>
          <p:cNvPr id="10" name="Shape 8"/>
          <p:cNvSpPr/>
          <p:nvPr/>
        </p:nvSpPr>
        <p:spPr>
          <a:xfrm>
            <a:off x="2363724" y="2537460"/>
            <a:ext cx="237744" cy="182880"/>
          </a:xfrm>
          <a:prstGeom prst="rightArrow">
            <a:avLst/>
          </a:prstGeom>
          <a:solidFill>
            <a:srgbClr val="0B6E36"/>
          </a:solidFill>
          <a:ln/>
        </p:spPr>
      </p:sp>
      <p:sp>
        <p:nvSpPr>
          <p:cNvPr id="11" name="Shape 9"/>
          <p:cNvSpPr/>
          <p:nvPr/>
        </p:nvSpPr>
        <p:spPr>
          <a:xfrm>
            <a:off x="2638044" y="2011680"/>
            <a:ext cx="1778508" cy="1234440"/>
          </a:xfrm>
          <a:prstGeom prst="roundRect">
            <a:avLst>
              <a:gd name="adj" fmla="val 4444"/>
            </a:avLst>
          </a:prstGeom>
          <a:solidFill>
            <a:srgbClr val="12A150"/>
          </a:solidFill>
          <a:ln w="12700">
            <a:solidFill>
              <a:srgbClr val="0B6E36"/>
            </a:solidFill>
            <a:prstDash val="solid"/>
          </a:ln>
        </p:spPr>
      </p:sp>
      <p:sp>
        <p:nvSpPr>
          <p:cNvPr id="12" name="Text 10"/>
          <p:cNvSpPr/>
          <p:nvPr/>
        </p:nvSpPr>
        <p:spPr>
          <a:xfrm>
            <a:off x="2674620" y="2011680"/>
            <a:ext cx="1705356" cy="12344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Manager biên tập</a:t>
            </a:r>
            <a:endParaRPr lang="en-US" sz="1100" dirty="0"/>
          </a:p>
          <a:p>
            <a:pPr algn="ctr" indent="0" marL="0">
              <a:buNone/>
            </a:pPr>
            <a:r>
              <a:rPr lang="en-US" sz="850" dirty="0">
                <a:solidFill>
                  <a:srgbClr val="EAF6EF"/>
                </a:solidFill>
                <a:latin typeface="Arial" pitchFamily="34" charset="0"/>
                <a:ea typeface="Arial" pitchFamily="34" charset="-122"/>
                <a:cs typeface="Arial" pitchFamily="34" charset="-120"/>
              </a:rPr>
              <a:t>sửa hành động đề xuất</a:t>
            </a:r>
            <a:endParaRPr lang="en-US" sz="1100" dirty="0"/>
          </a:p>
        </p:txBody>
      </p:sp>
      <p:sp>
        <p:nvSpPr>
          <p:cNvPr id="13" name="Shape 11"/>
          <p:cNvSpPr/>
          <p:nvPr/>
        </p:nvSpPr>
        <p:spPr>
          <a:xfrm>
            <a:off x="4453128" y="2537460"/>
            <a:ext cx="237744" cy="182880"/>
          </a:xfrm>
          <a:prstGeom prst="rightArrow">
            <a:avLst/>
          </a:prstGeom>
          <a:solidFill>
            <a:srgbClr val="0B6E36"/>
          </a:solidFill>
          <a:ln/>
        </p:spPr>
      </p:sp>
      <p:sp>
        <p:nvSpPr>
          <p:cNvPr id="14" name="Shape 12"/>
          <p:cNvSpPr/>
          <p:nvPr/>
        </p:nvSpPr>
        <p:spPr>
          <a:xfrm>
            <a:off x="4727448" y="2011680"/>
            <a:ext cx="1778508" cy="1234440"/>
          </a:xfrm>
          <a:prstGeom prst="roundRect">
            <a:avLst>
              <a:gd name="adj" fmla="val 4444"/>
            </a:avLst>
          </a:prstGeom>
          <a:solidFill>
            <a:srgbClr val="E0A82E"/>
          </a:solidFill>
          <a:ln w="12700">
            <a:solidFill>
              <a:srgbClr val="0B6E36"/>
            </a:solidFill>
            <a:prstDash val="solid"/>
          </a:ln>
        </p:spPr>
      </p:sp>
      <p:sp>
        <p:nvSpPr>
          <p:cNvPr id="15" name="Text 13"/>
          <p:cNvSpPr/>
          <p:nvPr/>
        </p:nvSpPr>
        <p:spPr>
          <a:xfrm>
            <a:off x="4764024" y="2011680"/>
            <a:ext cx="1705356" cy="1234440"/>
          </a:xfrm>
          <a:prstGeom prst="rect">
            <a:avLst/>
          </a:prstGeom>
          <a:noFill/>
          <a:ln/>
        </p:spPr>
        <p:txBody>
          <a:bodyPr wrap="square" rtlCol="0" anchor="ctr"/>
          <a:lstStyle/>
          <a:p>
            <a:pPr algn="ctr" indent="0" marL="0">
              <a:buNone/>
            </a:pPr>
            <a:r>
              <a:rPr lang="en-US" sz="1100" b="1" dirty="0">
                <a:solidFill>
                  <a:srgbClr val="13241B"/>
                </a:solidFill>
                <a:latin typeface="Arial" pitchFamily="34" charset="0"/>
                <a:ea typeface="Arial" pitchFamily="34" charset="-122"/>
                <a:cs typeface="Arial" pitchFamily="34" charset="-120"/>
              </a:rPr>
              <a:t>1 nút Duyệt &amp; triển khai</a:t>
            </a:r>
            <a:endParaRPr lang="en-US" sz="1100" dirty="0"/>
          </a:p>
          <a:p>
            <a:pPr algn="ctr" indent="0" marL="0">
              <a:buNone/>
            </a:pPr>
            <a:r>
              <a:rPr lang="en-US" sz="850" dirty="0">
                <a:solidFill>
                  <a:srgbClr val="5A4A12"/>
                </a:solidFill>
                <a:latin typeface="Arial" pitchFamily="34" charset="0"/>
                <a:ea typeface="Arial" pitchFamily="34" charset="-122"/>
                <a:cs typeface="Arial" pitchFamily="34" charset="-120"/>
              </a:rPr>
              <a:t>atomic qua RPC</a:t>
            </a:r>
            <a:endParaRPr lang="en-US" sz="1100" dirty="0"/>
          </a:p>
        </p:txBody>
      </p:sp>
      <p:sp>
        <p:nvSpPr>
          <p:cNvPr id="16" name="Shape 14"/>
          <p:cNvSpPr/>
          <p:nvPr/>
        </p:nvSpPr>
        <p:spPr>
          <a:xfrm>
            <a:off x="6542532" y="2537460"/>
            <a:ext cx="237744" cy="182880"/>
          </a:xfrm>
          <a:prstGeom prst="rightArrow">
            <a:avLst/>
          </a:prstGeom>
          <a:solidFill>
            <a:srgbClr val="0B6E36"/>
          </a:solidFill>
          <a:ln/>
        </p:spPr>
      </p:sp>
      <p:sp>
        <p:nvSpPr>
          <p:cNvPr id="17" name="Shape 15"/>
          <p:cNvSpPr/>
          <p:nvPr/>
        </p:nvSpPr>
        <p:spPr>
          <a:xfrm>
            <a:off x="6816852" y="2011680"/>
            <a:ext cx="1778508" cy="1234440"/>
          </a:xfrm>
          <a:prstGeom prst="roundRect">
            <a:avLst>
              <a:gd name="adj" fmla="val 4444"/>
            </a:avLst>
          </a:prstGeom>
          <a:solidFill>
            <a:srgbClr val="12A150"/>
          </a:solidFill>
          <a:ln w="12700">
            <a:solidFill>
              <a:srgbClr val="0B6E36"/>
            </a:solidFill>
            <a:prstDash val="solid"/>
          </a:ln>
        </p:spPr>
      </p:sp>
      <p:sp>
        <p:nvSpPr>
          <p:cNvPr id="18" name="Text 16"/>
          <p:cNvSpPr/>
          <p:nvPr/>
        </p:nvSpPr>
        <p:spPr>
          <a:xfrm>
            <a:off x="6853428" y="2011680"/>
            <a:ext cx="1705356" cy="12344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Task trên Task Board</a:t>
            </a:r>
            <a:endParaRPr lang="en-US" sz="1100" dirty="0"/>
          </a:p>
          <a:p>
            <a:pPr algn="ctr" indent="0" marL="0">
              <a:buNone/>
            </a:pPr>
            <a:r>
              <a:rPr lang="en-US" sz="850" dirty="0">
                <a:solidFill>
                  <a:srgbClr val="EAF6EF"/>
                </a:solidFill>
                <a:latin typeface="Arial" pitchFamily="34" charset="0"/>
                <a:ea typeface="Arial" pitchFamily="34" charset="-122"/>
                <a:cs typeface="Arial" pitchFamily="34" charset="-120"/>
              </a:rPr>
              <a:t>badge "Từ báo cáo"</a:t>
            </a:r>
            <a:endParaRPr lang="en-US" sz="1100" dirty="0"/>
          </a:p>
        </p:txBody>
      </p:sp>
      <p:sp>
        <p:nvSpPr>
          <p:cNvPr id="19" name="Shape 17"/>
          <p:cNvSpPr/>
          <p:nvPr/>
        </p:nvSpPr>
        <p:spPr>
          <a:xfrm>
            <a:off x="457200" y="3611880"/>
            <a:ext cx="4023360" cy="914400"/>
          </a:xfrm>
          <a:prstGeom prst="roundRect">
            <a:avLst>
              <a:gd name="adj" fmla="val 7000"/>
            </a:avLst>
          </a:prstGeom>
          <a:solidFill>
            <a:srgbClr val="FFFFFF"/>
          </a:solidFill>
          <a:ln w="12700">
            <a:solidFill>
              <a:srgbClr val="D2E9DC"/>
            </a:solidFill>
            <a:prstDash val="solid"/>
          </a:ln>
        </p:spPr>
      </p:sp>
      <p:sp>
        <p:nvSpPr>
          <p:cNvPr id="20" name="Shape 18"/>
          <p:cNvSpPr/>
          <p:nvPr/>
        </p:nvSpPr>
        <p:spPr>
          <a:xfrm>
            <a:off x="457200" y="3721608"/>
            <a:ext cx="64008" cy="694944"/>
          </a:xfrm>
          <a:prstGeom prst="rect">
            <a:avLst/>
          </a:prstGeom>
          <a:solidFill>
            <a:srgbClr val="0B6E36"/>
          </a:solidFill>
          <a:ln/>
        </p:spPr>
      </p:sp>
      <p:sp>
        <p:nvSpPr>
          <p:cNvPr id="21" name="Text 19"/>
          <p:cNvSpPr/>
          <p:nvPr/>
        </p:nvSpPr>
        <p:spPr>
          <a:xfrm>
            <a:off x="658368" y="3758184"/>
            <a:ext cx="3712464" cy="310896"/>
          </a:xfrm>
          <a:prstGeom prst="rect">
            <a:avLst/>
          </a:prstGeom>
          <a:noFill/>
          <a:ln/>
        </p:spPr>
        <p:txBody>
          <a:bodyPr wrap="square" rtlCol="0" anchor="ctr"/>
          <a:lstStyle/>
          <a:p>
            <a:pPr indent="0" marL="0">
              <a:buNone/>
            </a:pPr>
            <a:r>
              <a:rPr lang="en-US" sz="1400" b="1" dirty="0">
                <a:solidFill>
                  <a:srgbClr val="13241B"/>
                </a:solidFill>
                <a:latin typeface="Arial" pitchFamily="34" charset="0"/>
                <a:ea typeface="Arial" pitchFamily="34" charset="-122"/>
                <a:cs typeface="Arial" pitchFamily="34" charset="-120"/>
              </a:rPr>
              <a:t>Vì sao quan trọng</a:t>
            </a:r>
            <a:endParaRPr lang="en-US" sz="1400" dirty="0"/>
          </a:p>
        </p:txBody>
      </p:sp>
      <p:sp>
        <p:nvSpPr>
          <p:cNvPr id="22" name="Text 20"/>
          <p:cNvSpPr/>
          <p:nvPr/>
        </p:nvSpPr>
        <p:spPr>
          <a:xfrm>
            <a:off x="658368" y="4123944"/>
            <a:ext cx="3657600" cy="292608"/>
          </a:xfrm>
          <a:prstGeom prst="rect">
            <a:avLst/>
          </a:prstGeom>
          <a:noFill/>
          <a:ln/>
        </p:spPr>
        <p:txBody>
          <a:bodyPr wrap="square" rtlCol="0" anchor="t"/>
          <a:lstStyle/>
          <a:p>
            <a:pPr indent="0" marL="0">
              <a:buNone/>
            </a:pPr>
            <a:r>
              <a:rPr lang="en-US" sz="1150" dirty="0">
                <a:solidFill>
                  <a:srgbClr val="2B3B31"/>
                </a:solidFill>
                <a:latin typeface="Arial" pitchFamily="34" charset="0"/>
                <a:ea typeface="Arial" pitchFamily="34" charset="-122"/>
                <a:cs typeface="Arial" pitchFamily="34" charset="-120"/>
              </a:rPr>
              <a:t>Đây là chỗ AI ngừng "chỉ phân tích" và bắt đầu tạo ra việc làm thật, có người chịu trách nhiệm.</a:t>
            </a:r>
            <a:endParaRPr lang="en-US" sz="1150" dirty="0"/>
          </a:p>
        </p:txBody>
      </p:sp>
      <p:sp>
        <p:nvSpPr>
          <p:cNvPr id="23" name="Shape 21"/>
          <p:cNvSpPr/>
          <p:nvPr/>
        </p:nvSpPr>
        <p:spPr>
          <a:xfrm>
            <a:off x="4663440" y="3611880"/>
            <a:ext cx="4023360" cy="914400"/>
          </a:xfrm>
          <a:prstGeom prst="roundRect">
            <a:avLst>
              <a:gd name="adj" fmla="val 7000"/>
            </a:avLst>
          </a:prstGeom>
          <a:solidFill>
            <a:srgbClr val="FFFFFF"/>
          </a:solidFill>
          <a:ln w="12700">
            <a:solidFill>
              <a:srgbClr val="D2E9DC"/>
            </a:solidFill>
            <a:prstDash val="solid"/>
          </a:ln>
        </p:spPr>
      </p:sp>
      <p:sp>
        <p:nvSpPr>
          <p:cNvPr id="24" name="Shape 22"/>
          <p:cNvSpPr/>
          <p:nvPr/>
        </p:nvSpPr>
        <p:spPr>
          <a:xfrm>
            <a:off x="4663440" y="3721608"/>
            <a:ext cx="64008" cy="694944"/>
          </a:xfrm>
          <a:prstGeom prst="rect">
            <a:avLst/>
          </a:prstGeom>
          <a:solidFill>
            <a:srgbClr val="12A150"/>
          </a:solidFill>
          <a:ln/>
        </p:spPr>
      </p:sp>
      <p:sp>
        <p:nvSpPr>
          <p:cNvPr id="25" name="Text 23"/>
          <p:cNvSpPr/>
          <p:nvPr/>
        </p:nvSpPr>
        <p:spPr>
          <a:xfrm>
            <a:off x="4864608" y="3758184"/>
            <a:ext cx="3712464" cy="310896"/>
          </a:xfrm>
          <a:prstGeom prst="rect">
            <a:avLst/>
          </a:prstGeom>
          <a:noFill/>
          <a:ln/>
        </p:spPr>
        <p:txBody>
          <a:bodyPr wrap="square" rtlCol="0" anchor="ctr"/>
          <a:lstStyle/>
          <a:p>
            <a:pPr indent="0" marL="0">
              <a:buNone/>
            </a:pPr>
            <a:r>
              <a:rPr lang="en-US" sz="1400" b="1" dirty="0">
                <a:solidFill>
                  <a:srgbClr val="13241B"/>
                </a:solidFill>
                <a:latin typeface="Arial" pitchFamily="34" charset="0"/>
                <a:ea typeface="Arial" pitchFamily="34" charset="-122"/>
                <a:cs typeface="Arial" pitchFamily="34" charset="-120"/>
              </a:rPr>
              <a:t>Có thể truy vết</a:t>
            </a:r>
            <a:endParaRPr lang="en-US" sz="1400" dirty="0"/>
          </a:p>
        </p:txBody>
      </p:sp>
      <p:sp>
        <p:nvSpPr>
          <p:cNvPr id="26" name="Text 24"/>
          <p:cNvSpPr/>
          <p:nvPr/>
        </p:nvSpPr>
        <p:spPr>
          <a:xfrm>
            <a:off x="4864608" y="4123944"/>
            <a:ext cx="3657600" cy="292608"/>
          </a:xfrm>
          <a:prstGeom prst="rect">
            <a:avLst/>
          </a:prstGeom>
          <a:noFill/>
          <a:ln/>
        </p:spPr>
        <p:txBody>
          <a:bodyPr wrap="square" rtlCol="0" anchor="t"/>
          <a:lstStyle/>
          <a:p>
            <a:pPr indent="0" marL="0">
              <a:buNone/>
            </a:pPr>
            <a:r>
              <a:rPr lang="en-US" sz="1150" dirty="0">
                <a:solidFill>
                  <a:srgbClr val="2B3B31"/>
                </a:solidFill>
                <a:latin typeface="Arial" pitchFamily="34" charset="0"/>
                <a:ea typeface="Arial" pitchFamily="34" charset="-122"/>
                <a:cs typeface="Arial" pitchFamily="34" charset="-120"/>
              </a:rPr>
              <a:t>Mỗi task giữ liên kết ngược về báo cáo gốc — minh bạch từ đề xuất đến hành động.</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13/20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BẢO MẬT &amp; PHÂN QUYỀN</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Bốn vai trò × bốn phòng ban, ai thấy việc nấy</a:t>
            </a:r>
            <a:endParaRPr lang="en-US" sz="2500" dirty="0"/>
          </a:p>
        </p:txBody>
      </p:sp>
      <p:sp>
        <p:nvSpPr>
          <p:cNvPr id="7" name="Shape 5"/>
          <p:cNvSpPr/>
          <p:nvPr/>
        </p:nvSpPr>
        <p:spPr>
          <a:xfrm>
            <a:off x="457200" y="1225296"/>
            <a:ext cx="960120" cy="50292"/>
          </a:xfrm>
          <a:prstGeom prst="rect">
            <a:avLst/>
          </a:prstGeom>
          <a:solidFill>
            <a:srgbClr val="E0A82E"/>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5577840" cy="2743200"/>
        </p:xfrm>
        <a:graphic>
          <a:graphicData uri="http://schemas.openxmlformats.org/drawingml/2006/table">
            <a:tbl>
              <a:tblPr/>
              <a:tblGrid>
                <a:gridCol w="1097280"/>
                <a:gridCol w="1371600"/>
                <a:gridCol w="3108960"/>
              </a:tblGrid>
              <a:tr h="502920">
                <a:tc>
                  <a:txBody>
                    <a:bodyPr/>
                    <a:lstStyle/>
                    <a:p>
                      <a:pPr indent="0" marL="0">
                        <a:buNone/>
                      </a:pPr>
                      <a:r>
                        <a:rPr lang="en-US" sz="1050" b="1" dirty="0">
                          <a:solidFill>
                            <a:srgbClr val="FFFFFF"/>
                          </a:solidFill>
                          <a:latin typeface="Arial" pitchFamily="34" charset="0"/>
                          <a:ea typeface="Arial" pitchFamily="34" charset="-122"/>
                          <a:cs typeface="Arial" pitchFamily="34" charset="-120"/>
                        </a:rPr>
                        <a:t>Vai trò</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0B6E3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Phạm vi</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0B6E3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Làm được gì</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0B6E36"/>
                    </a:solidFill>
                  </a:tcPr>
                </a:tc>
              </a:tr>
              <a:tr h="502920">
                <a:tc>
                  <a:txBody>
                    <a:bodyPr/>
                    <a:lstStyle/>
                    <a:p>
                      <a:pPr indent="0" marL="0">
                        <a:buNone/>
                      </a:pPr>
                      <a:r>
                        <a:rPr lang="en-US" sz="1050" dirty="0">
                          <a:solidFill>
                            <a:srgbClr val="13241B"/>
                          </a:solidFill>
                          <a:latin typeface="Arial" pitchFamily="34" charset="0"/>
                          <a:ea typeface="Arial" pitchFamily="34" charset="-122"/>
                          <a:cs typeface="Arial" pitchFamily="34" charset="-120"/>
                        </a:rPr>
                        <a:t>Admin</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050" dirty="0">
                          <a:solidFill>
                            <a:srgbClr val="13241B"/>
                          </a:solidFill>
                          <a:latin typeface="Arial" pitchFamily="34" charset="0"/>
                          <a:ea typeface="Arial" pitchFamily="34" charset="-122"/>
                          <a:cs typeface="Arial" pitchFamily="34" charset="-120"/>
                        </a:rPr>
                        <a:t>Toàn hệ thống</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050" dirty="0">
                          <a:solidFill>
                            <a:srgbClr val="13241B"/>
                          </a:solidFill>
                          <a:latin typeface="Arial" pitchFamily="34" charset="0"/>
                          <a:ea typeface="Arial" pitchFamily="34" charset="-122"/>
                          <a:cs typeface="Arial" pitchFamily="34" charset="-120"/>
                        </a:rPr>
                        <a:t>Quản lý user, bật streaming, trigger pipeline, xem mọi phòng</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r>
              <a:tr h="502920">
                <a:tc>
                  <a:txBody>
                    <a:bodyPr/>
                    <a:lstStyle/>
                    <a:p>
                      <a:pPr indent="0" marL="0">
                        <a:buNone/>
                      </a:pPr>
                      <a:r>
                        <a:rPr lang="en-US" sz="1050" dirty="0">
                          <a:solidFill>
                            <a:srgbClr val="13241B"/>
                          </a:solidFill>
                          <a:latin typeface="Arial" pitchFamily="34" charset="0"/>
                          <a:ea typeface="Arial" pitchFamily="34" charset="-122"/>
                          <a:cs typeface="Arial" pitchFamily="34" charset="-120"/>
                        </a:rPr>
                        <a:t>Manager</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050" dirty="0">
                          <a:solidFill>
                            <a:srgbClr val="13241B"/>
                          </a:solidFill>
                          <a:latin typeface="Arial" pitchFamily="34" charset="0"/>
                          <a:ea typeface="Arial" pitchFamily="34" charset="-122"/>
                          <a:cs typeface="Arial" pitchFamily="34" charset="-120"/>
                        </a:rPr>
                        <a:t>Phòng của mình</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050" dirty="0">
                          <a:solidFill>
                            <a:srgbClr val="13241B"/>
                          </a:solidFill>
                          <a:latin typeface="Arial" pitchFamily="34" charset="0"/>
                          <a:ea typeface="Arial" pitchFamily="34" charset="-122"/>
                          <a:cs typeface="Arial" pitchFamily="34" charset="-120"/>
                        </a:rPr>
                        <a:t>Alerts, tasks, insights, báo cáo, chat</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r>
              <a:tr h="502920">
                <a:tc>
                  <a:txBody>
                    <a:bodyPr/>
                    <a:lstStyle/>
                    <a:p>
                      <a:pPr indent="0" marL="0">
                        <a:buNone/>
                      </a:pPr>
                      <a:r>
                        <a:rPr lang="en-US" sz="1050" dirty="0">
                          <a:solidFill>
                            <a:srgbClr val="13241B"/>
                          </a:solidFill>
                          <a:latin typeface="Arial" pitchFamily="34" charset="0"/>
                          <a:ea typeface="Arial" pitchFamily="34" charset="-122"/>
                          <a:cs typeface="Arial" pitchFamily="34" charset="-120"/>
                        </a:rPr>
                        <a:t>Staff</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050" dirty="0">
                          <a:solidFill>
                            <a:srgbClr val="13241B"/>
                          </a:solidFill>
                          <a:latin typeface="Arial" pitchFamily="34" charset="0"/>
                          <a:ea typeface="Arial" pitchFamily="34" charset="-122"/>
                          <a:cs typeface="Arial" pitchFamily="34" charset="-120"/>
                        </a:rPr>
                        <a:t>Phòng của mình</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050" dirty="0">
                          <a:solidFill>
                            <a:srgbClr val="13241B"/>
                          </a:solidFill>
                          <a:latin typeface="Arial" pitchFamily="34" charset="0"/>
                          <a:ea typeface="Arial" pitchFamily="34" charset="-122"/>
                          <a:cs typeface="Arial" pitchFamily="34" charset="-120"/>
                        </a:rPr>
                        <a:t>Feedback, tasks, hỗ trợ CSKH, chat</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r>
              <a:tr h="502920">
                <a:tc>
                  <a:txBody>
                    <a:bodyPr/>
                    <a:lstStyle/>
                    <a:p>
                      <a:pPr indent="0" marL="0">
                        <a:buNone/>
                      </a:pPr>
                      <a:r>
                        <a:rPr lang="en-US" sz="1050" dirty="0">
                          <a:solidFill>
                            <a:srgbClr val="13241B"/>
                          </a:solidFill>
                          <a:latin typeface="Arial" pitchFamily="34" charset="0"/>
                          <a:ea typeface="Arial" pitchFamily="34" charset="-122"/>
                          <a:cs typeface="Arial" pitchFamily="34" charset="-120"/>
                        </a:rPr>
                        <a:t>Guest</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050" dirty="0">
                          <a:solidFill>
                            <a:srgbClr val="13241B"/>
                          </a:solidFill>
                          <a:latin typeface="Arial" pitchFamily="34" charset="0"/>
                          <a:ea typeface="Arial" pitchFamily="34" charset="-122"/>
                          <a:cs typeface="Arial" pitchFamily="34" charset="-120"/>
                        </a:rPr>
                        <a:t>Công khai</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050" dirty="0">
                          <a:solidFill>
                            <a:srgbClr val="13241B"/>
                          </a:solidFill>
                          <a:latin typeface="Arial" pitchFamily="34" charset="0"/>
                          <a:ea typeface="Arial" pitchFamily="34" charset="-122"/>
                          <a:cs typeface="Arial" pitchFamily="34" charset="-120"/>
                        </a:rPr>
                        <a:t>Dashboard rút gọn, gửi feedback, chat hỗ trợ</a:t>
                      </a:r>
                      <a:endParaRPr lang="en-US" sz="105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r>
            </a:tbl>
          </a:graphicData>
        </a:graphic>
      </p:graphicFrame>
      <p:sp>
        <p:nvSpPr>
          <p:cNvPr id="9" name="Shape 6"/>
          <p:cNvSpPr/>
          <p:nvPr/>
        </p:nvSpPr>
        <p:spPr>
          <a:xfrm>
            <a:off x="6217920" y="1600200"/>
            <a:ext cx="2468880" cy="2743200"/>
          </a:xfrm>
          <a:prstGeom prst="roundRect">
            <a:avLst>
              <a:gd name="adj" fmla="val 2593"/>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10" name="Shape 7"/>
          <p:cNvSpPr/>
          <p:nvPr/>
        </p:nvSpPr>
        <p:spPr>
          <a:xfrm>
            <a:off x="6217920" y="1709928"/>
            <a:ext cx="64008" cy="2523744"/>
          </a:xfrm>
          <a:prstGeom prst="rect">
            <a:avLst/>
          </a:prstGeom>
          <a:solidFill>
            <a:srgbClr val="E0A82E"/>
          </a:solidFill>
          <a:ln/>
        </p:spPr>
      </p:sp>
      <p:sp>
        <p:nvSpPr>
          <p:cNvPr id="11" name="Text 8"/>
          <p:cNvSpPr/>
          <p:nvPr/>
        </p:nvSpPr>
        <p:spPr>
          <a:xfrm>
            <a:off x="6419088" y="1746504"/>
            <a:ext cx="2157984" cy="310896"/>
          </a:xfrm>
          <a:prstGeom prst="rect">
            <a:avLst/>
          </a:prstGeom>
          <a:noFill/>
          <a:ln/>
        </p:spPr>
        <p:txBody>
          <a:bodyPr wrap="square" rtlCol="0" anchor="ctr"/>
          <a:lstStyle/>
          <a:p>
            <a:pPr indent="0" marL="0">
              <a:buNone/>
            </a:pPr>
            <a:r>
              <a:rPr lang="en-US" sz="1400" b="1" dirty="0">
                <a:solidFill>
                  <a:srgbClr val="13241B"/>
                </a:solidFill>
                <a:latin typeface="Arial" pitchFamily="34" charset="0"/>
                <a:ea typeface="Arial" pitchFamily="34" charset="-122"/>
                <a:cs typeface="Arial" pitchFamily="34" charset="-120"/>
              </a:rPr>
              <a:t>Hai trục độc lập</a:t>
            </a:r>
            <a:endParaRPr lang="en-US" sz="1400" dirty="0"/>
          </a:p>
        </p:txBody>
      </p:sp>
      <p:sp>
        <p:nvSpPr>
          <p:cNvPr id="12" name="Text 9"/>
          <p:cNvSpPr/>
          <p:nvPr/>
        </p:nvSpPr>
        <p:spPr>
          <a:xfrm>
            <a:off x="6419088" y="2112264"/>
            <a:ext cx="2103120" cy="2121408"/>
          </a:xfrm>
          <a:prstGeom prst="rect">
            <a:avLst/>
          </a:prstGeom>
          <a:noFill/>
          <a:ln/>
        </p:spPr>
        <p:txBody>
          <a:bodyPr wrap="square" rtlCol="0" anchor="t"/>
          <a:lstStyle/>
          <a:p>
            <a:pPr marL="152400" indent="-152400">
              <a:lnSpc>
                <a:spcPct val="105000"/>
              </a:lnSpc>
              <a:buSzPct val="100000"/>
              <a:buChar char="•"/>
            </a:pPr>
            <a:r>
              <a:rPr lang="en-US" sz="1050" dirty="0">
                <a:solidFill>
                  <a:srgbClr val="2B3B31"/>
                </a:solidFill>
                <a:latin typeface="Arial" pitchFamily="34" charset="0"/>
                <a:ea typeface="Arial" pitchFamily="34" charset="-122"/>
                <a:cs typeface="Arial" pitchFamily="34" charset="-120"/>
              </a:rPr>
              <a:t>Role = cấp độ quyền</a:t>
            </a:r>
            <a:endParaRPr lang="en-US" sz="1050" dirty="0"/>
          </a:p>
          <a:p>
            <a:pPr marL="152400" indent="-152400">
              <a:lnSpc>
                <a:spcPct val="105000"/>
              </a:lnSpc>
              <a:buSzPct val="100000"/>
              <a:buChar char="•"/>
            </a:pPr>
            <a:r>
              <a:rPr lang="en-US" sz="1050" dirty="0">
                <a:solidFill>
                  <a:srgbClr val="2B3B31"/>
                </a:solidFill>
                <a:latin typeface="Arial" pitchFamily="34" charset="0"/>
                <a:ea typeface="Arial" pitchFamily="34" charset="-122"/>
                <a:cs typeface="Arial" pitchFamily="34" charset="-120"/>
              </a:rPr>
              <a:t>Department (IT/CSKH/Vận hành/Marketing) = thấy dữ liệu của ai</a:t>
            </a:r>
            <a:endParaRPr lang="en-US" sz="1050" dirty="0"/>
          </a:p>
          <a:p>
            <a:pPr marL="152400" indent="-152400">
              <a:lnSpc>
                <a:spcPct val="105000"/>
              </a:lnSpc>
              <a:buSzPct val="100000"/>
              <a:buChar char="•"/>
            </a:pPr>
            <a:r>
              <a:rPr lang="en-US" sz="1050" dirty="0">
                <a:solidFill>
                  <a:srgbClr val="2B3B31"/>
                </a:solidFill>
                <a:latin typeface="Arial" pitchFamily="34" charset="0"/>
                <a:ea typeface="Arial" pitchFamily="34" charset="-122"/>
                <a:cs typeface="Arial" pitchFamily="34" charset="-120"/>
              </a:rPr>
              <a:t>Chặn xem chéo phòng ở tầng API</a:t>
            </a:r>
            <a:endParaRPr lang="en-US" sz="1050" dirty="0"/>
          </a:p>
          <a:p>
            <a:pPr marL="152400" indent="-152400">
              <a:lnSpc>
                <a:spcPct val="105000"/>
              </a:lnSpc>
              <a:buSzPct val="100000"/>
              <a:buChar char="•"/>
            </a:pPr>
            <a:r>
              <a:rPr lang="en-US" sz="1050" dirty="0">
                <a:solidFill>
                  <a:srgbClr val="2B3B31"/>
                </a:solidFill>
                <a:latin typeface="Arial" pitchFamily="34" charset="0"/>
                <a:ea typeface="Arial" pitchFamily="34" charset="-122"/>
                <a:cs typeface="Arial" pitchFamily="34" charset="-120"/>
              </a:rPr>
              <a:t>Chat lọc theo phòng + che PII hai đầu</a:t>
            </a:r>
            <a:endParaRPr lang="en-US" sz="1050" dirty="0"/>
          </a:p>
          <a:p>
            <a:pPr marL="152400" indent="-152400">
              <a:lnSpc>
                <a:spcPct val="105000"/>
              </a:lnSpc>
              <a:buSzPct val="100000"/>
              <a:buChar char="•"/>
            </a:pPr>
            <a:r>
              <a:rPr lang="en-US" sz="1050" dirty="0">
                <a:solidFill>
                  <a:srgbClr val="2B3B31"/>
                </a:solidFill>
                <a:latin typeface="Arial" pitchFamily="34" charset="0"/>
                <a:ea typeface="Arial" pitchFamily="34" charset="-122"/>
                <a:cs typeface="Arial" pitchFamily="34" charset="-120"/>
              </a:rPr>
              <a:t>Mọi đổi quyền vào audit log</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14/20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KIẾN TRÚC &amp; CÔNG NGHỆ</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Ba tầng, sáu service, không khóa nhà cung cấp</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457200" y="1554480"/>
            <a:ext cx="5486400" cy="676656"/>
          </a:xfrm>
          <a:prstGeom prst="roundRect">
            <a:avLst>
              <a:gd name="adj" fmla="val 8108"/>
            </a:avLst>
          </a:prstGeom>
          <a:solidFill>
            <a:srgbClr val="22B14C"/>
          </a:solidFill>
          <a:ln/>
        </p:spPr>
      </p:sp>
      <p:sp>
        <p:nvSpPr>
          <p:cNvPr id="9" name="Text 7"/>
          <p:cNvSpPr/>
          <p:nvPr/>
        </p:nvSpPr>
        <p:spPr>
          <a:xfrm>
            <a:off x="640080" y="1554480"/>
            <a:ext cx="5212080" cy="676656"/>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FRONTEND   </a:t>
            </a:r>
            <a:pPr indent="0" marL="0">
              <a:buNone/>
            </a:pPr>
            <a:r>
              <a:rPr lang="en-US" sz="1050" dirty="0">
                <a:solidFill>
                  <a:srgbClr val="EAF6EF"/>
                </a:solidFill>
                <a:latin typeface="Arial" pitchFamily="34" charset="0"/>
                <a:ea typeface="Arial" pitchFamily="34" charset="-122"/>
                <a:cs typeface="Arial" pitchFamily="34" charset="-120"/>
              </a:rPr>
              <a:t>React 19 · TanStack Start · Vite · Tailwind · shadcn/ui</a:t>
            </a:r>
            <a:endParaRPr lang="en-US" sz="1300" dirty="0"/>
          </a:p>
        </p:txBody>
      </p:sp>
      <p:sp>
        <p:nvSpPr>
          <p:cNvPr id="10" name="Shape 8"/>
          <p:cNvSpPr/>
          <p:nvPr/>
        </p:nvSpPr>
        <p:spPr>
          <a:xfrm rot="5400000">
            <a:off x="3108960" y="2231136"/>
            <a:ext cx="182880" cy="109728"/>
          </a:xfrm>
          <a:prstGeom prst="rightArrow">
            <a:avLst/>
          </a:prstGeom>
          <a:solidFill>
            <a:srgbClr val="6B7C72"/>
          </a:solidFill>
          <a:ln/>
        </p:spPr>
      </p:sp>
      <p:sp>
        <p:nvSpPr>
          <p:cNvPr id="11" name="Shape 9"/>
          <p:cNvSpPr/>
          <p:nvPr/>
        </p:nvSpPr>
        <p:spPr>
          <a:xfrm>
            <a:off x="457200" y="2340864"/>
            <a:ext cx="5486400" cy="676656"/>
          </a:xfrm>
          <a:prstGeom prst="roundRect">
            <a:avLst>
              <a:gd name="adj" fmla="val 8108"/>
            </a:avLst>
          </a:prstGeom>
          <a:solidFill>
            <a:srgbClr val="12A150"/>
          </a:solidFill>
          <a:ln/>
        </p:spPr>
      </p:sp>
      <p:sp>
        <p:nvSpPr>
          <p:cNvPr id="12" name="Text 10"/>
          <p:cNvSpPr/>
          <p:nvPr/>
        </p:nvSpPr>
        <p:spPr>
          <a:xfrm>
            <a:off x="640080" y="2340864"/>
            <a:ext cx="5212080" cy="676656"/>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BACKEND   </a:t>
            </a:r>
            <a:pPr indent="0" marL="0">
              <a:buNone/>
            </a:pPr>
            <a:r>
              <a:rPr lang="en-US" sz="1050" dirty="0">
                <a:solidFill>
                  <a:srgbClr val="EAF6EF"/>
                </a:solidFill>
                <a:latin typeface="Arial" pitchFamily="34" charset="0"/>
                <a:ea typeface="Arial" pitchFamily="34" charset="-122"/>
                <a:cs typeface="Arial" pitchFamily="34" charset="-120"/>
              </a:rPr>
              <a:t>FastAPI · web API + 4 worker (ticket · ingest · ml · agent)</a:t>
            </a:r>
            <a:endParaRPr lang="en-US" sz="1300" dirty="0"/>
          </a:p>
        </p:txBody>
      </p:sp>
      <p:sp>
        <p:nvSpPr>
          <p:cNvPr id="13" name="Shape 11"/>
          <p:cNvSpPr/>
          <p:nvPr/>
        </p:nvSpPr>
        <p:spPr>
          <a:xfrm rot="5400000">
            <a:off x="3108960" y="3017520"/>
            <a:ext cx="182880" cy="109728"/>
          </a:xfrm>
          <a:prstGeom prst="rightArrow">
            <a:avLst/>
          </a:prstGeom>
          <a:solidFill>
            <a:srgbClr val="6B7C72"/>
          </a:solidFill>
          <a:ln/>
        </p:spPr>
      </p:sp>
      <p:sp>
        <p:nvSpPr>
          <p:cNvPr id="14" name="Shape 12"/>
          <p:cNvSpPr/>
          <p:nvPr/>
        </p:nvSpPr>
        <p:spPr>
          <a:xfrm>
            <a:off x="457200" y="3127248"/>
            <a:ext cx="5486400" cy="676656"/>
          </a:xfrm>
          <a:prstGeom prst="roundRect">
            <a:avLst>
              <a:gd name="adj" fmla="val 8108"/>
            </a:avLst>
          </a:prstGeom>
          <a:solidFill>
            <a:srgbClr val="0B6E36"/>
          </a:solidFill>
          <a:ln/>
        </p:spPr>
      </p:sp>
      <p:sp>
        <p:nvSpPr>
          <p:cNvPr id="15" name="Text 13"/>
          <p:cNvSpPr/>
          <p:nvPr/>
        </p:nvSpPr>
        <p:spPr>
          <a:xfrm>
            <a:off x="640080" y="3127248"/>
            <a:ext cx="5212080" cy="676656"/>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DỮ LIỆU   </a:t>
            </a:r>
            <a:pPr indent="0" marL="0">
              <a:buNone/>
            </a:pPr>
            <a:r>
              <a:rPr lang="en-US" sz="1050" dirty="0">
                <a:solidFill>
                  <a:srgbClr val="EAF6EF"/>
                </a:solidFill>
                <a:latin typeface="Arial" pitchFamily="34" charset="0"/>
                <a:ea typeface="Arial" pitchFamily="34" charset="-122"/>
                <a:cs typeface="Arial" pitchFamily="34" charset="-120"/>
              </a:rPr>
              <a:t>Supabase — PostgreSQL + Auth + Realtime</a:t>
            </a:r>
            <a:endParaRPr lang="en-US" sz="1300" dirty="0"/>
          </a:p>
        </p:txBody>
      </p:sp>
      <p:sp>
        <p:nvSpPr>
          <p:cNvPr id="16" name="Shape 14"/>
          <p:cNvSpPr/>
          <p:nvPr/>
        </p:nvSpPr>
        <p:spPr>
          <a:xfrm>
            <a:off x="6217920" y="1554480"/>
            <a:ext cx="2468880" cy="2249424"/>
          </a:xfrm>
          <a:prstGeom prst="roundRect">
            <a:avLst>
              <a:gd name="adj" fmla="val 2846"/>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17" name="Shape 15"/>
          <p:cNvSpPr/>
          <p:nvPr/>
        </p:nvSpPr>
        <p:spPr>
          <a:xfrm>
            <a:off x="6217920" y="1664208"/>
            <a:ext cx="64008" cy="2029968"/>
          </a:xfrm>
          <a:prstGeom prst="rect">
            <a:avLst/>
          </a:prstGeom>
          <a:solidFill>
            <a:srgbClr val="E0A82E"/>
          </a:solidFill>
          <a:ln/>
        </p:spPr>
      </p:sp>
      <p:sp>
        <p:nvSpPr>
          <p:cNvPr id="18" name="Text 16"/>
          <p:cNvSpPr/>
          <p:nvPr/>
        </p:nvSpPr>
        <p:spPr>
          <a:xfrm>
            <a:off x="6419088" y="1700784"/>
            <a:ext cx="2157984" cy="310896"/>
          </a:xfrm>
          <a:prstGeom prst="rect">
            <a:avLst/>
          </a:prstGeom>
          <a:noFill/>
          <a:ln/>
        </p:spPr>
        <p:txBody>
          <a:bodyPr wrap="square" rtlCol="0" anchor="ctr"/>
          <a:lstStyle/>
          <a:p>
            <a:pPr indent="0" marL="0">
              <a:buNone/>
            </a:pPr>
            <a:r>
              <a:rPr lang="en-US" sz="1300" b="1" dirty="0">
                <a:solidFill>
                  <a:srgbClr val="13241B"/>
                </a:solidFill>
                <a:latin typeface="Arial" pitchFamily="34" charset="0"/>
                <a:ea typeface="Arial" pitchFamily="34" charset="-122"/>
                <a:cs typeface="Arial" pitchFamily="34" charset="-120"/>
              </a:rPr>
              <a:t>Đa nhà cung cấp LLM</a:t>
            </a:r>
            <a:endParaRPr lang="en-US" sz="1300" dirty="0"/>
          </a:p>
        </p:txBody>
      </p:sp>
      <p:sp>
        <p:nvSpPr>
          <p:cNvPr id="19" name="Text 17"/>
          <p:cNvSpPr/>
          <p:nvPr/>
        </p:nvSpPr>
        <p:spPr>
          <a:xfrm>
            <a:off x="6419088" y="2066544"/>
            <a:ext cx="2103120" cy="1627632"/>
          </a:xfrm>
          <a:prstGeom prst="rect">
            <a:avLst/>
          </a:prstGeom>
          <a:noFill/>
          <a:ln/>
        </p:spPr>
        <p:txBody>
          <a:bodyPr wrap="square" rtlCol="0" anchor="t"/>
          <a:lstStyle/>
          <a:p>
            <a:pPr marL="152400" indent="-152400">
              <a:lnSpc>
                <a:spcPct val="105000"/>
              </a:lnSpc>
              <a:buSzPct val="100000"/>
              <a:buChar char="•"/>
            </a:pPr>
            <a:r>
              <a:rPr lang="en-US" sz="1000" dirty="0">
                <a:solidFill>
                  <a:srgbClr val="2B3B31"/>
                </a:solidFill>
                <a:latin typeface="Arial" pitchFamily="34" charset="0"/>
                <a:ea typeface="Arial" pitchFamily="34" charset="-122"/>
                <a:cs typeface="Arial" pitchFamily="34" charset="-120"/>
              </a:rPr>
              <a:t>OpenRouter · OpenAI · Gemini · Groq</a:t>
            </a:r>
            <a:endParaRPr lang="en-US" sz="1000" dirty="0"/>
          </a:p>
          <a:p>
            <a:pPr marL="152400" indent="-152400">
              <a:lnSpc>
                <a:spcPct val="105000"/>
              </a:lnSpc>
              <a:buSzPct val="100000"/>
              <a:buChar char="•"/>
            </a:pPr>
            <a:r>
              <a:rPr lang="en-US" sz="1000" dirty="0">
                <a:solidFill>
                  <a:srgbClr val="2B3B31"/>
                </a:solidFill>
                <a:latin typeface="Arial" pitchFamily="34" charset="0"/>
                <a:ea typeface="Arial" pitchFamily="34" charset="-122"/>
                <a:cs typeface="Arial" pitchFamily="34" charset="-120"/>
              </a:rPr>
              <a:t>Một cổng duy nhất có failover</a:t>
            </a:r>
            <a:endParaRPr lang="en-US" sz="1000" dirty="0"/>
          </a:p>
          <a:p>
            <a:pPr marL="152400" indent="-152400">
              <a:lnSpc>
                <a:spcPct val="105000"/>
              </a:lnSpc>
              <a:buSzPct val="100000"/>
              <a:buChar char="•"/>
            </a:pPr>
            <a:r>
              <a:rPr lang="en-US" sz="1000" dirty="0">
                <a:solidFill>
                  <a:srgbClr val="2B3B31"/>
                </a:solidFill>
                <a:latin typeface="Arial" pitchFamily="34" charset="0"/>
                <a:ea typeface="Arial" pitchFamily="34" charset="-122"/>
                <a:cs typeface="Arial" pitchFamily="34" charset="-120"/>
              </a:rPr>
              <a:t>Hết key thật → chạy mock, demo không vỡ</a:t>
            </a:r>
            <a:endParaRPr lang="en-US" sz="1000" dirty="0"/>
          </a:p>
          <a:p>
            <a:pPr marL="152400" indent="-152400">
              <a:lnSpc>
                <a:spcPct val="105000"/>
              </a:lnSpc>
              <a:buSzPct val="100000"/>
              <a:buChar char="•"/>
            </a:pPr>
            <a:r>
              <a:rPr lang="en-US" sz="1000" dirty="0">
                <a:solidFill>
                  <a:srgbClr val="2B3B31"/>
                </a:solidFill>
                <a:latin typeface="Arial" pitchFamily="34" charset="0"/>
                <a:ea typeface="Arial" pitchFamily="34" charset="-122"/>
                <a:cs typeface="Arial" pitchFamily="34" charset="-120"/>
              </a:rPr>
              <a:t>Đổi provider = đổi biến môi trường</a:t>
            </a:r>
            <a:endParaRPr lang="en-US" sz="1000" dirty="0"/>
          </a:p>
        </p:txBody>
      </p:sp>
      <p:sp>
        <p:nvSpPr>
          <p:cNvPr id="20" name="Shape 18"/>
          <p:cNvSpPr/>
          <p:nvPr/>
        </p:nvSpPr>
        <p:spPr>
          <a:xfrm>
            <a:off x="457200" y="3977640"/>
            <a:ext cx="8229600" cy="548640"/>
          </a:xfrm>
          <a:prstGeom prst="roundRect">
            <a:avLst>
              <a:gd name="adj" fmla="val 10000"/>
            </a:avLst>
          </a:prstGeom>
          <a:solidFill>
            <a:srgbClr val="E4F1EA"/>
          </a:solidFill>
          <a:ln w="12700">
            <a:solidFill>
              <a:srgbClr val="12A150"/>
            </a:solidFill>
            <a:prstDash val="solid"/>
          </a:ln>
        </p:spPr>
      </p:sp>
      <p:sp>
        <p:nvSpPr>
          <p:cNvPr id="21" name="Text 19"/>
          <p:cNvSpPr/>
          <p:nvPr/>
        </p:nvSpPr>
        <p:spPr>
          <a:xfrm>
            <a:off x="640080" y="3977640"/>
            <a:ext cx="7863840" cy="548640"/>
          </a:xfrm>
          <a:prstGeom prst="rect">
            <a:avLst/>
          </a:prstGeom>
          <a:noFill/>
          <a:ln/>
        </p:spPr>
        <p:txBody>
          <a:bodyPr wrap="square" rtlCol="0" anchor="ctr"/>
          <a:lstStyle/>
          <a:p>
            <a:pPr indent="0" marL="0">
              <a:buNone/>
            </a:pPr>
            <a:r>
              <a:rPr lang="en-US" sz="1100" dirty="0">
                <a:solidFill>
                  <a:srgbClr val="13241B"/>
                </a:solidFill>
                <a:latin typeface="Arial" pitchFamily="34" charset="0"/>
                <a:ea typeface="Arial" pitchFamily="34" charset="-122"/>
                <a:cs typeface="Arial" pitchFamily="34" charset="-120"/>
              </a:rPr>
              <a:t>Production: 6 service Docker trên Railway · web API và 4 worker dùng chung source, tách tiến trình theo nhịp riêng.</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15/20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GIÁ TRỊ THẬT</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Lợi ích đo được cho đội vận hành</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457200" y="1600200"/>
            <a:ext cx="4023360" cy="1371600"/>
          </a:xfrm>
          <a:prstGeom prst="roundRect">
            <a:avLst>
              <a:gd name="adj" fmla="val 4667"/>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9" name="Shape 7"/>
          <p:cNvSpPr/>
          <p:nvPr/>
        </p:nvSpPr>
        <p:spPr>
          <a:xfrm>
            <a:off x="457200" y="1709928"/>
            <a:ext cx="64008" cy="1152144"/>
          </a:xfrm>
          <a:prstGeom prst="rect">
            <a:avLst/>
          </a:prstGeom>
          <a:solidFill>
            <a:srgbClr val="12A150"/>
          </a:solidFill>
          <a:ln/>
        </p:spPr>
      </p:sp>
      <p:sp>
        <p:nvSpPr>
          <p:cNvPr id="10" name="Text 8"/>
          <p:cNvSpPr/>
          <p:nvPr/>
        </p:nvSpPr>
        <p:spPr>
          <a:xfrm>
            <a:off x="658368" y="1746504"/>
            <a:ext cx="3712464" cy="310896"/>
          </a:xfrm>
          <a:prstGeom prst="rect">
            <a:avLst/>
          </a:prstGeom>
          <a:noFill/>
          <a:ln/>
        </p:spPr>
        <p:txBody>
          <a:bodyPr wrap="square" rtlCol="0" anchor="ctr"/>
          <a:lstStyle/>
          <a:p>
            <a:pPr indent="0" marL="0">
              <a:buNone/>
            </a:pPr>
            <a:r>
              <a:rPr lang="en-US" sz="1500" b="1" dirty="0">
                <a:solidFill>
                  <a:srgbClr val="13241B"/>
                </a:solidFill>
                <a:latin typeface="Arial" pitchFamily="34" charset="0"/>
                <a:ea typeface="Arial" pitchFamily="34" charset="-122"/>
                <a:cs typeface="Arial" pitchFamily="34" charset="-120"/>
              </a:rPr>
              <a:t>Phát hiện &amp; xử lý nhanh hơn</a:t>
            </a:r>
            <a:endParaRPr lang="en-US" sz="1500" dirty="0"/>
          </a:p>
        </p:txBody>
      </p:sp>
      <p:sp>
        <p:nvSpPr>
          <p:cNvPr id="11" name="Text 9"/>
          <p:cNvSpPr/>
          <p:nvPr/>
        </p:nvSpPr>
        <p:spPr>
          <a:xfrm>
            <a:off x="658368" y="2112264"/>
            <a:ext cx="3657600" cy="749808"/>
          </a:xfrm>
          <a:prstGeom prst="rect">
            <a:avLst/>
          </a:prstGeom>
          <a:noFill/>
          <a:ln/>
        </p:spPr>
        <p:txBody>
          <a:bodyPr wrap="square" rtlCol="0" anchor="t"/>
          <a:lstStyle/>
          <a:p>
            <a:pPr indent="0" marL="0">
              <a:buNone/>
            </a:pPr>
            <a:r>
              <a:rPr lang="en-US" sz="1150" dirty="0">
                <a:solidFill>
                  <a:srgbClr val="2B3B31"/>
                </a:solidFill>
                <a:latin typeface="Arial" pitchFamily="34" charset="0"/>
                <a:ea typeface="Arial" pitchFamily="34" charset="-122"/>
                <a:cs typeface="Arial" pitchFamily="34" charset="-120"/>
              </a:rPr>
              <a:t>Từ phản hồi đến đúng người xử lý chỉ trong phút, không phải ngày.</a:t>
            </a:r>
            <a:endParaRPr lang="en-US" sz="1150" dirty="0"/>
          </a:p>
        </p:txBody>
      </p:sp>
      <p:sp>
        <p:nvSpPr>
          <p:cNvPr id="12" name="Shape 10"/>
          <p:cNvSpPr/>
          <p:nvPr/>
        </p:nvSpPr>
        <p:spPr>
          <a:xfrm>
            <a:off x="4663440" y="1600200"/>
            <a:ext cx="4023360" cy="1371600"/>
          </a:xfrm>
          <a:prstGeom prst="roundRect">
            <a:avLst>
              <a:gd name="adj" fmla="val 4667"/>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13" name="Shape 11"/>
          <p:cNvSpPr/>
          <p:nvPr/>
        </p:nvSpPr>
        <p:spPr>
          <a:xfrm>
            <a:off x="4663440" y="1709928"/>
            <a:ext cx="64008" cy="1152144"/>
          </a:xfrm>
          <a:prstGeom prst="rect">
            <a:avLst/>
          </a:prstGeom>
          <a:solidFill>
            <a:srgbClr val="D64545"/>
          </a:solidFill>
          <a:ln/>
        </p:spPr>
      </p:sp>
      <p:sp>
        <p:nvSpPr>
          <p:cNvPr id="14" name="Text 12"/>
          <p:cNvSpPr/>
          <p:nvPr/>
        </p:nvSpPr>
        <p:spPr>
          <a:xfrm>
            <a:off x="4864608" y="1746504"/>
            <a:ext cx="3712464" cy="310896"/>
          </a:xfrm>
          <a:prstGeom prst="rect">
            <a:avLst/>
          </a:prstGeom>
          <a:noFill/>
          <a:ln/>
        </p:spPr>
        <p:txBody>
          <a:bodyPr wrap="square" rtlCol="0" anchor="ctr"/>
          <a:lstStyle/>
          <a:p>
            <a:pPr indent="0" marL="0">
              <a:buNone/>
            </a:pPr>
            <a:r>
              <a:rPr lang="en-US" sz="1500" b="1" dirty="0">
                <a:solidFill>
                  <a:srgbClr val="13241B"/>
                </a:solidFill>
                <a:latin typeface="Arial" pitchFamily="34" charset="0"/>
                <a:ea typeface="Arial" pitchFamily="34" charset="-122"/>
                <a:cs typeface="Arial" pitchFamily="34" charset="-120"/>
              </a:rPr>
              <a:t>Bắt vấn đề trước khi lan</a:t>
            </a:r>
            <a:endParaRPr lang="en-US" sz="1500" dirty="0"/>
          </a:p>
        </p:txBody>
      </p:sp>
      <p:sp>
        <p:nvSpPr>
          <p:cNvPr id="15" name="Text 13"/>
          <p:cNvSpPr/>
          <p:nvPr/>
        </p:nvSpPr>
        <p:spPr>
          <a:xfrm>
            <a:off x="4864608" y="2112264"/>
            <a:ext cx="3657600" cy="749808"/>
          </a:xfrm>
          <a:prstGeom prst="rect">
            <a:avLst/>
          </a:prstGeom>
          <a:noFill/>
          <a:ln/>
        </p:spPr>
        <p:txBody>
          <a:bodyPr wrap="square" rtlCol="0" anchor="t"/>
          <a:lstStyle/>
          <a:p>
            <a:pPr indent="0" marL="0">
              <a:buNone/>
            </a:pPr>
            <a:r>
              <a:rPr lang="en-US" sz="1150" dirty="0">
                <a:solidFill>
                  <a:srgbClr val="2B3B31"/>
                </a:solidFill>
                <a:latin typeface="Arial" pitchFamily="34" charset="0"/>
                <a:ea typeface="Arial" pitchFamily="34" charset="-122"/>
                <a:cs typeface="Arial" pitchFamily="34" charset="-120"/>
              </a:rPr>
              <a:t>Spike detection + lưới Safety chặn sự cố từ sớm.</a:t>
            </a:r>
            <a:endParaRPr lang="en-US" sz="1150" dirty="0"/>
          </a:p>
        </p:txBody>
      </p:sp>
      <p:sp>
        <p:nvSpPr>
          <p:cNvPr id="16" name="Shape 14"/>
          <p:cNvSpPr/>
          <p:nvPr/>
        </p:nvSpPr>
        <p:spPr>
          <a:xfrm>
            <a:off x="457200" y="3108960"/>
            <a:ext cx="4023360" cy="1371600"/>
          </a:xfrm>
          <a:prstGeom prst="roundRect">
            <a:avLst>
              <a:gd name="adj" fmla="val 4667"/>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17" name="Shape 15"/>
          <p:cNvSpPr/>
          <p:nvPr/>
        </p:nvSpPr>
        <p:spPr>
          <a:xfrm>
            <a:off x="457200" y="3218688"/>
            <a:ext cx="64008" cy="1152144"/>
          </a:xfrm>
          <a:prstGeom prst="rect">
            <a:avLst/>
          </a:prstGeom>
          <a:solidFill>
            <a:srgbClr val="0B6E36"/>
          </a:solidFill>
          <a:ln/>
        </p:spPr>
      </p:sp>
      <p:sp>
        <p:nvSpPr>
          <p:cNvPr id="18" name="Text 16"/>
          <p:cNvSpPr/>
          <p:nvPr/>
        </p:nvSpPr>
        <p:spPr>
          <a:xfrm>
            <a:off x="658368" y="3255264"/>
            <a:ext cx="3712464" cy="310896"/>
          </a:xfrm>
          <a:prstGeom prst="rect">
            <a:avLst/>
          </a:prstGeom>
          <a:noFill/>
          <a:ln/>
        </p:spPr>
        <p:txBody>
          <a:bodyPr wrap="square" rtlCol="0" anchor="ctr"/>
          <a:lstStyle/>
          <a:p>
            <a:pPr indent="0" marL="0">
              <a:buNone/>
            </a:pPr>
            <a:r>
              <a:rPr lang="en-US" sz="1500" b="1" dirty="0">
                <a:solidFill>
                  <a:srgbClr val="13241B"/>
                </a:solidFill>
                <a:latin typeface="Arial" pitchFamily="34" charset="0"/>
                <a:ea typeface="Arial" pitchFamily="34" charset="-122"/>
                <a:cs typeface="Arial" pitchFamily="34" charset="-120"/>
              </a:rPr>
              <a:t>Quyết định dựa trên dữ liệu</a:t>
            </a:r>
            <a:endParaRPr lang="en-US" sz="1500" dirty="0"/>
          </a:p>
        </p:txBody>
      </p:sp>
      <p:sp>
        <p:nvSpPr>
          <p:cNvPr id="19" name="Text 17"/>
          <p:cNvSpPr/>
          <p:nvPr/>
        </p:nvSpPr>
        <p:spPr>
          <a:xfrm>
            <a:off x="658368" y="3621024"/>
            <a:ext cx="3657600" cy="749808"/>
          </a:xfrm>
          <a:prstGeom prst="rect">
            <a:avLst/>
          </a:prstGeom>
          <a:noFill/>
          <a:ln/>
        </p:spPr>
        <p:txBody>
          <a:bodyPr wrap="square" rtlCol="0" anchor="t"/>
          <a:lstStyle/>
          <a:p>
            <a:pPr indent="0" marL="0">
              <a:buNone/>
            </a:pPr>
            <a:r>
              <a:rPr lang="en-US" sz="1150" dirty="0">
                <a:solidFill>
                  <a:srgbClr val="2B3B31"/>
                </a:solidFill>
                <a:latin typeface="Arial" pitchFamily="34" charset="0"/>
                <a:ea typeface="Arial" pitchFamily="34" charset="-122"/>
                <a:cs typeface="Arial" pitchFamily="34" charset="-120"/>
              </a:rPr>
              <a:t>Báo cáo theo phòng thay cho cảm tính và phỏng đoán.</a:t>
            </a:r>
            <a:endParaRPr lang="en-US" sz="1150" dirty="0"/>
          </a:p>
        </p:txBody>
      </p:sp>
      <p:sp>
        <p:nvSpPr>
          <p:cNvPr id="20" name="Shape 18"/>
          <p:cNvSpPr/>
          <p:nvPr/>
        </p:nvSpPr>
        <p:spPr>
          <a:xfrm>
            <a:off x="4663440" y="3108960"/>
            <a:ext cx="4023360" cy="1371600"/>
          </a:xfrm>
          <a:prstGeom prst="roundRect">
            <a:avLst>
              <a:gd name="adj" fmla="val 4667"/>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21" name="Shape 19"/>
          <p:cNvSpPr/>
          <p:nvPr/>
        </p:nvSpPr>
        <p:spPr>
          <a:xfrm>
            <a:off x="4663440" y="3218688"/>
            <a:ext cx="64008" cy="1152144"/>
          </a:xfrm>
          <a:prstGeom prst="rect">
            <a:avLst/>
          </a:prstGeom>
          <a:solidFill>
            <a:srgbClr val="E0A82E"/>
          </a:solidFill>
          <a:ln/>
        </p:spPr>
      </p:sp>
      <p:sp>
        <p:nvSpPr>
          <p:cNvPr id="22" name="Text 20"/>
          <p:cNvSpPr/>
          <p:nvPr/>
        </p:nvSpPr>
        <p:spPr>
          <a:xfrm>
            <a:off x="4864608" y="3255264"/>
            <a:ext cx="3712464" cy="310896"/>
          </a:xfrm>
          <a:prstGeom prst="rect">
            <a:avLst/>
          </a:prstGeom>
          <a:noFill/>
          <a:ln/>
        </p:spPr>
        <p:txBody>
          <a:bodyPr wrap="square" rtlCol="0" anchor="ctr"/>
          <a:lstStyle/>
          <a:p>
            <a:pPr indent="0" marL="0">
              <a:buNone/>
            </a:pPr>
            <a:r>
              <a:rPr lang="en-US" sz="1500" b="1" dirty="0">
                <a:solidFill>
                  <a:srgbClr val="13241B"/>
                </a:solidFill>
                <a:latin typeface="Arial" pitchFamily="34" charset="0"/>
                <a:ea typeface="Arial" pitchFamily="34" charset="-122"/>
                <a:cs typeface="Arial" pitchFamily="34" charset="-120"/>
              </a:rPr>
              <a:t>Chi phí AI tối ưu</a:t>
            </a:r>
            <a:endParaRPr lang="en-US" sz="1500" dirty="0"/>
          </a:p>
        </p:txBody>
      </p:sp>
      <p:sp>
        <p:nvSpPr>
          <p:cNvPr id="23" name="Text 21"/>
          <p:cNvSpPr/>
          <p:nvPr/>
        </p:nvSpPr>
        <p:spPr>
          <a:xfrm>
            <a:off x="4864608" y="3621024"/>
            <a:ext cx="3657600" cy="749808"/>
          </a:xfrm>
          <a:prstGeom prst="rect">
            <a:avLst/>
          </a:prstGeom>
          <a:noFill/>
          <a:ln/>
        </p:spPr>
        <p:txBody>
          <a:bodyPr wrap="square" rtlCol="0" anchor="t"/>
          <a:lstStyle/>
          <a:p>
            <a:pPr indent="0" marL="0">
              <a:buNone/>
            </a:pPr>
            <a:r>
              <a:rPr lang="en-US" sz="1150" dirty="0">
                <a:solidFill>
                  <a:srgbClr val="2B3B31"/>
                </a:solidFill>
                <a:latin typeface="Arial" pitchFamily="34" charset="0"/>
                <a:ea typeface="Arial" pitchFamily="34" charset="-122"/>
                <a:cs typeface="Arial" pitchFamily="34" charset="-120"/>
              </a:rPr>
              <a:t>Chỉ gọi LLM ở chỗ cần suy luận; ML rẻ lo phần còn lại.</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16/20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KHÁC BIỆT</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Vì sao không chỉ "ném tất cả vào một LLM lớn"</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457200" y="1600200"/>
            <a:ext cx="4023360" cy="2880360"/>
          </a:xfrm>
          <a:prstGeom prst="roundRect">
            <a:avLst>
              <a:gd name="adj" fmla="val 2222"/>
            </a:avLst>
          </a:prstGeom>
          <a:solidFill>
            <a:srgbClr val="FFFFFF"/>
          </a:solidFill>
          <a:ln w="12700">
            <a:solidFill>
              <a:srgbClr val="D2E9DC"/>
            </a:solidFill>
            <a:prstDash val="solid"/>
          </a:ln>
        </p:spPr>
      </p:sp>
      <p:sp>
        <p:nvSpPr>
          <p:cNvPr id="9" name="Shape 7"/>
          <p:cNvSpPr/>
          <p:nvPr/>
        </p:nvSpPr>
        <p:spPr>
          <a:xfrm>
            <a:off x="457200" y="1709928"/>
            <a:ext cx="64008" cy="2660904"/>
          </a:xfrm>
          <a:prstGeom prst="rect">
            <a:avLst/>
          </a:prstGeom>
          <a:solidFill>
            <a:srgbClr val="6B7C72"/>
          </a:solidFill>
          <a:ln/>
        </p:spPr>
      </p:sp>
      <p:sp>
        <p:nvSpPr>
          <p:cNvPr id="10" name="Text 8"/>
          <p:cNvSpPr/>
          <p:nvPr/>
        </p:nvSpPr>
        <p:spPr>
          <a:xfrm>
            <a:off x="658368" y="1746504"/>
            <a:ext cx="3712464" cy="310896"/>
          </a:xfrm>
          <a:prstGeom prst="rect">
            <a:avLst/>
          </a:prstGeom>
          <a:noFill/>
          <a:ln/>
        </p:spPr>
        <p:txBody>
          <a:bodyPr wrap="square" rtlCol="0" anchor="ctr"/>
          <a:lstStyle/>
          <a:p>
            <a:pPr indent="0" marL="0">
              <a:buNone/>
            </a:pPr>
            <a:r>
              <a:rPr lang="en-US" sz="1500" b="1" dirty="0">
                <a:solidFill>
                  <a:srgbClr val="6B7C72"/>
                </a:solidFill>
                <a:latin typeface="Arial" pitchFamily="34" charset="0"/>
                <a:ea typeface="Arial" pitchFamily="34" charset="-122"/>
                <a:cs typeface="Arial" pitchFamily="34" charset="-120"/>
              </a:rPr>
              <a:t>Cách ngây thơ</a:t>
            </a:r>
            <a:endParaRPr lang="en-US" sz="1500" dirty="0"/>
          </a:p>
        </p:txBody>
      </p:sp>
      <p:sp>
        <p:nvSpPr>
          <p:cNvPr id="11" name="Text 9"/>
          <p:cNvSpPr/>
          <p:nvPr/>
        </p:nvSpPr>
        <p:spPr>
          <a:xfrm>
            <a:off x="658368" y="2112264"/>
            <a:ext cx="3657600" cy="2258568"/>
          </a:xfrm>
          <a:prstGeom prst="rect">
            <a:avLst/>
          </a:prstGeom>
          <a:noFill/>
          <a:ln/>
        </p:spPr>
        <p:txBody>
          <a:bodyPr wrap="square" rtlCol="0" anchor="t"/>
          <a:lstStyle/>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Gọi LLM cho mọi review → đắt khi scale</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Phụ thuộc một nhà cung cấp duy nhất</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Xác suất quyết định cả ca an toàn</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Đổi hành vi phải sửa code và prompt</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Lỗi nhà cung cấp = cả hệ ngừng</a:t>
            </a:r>
            <a:endParaRPr lang="en-US" sz="1150" dirty="0"/>
          </a:p>
        </p:txBody>
      </p:sp>
      <p:sp>
        <p:nvSpPr>
          <p:cNvPr id="12" name="Shape 10"/>
          <p:cNvSpPr/>
          <p:nvPr/>
        </p:nvSpPr>
        <p:spPr>
          <a:xfrm>
            <a:off x="4663440" y="1600200"/>
            <a:ext cx="4023360" cy="2880360"/>
          </a:xfrm>
          <a:prstGeom prst="roundRect">
            <a:avLst>
              <a:gd name="adj" fmla="val 2222"/>
            </a:avLst>
          </a:prstGeom>
          <a:solidFill>
            <a:srgbClr val="FFFFFF"/>
          </a:solidFill>
          <a:ln w="12700">
            <a:solidFill>
              <a:srgbClr val="D2E9DC"/>
            </a:solidFill>
            <a:prstDash val="solid"/>
          </a:ln>
          <a:effectLst>
            <a:outerShdw sx="100000" sy="100000" kx="0" ky="0" algn="bl" rotWithShape="0" blurRad="76200" dist="25400" dir="5400000">
              <a:srgbClr val="B7C9BE">
                <a:alpha val="50000"/>
              </a:srgbClr>
            </a:outerShdw>
          </a:effectLst>
        </p:spPr>
      </p:sp>
      <p:sp>
        <p:nvSpPr>
          <p:cNvPr id="13" name="Shape 11"/>
          <p:cNvSpPr/>
          <p:nvPr/>
        </p:nvSpPr>
        <p:spPr>
          <a:xfrm>
            <a:off x="4663440" y="1709928"/>
            <a:ext cx="64008" cy="2660904"/>
          </a:xfrm>
          <a:prstGeom prst="rect">
            <a:avLst/>
          </a:prstGeom>
          <a:solidFill>
            <a:srgbClr val="0B6E36"/>
          </a:solidFill>
          <a:ln/>
        </p:spPr>
      </p:sp>
      <p:sp>
        <p:nvSpPr>
          <p:cNvPr id="14" name="Text 12"/>
          <p:cNvSpPr/>
          <p:nvPr/>
        </p:nvSpPr>
        <p:spPr>
          <a:xfrm>
            <a:off x="4864608" y="1746504"/>
            <a:ext cx="3712464" cy="310896"/>
          </a:xfrm>
          <a:prstGeom prst="rect">
            <a:avLst/>
          </a:prstGeom>
          <a:noFill/>
          <a:ln/>
        </p:spPr>
        <p:txBody>
          <a:bodyPr wrap="square" rtlCol="0" anchor="ctr"/>
          <a:lstStyle/>
          <a:p>
            <a:pPr indent="0" marL="0">
              <a:buNone/>
            </a:pPr>
            <a:r>
              <a:rPr lang="en-US" sz="1500" b="1" dirty="0">
                <a:solidFill>
                  <a:srgbClr val="0B6E36"/>
                </a:solidFill>
                <a:latin typeface="Arial" pitchFamily="34" charset="0"/>
                <a:ea typeface="Arial" pitchFamily="34" charset="-122"/>
                <a:cs typeface="Arial" pitchFamily="34" charset="-120"/>
              </a:rPr>
              <a:t>Cách của chúng tôi</a:t>
            </a:r>
            <a:endParaRPr lang="en-US" sz="1500" dirty="0"/>
          </a:p>
        </p:txBody>
      </p:sp>
      <p:sp>
        <p:nvSpPr>
          <p:cNvPr id="15" name="Text 13"/>
          <p:cNvSpPr/>
          <p:nvPr/>
        </p:nvSpPr>
        <p:spPr>
          <a:xfrm>
            <a:off x="4864608" y="2112264"/>
            <a:ext cx="3657600" cy="2258568"/>
          </a:xfrm>
          <a:prstGeom prst="rect">
            <a:avLst/>
          </a:prstGeom>
          <a:noFill/>
          <a:ln/>
        </p:spPr>
        <p:txBody>
          <a:bodyPr wrap="square" rtlCol="0" anchor="t"/>
          <a:lstStyle/>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Hybrid: ML rẻ lo phần lớn, LLM cho chỗ cần</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Đa provider + mock, không khóa nhà cung cấp</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Safety-first: rule luôn ghi đè ở ca nguy hiểm</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Config-driven: đổi nghiệp vụ không sửa code</a:t>
            </a:r>
            <a:endParaRPr lang="en-US" sz="1150" dirty="0"/>
          </a:p>
          <a:p>
            <a:pPr marL="152400" indent="-152400">
              <a:lnSpc>
                <a:spcPct val="105000"/>
              </a:lnSpc>
              <a:buSzPct val="100000"/>
              <a:buChar char="•"/>
            </a:pPr>
            <a:r>
              <a:rPr lang="en-US" sz="1150" dirty="0">
                <a:solidFill>
                  <a:srgbClr val="2B3B31"/>
                </a:solidFill>
                <a:latin typeface="Arial" pitchFamily="34" charset="0"/>
                <a:ea typeface="Arial" pitchFamily="34" charset="-122"/>
                <a:cs typeface="Arial" pitchFamily="34" charset="-120"/>
              </a:rPr>
              <a:t>Graceful degradation: hỏng một mảnh không sập</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17/20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DEMO</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Kịch bản trình diễn 5–7 phút</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548640" y="1554480"/>
            <a:ext cx="329184" cy="329184"/>
          </a:xfrm>
          <a:prstGeom prst="ellipse">
            <a:avLst/>
          </a:prstGeom>
          <a:solidFill>
            <a:srgbClr val="0B6E36"/>
          </a:solidFill>
          <a:ln/>
        </p:spPr>
      </p:sp>
      <p:sp>
        <p:nvSpPr>
          <p:cNvPr id="9" name="Text 7"/>
          <p:cNvSpPr/>
          <p:nvPr/>
        </p:nvSpPr>
        <p:spPr>
          <a:xfrm>
            <a:off x="548640" y="1554480"/>
            <a:ext cx="329184" cy="329184"/>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Text 8"/>
          <p:cNvSpPr/>
          <p:nvPr/>
        </p:nvSpPr>
        <p:spPr>
          <a:xfrm>
            <a:off x="1005840" y="1554480"/>
            <a:ext cx="7589520" cy="365760"/>
          </a:xfrm>
          <a:prstGeom prst="rect">
            <a:avLst/>
          </a:prstGeom>
          <a:noFill/>
          <a:ln/>
        </p:spPr>
        <p:txBody>
          <a:bodyPr wrap="square" rtlCol="0" anchor="ctr"/>
          <a:lstStyle/>
          <a:p>
            <a:pPr indent="0" marL="0">
              <a:buNone/>
            </a:pPr>
            <a:r>
              <a:rPr lang="en-US" sz="1200" dirty="0">
                <a:solidFill>
                  <a:srgbClr val="13241B"/>
                </a:solidFill>
                <a:latin typeface="Arial" pitchFamily="34" charset="0"/>
                <a:ea typeface="Arial" pitchFamily="34" charset="-122"/>
                <a:cs typeface="Arial" pitchFamily="34" charset="-120"/>
              </a:rPr>
              <a:t>Gửi một phản hồi mới → AI tự gán chủ đề, cảm xúc, mức độ</a:t>
            </a:r>
            <a:endParaRPr lang="en-US" sz="1200" dirty="0"/>
          </a:p>
        </p:txBody>
      </p:sp>
      <p:sp>
        <p:nvSpPr>
          <p:cNvPr id="11" name="Shape 9"/>
          <p:cNvSpPr/>
          <p:nvPr/>
        </p:nvSpPr>
        <p:spPr>
          <a:xfrm>
            <a:off x="548640" y="2011680"/>
            <a:ext cx="329184" cy="329184"/>
          </a:xfrm>
          <a:prstGeom prst="ellipse">
            <a:avLst/>
          </a:prstGeom>
          <a:solidFill>
            <a:srgbClr val="0B6E36"/>
          </a:solidFill>
          <a:ln/>
        </p:spPr>
      </p:sp>
      <p:sp>
        <p:nvSpPr>
          <p:cNvPr id="12" name="Text 10"/>
          <p:cNvSpPr/>
          <p:nvPr/>
        </p:nvSpPr>
        <p:spPr>
          <a:xfrm>
            <a:off x="548640" y="2011680"/>
            <a:ext cx="329184" cy="329184"/>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p:nvPr/>
        </p:nvSpPr>
        <p:spPr>
          <a:xfrm>
            <a:off x="1005840" y="2011680"/>
            <a:ext cx="7589520" cy="365760"/>
          </a:xfrm>
          <a:prstGeom prst="rect">
            <a:avLst/>
          </a:prstGeom>
          <a:noFill/>
          <a:ln/>
        </p:spPr>
        <p:txBody>
          <a:bodyPr wrap="square" rtlCol="0" anchor="ctr"/>
          <a:lstStyle/>
          <a:p>
            <a:pPr indent="0" marL="0">
              <a:buNone/>
            </a:pPr>
            <a:r>
              <a:rPr lang="en-US" sz="1200" dirty="0">
                <a:solidFill>
                  <a:srgbClr val="13241B"/>
                </a:solidFill>
                <a:latin typeface="Arial" pitchFamily="34" charset="0"/>
                <a:ea typeface="Arial" pitchFamily="34" charset="-122"/>
                <a:cs typeface="Arial" pitchFamily="34" charset="-120"/>
              </a:rPr>
              <a:t>Mở hàng đợi "Cần duyệt", sửa một nhãn sai → ghi correction log</a:t>
            </a:r>
            <a:endParaRPr lang="en-US" sz="1200" dirty="0"/>
          </a:p>
        </p:txBody>
      </p:sp>
      <p:sp>
        <p:nvSpPr>
          <p:cNvPr id="14" name="Shape 12"/>
          <p:cNvSpPr/>
          <p:nvPr/>
        </p:nvSpPr>
        <p:spPr>
          <a:xfrm>
            <a:off x="548640" y="2468880"/>
            <a:ext cx="329184" cy="329184"/>
          </a:xfrm>
          <a:prstGeom prst="ellipse">
            <a:avLst/>
          </a:prstGeom>
          <a:solidFill>
            <a:srgbClr val="0B6E36"/>
          </a:solidFill>
          <a:ln/>
        </p:spPr>
      </p:sp>
      <p:sp>
        <p:nvSpPr>
          <p:cNvPr id="15" name="Text 13"/>
          <p:cNvSpPr/>
          <p:nvPr/>
        </p:nvSpPr>
        <p:spPr>
          <a:xfrm>
            <a:off x="548640" y="2468880"/>
            <a:ext cx="329184" cy="329184"/>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6" name="Text 14"/>
          <p:cNvSpPr/>
          <p:nvPr/>
        </p:nvSpPr>
        <p:spPr>
          <a:xfrm>
            <a:off x="1005840" y="2468880"/>
            <a:ext cx="7589520" cy="365760"/>
          </a:xfrm>
          <a:prstGeom prst="rect">
            <a:avLst/>
          </a:prstGeom>
          <a:noFill/>
          <a:ln/>
        </p:spPr>
        <p:txBody>
          <a:bodyPr wrap="square" rtlCol="0" anchor="ctr"/>
          <a:lstStyle/>
          <a:p>
            <a:pPr indent="0" marL="0">
              <a:buNone/>
            </a:pPr>
            <a:r>
              <a:rPr lang="en-US" sz="1200" dirty="0">
                <a:solidFill>
                  <a:srgbClr val="13241B"/>
                </a:solidFill>
                <a:latin typeface="Arial" pitchFamily="34" charset="0"/>
                <a:ea typeface="Arial" pitchFamily="34" charset="-122"/>
                <a:cs typeface="Arial" pitchFamily="34" charset="-120"/>
              </a:rPr>
              <a:t>Bật streaming bơm dataset → dashboard cập nhật realtime</a:t>
            </a:r>
            <a:endParaRPr lang="en-US" sz="1200" dirty="0"/>
          </a:p>
        </p:txBody>
      </p:sp>
      <p:sp>
        <p:nvSpPr>
          <p:cNvPr id="17" name="Shape 15"/>
          <p:cNvSpPr/>
          <p:nvPr/>
        </p:nvSpPr>
        <p:spPr>
          <a:xfrm>
            <a:off x="548640" y="2926080"/>
            <a:ext cx="329184" cy="329184"/>
          </a:xfrm>
          <a:prstGeom prst="ellipse">
            <a:avLst/>
          </a:prstGeom>
          <a:solidFill>
            <a:srgbClr val="0B6E36"/>
          </a:solidFill>
          <a:ln/>
        </p:spPr>
      </p:sp>
      <p:sp>
        <p:nvSpPr>
          <p:cNvPr id="18" name="Text 16"/>
          <p:cNvSpPr/>
          <p:nvPr/>
        </p:nvSpPr>
        <p:spPr>
          <a:xfrm>
            <a:off x="548640" y="2926080"/>
            <a:ext cx="329184" cy="329184"/>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9" name="Text 17"/>
          <p:cNvSpPr/>
          <p:nvPr/>
        </p:nvSpPr>
        <p:spPr>
          <a:xfrm>
            <a:off x="1005840" y="2926080"/>
            <a:ext cx="7589520" cy="365760"/>
          </a:xfrm>
          <a:prstGeom prst="rect">
            <a:avLst/>
          </a:prstGeom>
          <a:noFill/>
          <a:ln/>
        </p:spPr>
        <p:txBody>
          <a:bodyPr wrap="square" rtlCol="0" anchor="ctr"/>
          <a:lstStyle/>
          <a:p>
            <a:pPr indent="0" marL="0">
              <a:buNone/>
            </a:pPr>
            <a:r>
              <a:rPr lang="en-US" sz="1200" dirty="0">
                <a:solidFill>
                  <a:srgbClr val="13241B"/>
                </a:solidFill>
                <a:latin typeface="Arial" pitchFamily="34" charset="0"/>
                <a:ea typeface="Arial" pitchFamily="34" charset="-122"/>
                <a:cs typeface="Arial" pitchFamily="34" charset="-120"/>
              </a:rPr>
              <a:t>Vào Ticket Triage xem cảnh báo AI sinh ra</a:t>
            </a:r>
            <a:endParaRPr lang="en-US" sz="1200" dirty="0"/>
          </a:p>
        </p:txBody>
      </p:sp>
      <p:sp>
        <p:nvSpPr>
          <p:cNvPr id="20" name="Shape 18"/>
          <p:cNvSpPr/>
          <p:nvPr/>
        </p:nvSpPr>
        <p:spPr>
          <a:xfrm>
            <a:off x="548640" y="3383280"/>
            <a:ext cx="329184" cy="329184"/>
          </a:xfrm>
          <a:prstGeom prst="ellipse">
            <a:avLst/>
          </a:prstGeom>
          <a:solidFill>
            <a:srgbClr val="0B6E36"/>
          </a:solidFill>
          <a:ln/>
        </p:spPr>
      </p:sp>
      <p:sp>
        <p:nvSpPr>
          <p:cNvPr id="21" name="Text 19"/>
          <p:cNvSpPr/>
          <p:nvPr/>
        </p:nvSpPr>
        <p:spPr>
          <a:xfrm>
            <a:off x="548640" y="3383280"/>
            <a:ext cx="329184" cy="329184"/>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2" name="Text 20"/>
          <p:cNvSpPr/>
          <p:nvPr/>
        </p:nvSpPr>
        <p:spPr>
          <a:xfrm>
            <a:off x="1005840" y="3383280"/>
            <a:ext cx="7589520" cy="365760"/>
          </a:xfrm>
          <a:prstGeom prst="rect">
            <a:avLst/>
          </a:prstGeom>
          <a:noFill/>
          <a:ln/>
        </p:spPr>
        <p:txBody>
          <a:bodyPr wrap="square" rtlCol="0" anchor="ctr"/>
          <a:lstStyle/>
          <a:p>
            <a:pPr indent="0" marL="0">
              <a:buNone/>
            </a:pPr>
            <a:r>
              <a:rPr lang="en-US" sz="1200" dirty="0">
                <a:solidFill>
                  <a:srgbClr val="13241B"/>
                </a:solidFill>
                <a:latin typeface="Arial" pitchFamily="34" charset="0"/>
                <a:ea typeface="Arial" pitchFamily="34" charset="-122"/>
                <a:cs typeface="Arial" pitchFamily="34" charset="-120"/>
              </a:rPr>
              <a:t>Phân tích phòng ban → bấm "Phân tích sâu bằng AI"</a:t>
            </a:r>
            <a:endParaRPr lang="en-US" sz="1200" dirty="0"/>
          </a:p>
        </p:txBody>
      </p:sp>
      <p:sp>
        <p:nvSpPr>
          <p:cNvPr id="23" name="Shape 21"/>
          <p:cNvSpPr/>
          <p:nvPr/>
        </p:nvSpPr>
        <p:spPr>
          <a:xfrm>
            <a:off x="548640" y="3840480"/>
            <a:ext cx="329184" cy="329184"/>
          </a:xfrm>
          <a:prstGeom prst="ellipse">
            <a:avLst/>
          </a:prstGeom>
          <a:solidFill>
            <a:srgbClr val="0B6E36"/>
          </a:solidFill>
          <a:ln/>
        </p:spPr>
      </p:sp>
      <p:sp>
        <p:nvSpPr>
          <p:cNvPr id="24" name="Text 22"/>
          <p:cNvSpPr/>
          <p:nvPr/>
        </p:nvSpPr>
        <p:spPr>
          <a:xfrm>
            <a:off x="548640" y="3840480"/>
            <a:ext cx="329184" cy="329184"/>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25" name="Text 23"/>
          <p:cNvSpPr/>
          <p:nvPr/>
        </p:nvSpPr>
        <p:spPr>
          <a:xfrm>
            <a:off x="1005840" y="3840480"/>
            <a:ext cx="7589520" cy="365760"/>
          </a:xfrm>
          <a:prstGeom prst="rect">
            <a:avLst/>
          </a:prstGeom>
          <a:noFill/>
          <a:ln/>
        </p:spPr>
        <p:txBody>
          <a:bodyPr wrap="square" rtlCol="0" anchor="ctr"/>
          <a:lstStyle/>
          <a:p>
            <a:pPr indent="0" marL="0">
              <a:buNone/>
            </a:pPr>
            <a:r>
              <a:rPr lang="en-US" sz="1200" dirty="0">
                <a:solidFill>
                  <a:srgbClr val="13241B"/>
                </a:solidFill>
                <a:latin typeface="Arial" pitchFamily="34" charset="0"/>
                <a:ea typeface="Arial" pitchFamily="34" charset="-122"/>
                <a:cs typeface="Arial" pitchFamily="34" charset="-120"/>
              </a:rPr>
              <a:t>Báo cáo AI → sửa Draft Task → "Duyệt &amp; triển khai" → task xuất hiện</a:t>
            </a:r>
            <a:endParaRPr lang="en-US" sz="1200" dirty="0"/>
          </a:p>
        </p:txBody>
      </p:sp>
      <p:sp>
        <p:nvSpPr>
          <p:cNvPr id="26" name="Shape 24"/>
          <p:cNvSpPr/>
          <p:nvPr/>
        </p:nvSpPr>
        <p:spPr>
          <a:xfrm>
            <a:off x="548640" y="4297680"/>
            <a:ext cx="329184" cy="329184"/>
          </a:xfrm>
          <a:prstGeom prst="ellipse">
            <a:avLst/>
          </a:prstGeom>
          <a:solidFill>
            <a:srgbClr val="0B6E36"/>
          </a:solidFill>
          <a:ln/>
        </p:spPr>
      </p:sp>
      <p:sp>
        <p:nvSpPr>
          <p:cNvPr id="27" name="Text 25"/>
          <p:cNvSpPr/>
          <p:nvPr/>
        </p:nvSpPr>
        <p:spPr>
          <a:xfrm>
            <a:off x="548640" y="4297680"/>
            <a:ext cx="329184" cy="329184"/>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28" name="Text 26"/>
          <p:cNvSpPr/>
          <p:nvPr/>
        </p:nvSpPr>
        <p:spPr>
          <a:xfrm>
            <a:off x="1005840" y="4297680"/>
            <a:ext cx="7589520" cy="365760"/>
          </a:xfrm>
          <a:prstGeom prst="rect">
            <a:avLst/>
          </a:prstGeom>
          <a:noFill/>
          <a:ln/>
        </p:spPr>
        <p:txBody>
          <a:bodyPr wrap="square" rtlCol="0" anchor="ctr"/>
          <a:lstStyle/>
          <a:p>
            <a:pPr indent="0" marL="0">
              <a:buNone/>
            </a:pPr>
            <a:r>
              <a:rPr lang="en-US" sz="1200" dirty="0">
                <a:solidFill>
                  <a:srgbClr val="13241B"/>
                </a:solidFill>
                <a:latin typeface="Arial" pitchFamily="34" charset="0"/>
                <a:ea typeface="Arial" pitchFamily="34" charset="-122"/>
                <a:cs typeface="Arial" pitchFamily="34" charset="-120"/>
              </a:rPr>
              <a:t>AI Chat: hỏi "khu vực nào đang nóng?"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18/20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LỘ TRÌNH</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Từ bản demo chạy thật đến production đầy đủ</a:t>
            </a:r>
            <a:endParaRPr lang="en-US" sz="2500" dirty="0"/>
          </a:p>
        </p:txBody>
      </p:sp>
      <p:sp>
        <p:nvSpPr>
          <p:cNvPr id="7" name="Shape 5"/>
          <p:cNvSpPr/>
          <p:nvPr/>
        </p:nvSpPr>
        <p:spPr>
          <a:xfrm>
            <a:off x="457200" y="1225296"/>
            <a:ext cx="960120" cy="50292"/>
          </a:xfrm>
          <a:prstGeom prst="rect">
            <a:avLst/>
          </a:prstGeom>
          <a:solidFill>
            <a:srgbClr val="E0A82E"/>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8229600" cy="2377440"/>
        </p:xfrm>
        <a:graphic>
          <a:graphicData uri="http://schemas.openxmlformats.org/drawingml/2006/table">
            <a:tbl>
              <a:tblPr/>
              <a:tblGrid>
                <a:gridCol w="1645920"/>
                <a:gridCol w="3291840"/>
                <a:gridCol w="3291840"/>
              </a:tblGrid>
              <a:tr h="457200">
                <a:tc>
                  <a:txBody>
                    <a:bodyPr/>
                    <a:lstStyle/>
                    <a:p>
                      <a:pPr indent="0" marL="0">
                        <a:buNone/>
                      </a:pPr>
                      <a:r>
                        <a:rPr lang="en-US" sz="1100" b="1" dirty="0">
                          <a:solidFill>
                            <a:srgbClr val="FFFFFF"/>
                          </a:solidFill>
                          <a:latin typeface="Arial" pitchFamily="34" charset="0"/>
                          <a:ea typeface="Arial" pitchFamily="34" charset="-122"/>
                          <a:cs typeface="Arial" pitchFamily="34" charset="-120"/>
                        </a:rPr>
                        <a:t>Khía cạnh</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0B6E3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Bản đang chạy (demo)</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0B6E3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Production đầy đủ</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0B6E36"/>
                    </a:solidFill>
                  </a:tcPr>
                </a:tc>
              </a:tr>
              <a:tr h="457200">
                <a:tc>
                  <a:txBody>
                    <a:bodyPr/>
                    <a:lstStyle/>
                    <a:p>
                      <a:pPr indent="0" marL="0">
                        <a:buNone/>
                      </a:pPr>
                      <a:r>
                        <a:rPr lang="en-US" sz="1100" dirty="0">
                          <a:solidFill>
                            <a:srgbClr val="13241B"/>
                          </a:solidFill>
                          <a:latin typeface="Arial" pitchFamily="34" charset="0"/>
                          <a:ea typeface="Arial" pitchFamily="34" charset="-122"/>
                          <a:cs typeface="Arial" pitchFamily="34" charset="-120"/>
                        </a:rPr>
                        <a:t>Nguồn review</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100" dirty="0">
                          <a:solidFill>
                            <a:srgbClr val="13241B"/>
                          </a:solidFill>
                          <a:latin typeface="Arial" pitchFamily="34" charset="0"/>
                          <a:ea typeface="Arial" pitchFamily="34" charset="-122"/>
                          <a:cs typeface="Arial" pitchFamily="34" charset="-120"/>
                        </a:rPr>
                        <a:t>Dataset đóng gói + nhập tay</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100" dirty="0">
                          <a:solidFill>
                            <a:srgbClr val="13241B"/>
                          </a:solidFill>
                          <a:latin typeface="Arial" pitchFamily="34" charset="0"/>
                          <a:ea typeface="Arial" pitchFamily="34" charset="-122"/>
                          <a:cs typeface="Arial" pitchFamily="34" charset="-120"/>
                        </a:rPr>
                        <a:t>Hút realtime từ app &amp; store</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3241B"/>
                          </a:solidFill>
                          <a:latin typeface="Arial" pitchFamily="34" charset="0"/>
                          <a:ea typeface="Arial" pitchFamily="34" charset="-122"/>
                          <a:cs typeface="Arial" pitchFamily="34" charset="-120"/>
                        </a:rPr>
                        <a:t>Dữ liệu</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100" dirty="0">
                          <a:solidFill>
                            <a:srgbClr val="13241B"/>
                          </a:solidFill>
                          <a:latin typeface="Arial" pitchFamily="34" charset="0"/>
                          <a:ea typeface="Arial" pitchFamily="34" charset="-122"/>
                          <a:cs typeface="Arial" pitchFamily="34" charset="-120"/>
                        </a:rPr>
                        <a:t>Review công khai + metadata synthetic</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100" dirty="0">
                          <a:solidFill>
                            <a:srgbClr val="13241B"/>
                          </a:solidFill>
                          <a:latin typeface="Arial" pitchFamily="34" charset="0"/>
                          <a:ea typeface="Arial" pitchFamily="34" charset="-122"/>
                          <a:cs typeface="Arial" pitchFamily="34" charset="-120"/>
                        </a:rPr>
                        <a:t>Dữ liệu vận hành thật của hãng</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3241B"/>
                          </a:solidFill>
                          <a:latin typeface="Arial" pitchFamily="34" charset="0"/>
                          <a:ea typeface="Arial" pitchFamily="34" charset="-122"/>
                          <a:cs typeface="Arial" pitchFamily="34" charset="-120"/>
                        </a:rPr>
                        <a:t>Thông báo</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100" dirty="0">
                          <a:solidFill>
                            <a:srgbClr val="13241B"/>
                          </a:solidFill>
                          <a:latin typeface="Arial" pitchFamily="34" charset="0"/>
                          <a:ea typeface="Arial" pitchFamily="34" charset="-122"/>
                          <a:cs typeface="Arial" pitchFamily="34" charset="-120"/>
                        </a:rPr>
                        <a:t>Realtime trên dashboard</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100" dirty="0">
                          <a:solidFill>
                            <a:srgbClr val="13241B"/>
                          </a:solidFill>
                          <a:latin typeface="Arial" pitchFamily="34" charset="0"/>
                          <a:ea typeface="Arial" pitchFamily="34" charset="-122"/>
                          <a:cs typeface="Arial" pitchFamily="34" charset="-120"/>
                        </a:rPr>
                        <a:t>Push Slack · email · app tài xế</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3241B"/>
                          </a:solidFill>
                          <a:latin typeface="Arial" pitchFamily="34" charset="0"/>
                          <a:ea typeface="Arial" pitchFamily="34" charset="-122"/>
                          <a:cs typeface="Arial" pitchFamily="34" charset="-120"/>
                        </a:rPr>
                        <a:t>Hạ tầng</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100" dirty="0">
                          <a:solidFill>
                            <a:srgbClr val="13241B"/>
                          </a:solidFill>
                          <a:latin typeface="Arial" pitchFamily="34" charset="0"/>
                          <a:ea typeface="Arial" pitchFamily="34" charset="-122"/>
                          <a:cs typeface="Arial" pitchFamily="34" charset="-120"/>
                        </a:rPr>
                        <a:t>Supabase cloud + chạy local</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c>
                  <a:txBody>
                    <a:bodyPr/>
                    <a:lstStyle/>
                    <a:p>
                      <a:pPr indent="0" marL="0">
                        <a:buNone/>
                      </a:pPr>
                      <a:r>
                        <a:rPr lang="en-US" sz="1100" dirty="0">
                          <a:solidFill>
                            <a:srgbClr val="13241B"/>
                          </a:solidFill>
                          <a:latin typeface="Arial" pitchFamily="34" charset="0"/>
                          <a:ea typeface="Arial" pitchFamily="34" charset="-122"/>
                          <a:cs typeface="Arial" pitchFamily="34" charset="-120"/>
                        </a:rPr>
                        <a:t>Container hóa, CI/CD, monitoring</a:t>
                      </a:r>
                      <a:endParaRPr lang="en-US" sz="1100" dirty="0">
                        <a:latin typeface="Arial" charset="0"/>
                        <a:ea typeface="Arial" charset="0"/>
                        <a:cs typeface="Arial" charset="0"/>
                      </a:endParaRPr>
                    </a:p>
                  </a:txBody>
                  <a:tcPr marL="91440" marR="91440" marT="45720" marB="45720" anchor="ctr">
                    <a:lnL w="6350" cap="flat" cmpd="sng" algn="ctr">
                      <a:solidFill>
                        <a:srgbClr val="C7DBCF"/>
                      </a:solidFill>
                      <a:prstDash val="solid"/>
                      <a:round/>
                      <a:headEnd type="none" w="med" len="med"/>
                      <a:tailEnd type="none" w="med" len="med"/>
                    </a:lnL>
                    <a:lnR w="6350" cap="flat" cmpd="sng" algn="ctr">
                      <a:solidFill>
                        <a:srgbClr val="C7DBCF"/>
                      </a:solidFill>
                      <a:prstDash val="solid"/>
                      <a:round/>
                      <a:headEnd type="none" w="med" len="med"/>
                      <a:tailEnd type="none" w="med" len="med"/>
                    </a:lnR>
                    <a:lnT w="6350" cap="flat" cmpd="sng" algn="ctr">
                      <a:solidFill>
                        <a:srgbClr val="C7DBCF"/>
                      </a:solidFill>
                      <a:prstDash val="solid"/>
                      <a:round/>
                      <a:headEnd type="none" w="med" len="med"/>
                      <a:tailEnd type="none" w="med" len="med"/>
                    </a:lnT>
                    <a:lnB w="6350" cap="flat" cmpd="sng" algn="ctr">
                      <a:solidFill>
                        <a:srgbClr val="C7DBCF"/>
                      </a:solidFill>
                      <a:prstDash val="solid"/>
                      <a:round/>
                      <a:headEnd type="none" w="med" len="med"/>
                      <a:tailEnd type="none" w="med" len="med"/>
                    </a:lnB>
                    <a:solidFill>
                      <a:srgbClr val="FFFFFF"/>
                    </a:solidFill>
                  </a:tcPr>
                </a:tc>
              </a:tr>
            </a:tbl>
          </a:graphicData>
        </a:graphic>
      </p:graphicFrame>
      <p:sp>
        <p:nvSpPr>
          <p:cNvPr id="9" name="Shape 6"/>
          <p:cNvSpPr/>
          <p:nvPr/>
        </p:nvSpPr>
        <p:spPr>
          <a:xfrm>
            <a:off x="457200" y="4160520"/>
            <a:ext cx="8229600" cy="457200"/>
          </a:xfrm>
          <a:prstGeom prst="roundRect">
            <a:avLst>
              <a:gd name="adj" fmla="val 12000"/>
            </a:avLst>
          </a:prstGeom>
          <a:solidFill>
            <a:srgbClr val="E4F1EA"/>
          </a:solidFill>
          <a:ln w="12700">
            <a:solidFill>
              <a:srgbClr val="12A150"/>
            </a:solidFill>
            <a:prstDash val="solid"/>
          </a:ln>
        </p:spPr>
      </p:sp>
      <p:sp>
        <p:nvSpPr>
          <p:cNvPr id="10" name="Text 7"/>
          <p:cNvSpPr/>
          <p:nvPr/>
        </p:nvSpPr>
        <p:spPr>
          <a:xfrm>
            <a:off x="640080" y="4160520"/>
            <a:ext cx="7863840" cy="457200"/>
          </a:xfrm>
          <a:prstGeom prst="rect">
            <a:avLst/>
          </a:prstGeom>
          <a:noFill/>
          <a:ln/>
        </p:spPr>
        <p:txBody>
          <a:bodyPr wrap="square" rtlCol="0" anchor="ctr"/>
          <a:lstStyle/>
          <a:p>
            <a:pPr indent="0" marL="0">
              <a:buNone/>
            </a:pPr>
            <a:r>
              <a:rPr lang="en-US" sz="1100" i="1" dirty="0">
                <a:solidFill>
                  <a:srgbClr val="13241B"/>
                </a:solidFill>
                <a:latin typeface="Arial" pitchFamily="34" charset="0"/>
                <a:ea typeface="Arial" pitchFamily="34" charset="-122"/>
                <a:cs typeface="Arial" pitchFamily="34" charset="-120"/>
              </a:rPr>
              <a:t>Trung thực: đây là bản demo chạy thật trên dữ liệu công khai — kiến trúc đã sẵn sàng để cắm dữ liệu thật.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6E36"/>
        </a:solidFill>
      </p:bgPr>
    </p:bg>
    <p:spTree>
      <p:nvGrpSpPr>
        <p:cNvPr id="1" name=""/>
        <p:cNvGrpSpPr/>
        <p:nvPr/>
      </p:nvGrpSpPr>
      <p:grpSpPr>
        <a:xfrm>
          <a:off x="0" y="0"/>
          <a:ext cx="0" cy="0"/>
          <a:chOff x="0" y="0"/>
          <a:chExt cx="0" cy="0"/>
        </a:xfrm>
      </p:grpSpPr>
      <p:sp>
        <p:nvSpPr>
          <p:cNvPr id="2" name="Shape 0"/>
          <p:cNvSpPr/>
          <p:nvPr/>
        </p:nvSpPr>
        <p:spPr>
          <a:xfrm>
            <a:off x="0" y="0"/>
            <a:ext cx="9144000" cy="201168"/>
          </a:xfrm>
          <a:prstGeom prst="rect">
            <a:avLst/>
          </a:prstGeom>
          <a:solidFill>
            <a:srgbClr val="E0A82E"/>
          </a:solidFill>
          <a:ln/>
        </p:spPr>
      </p:sp>
      <p:sp>
        <p:nvSpPr>
          <p:cNvPr id="3" name="Text 1"/>
          <p:cNvSpPr/>
          <p:nvPr/>
        </p:nvSpPr>
        <p:spPr>
          <a:xfrm>
            <a:off x="548640" y="640080"/>
            <a:ext cx="8229600" cy="365760"/>
          </a:xfrm>
          <a:prstGeom prst="rect">
            <a:avLst/>
          </a:prstGeom>
          <a:noFill/>
          <a:ln/>
        </p:spPr>
        <p:txBody>
          <a:bodyPr wrap="square" rtlCol="0" anchor="ctr"/>
          <a:lstStyle/>
          <a:p>
            <a:pPr indent="0" marL="0">
              <a:buNone/>
            </a:pPr>
            <a:r>
              <a:rPr lang="en-US" sz="1300" b="1" spc="300" kern="0" dirty="0">
                <a:solidFill>
                  <a:srgbClr val="22B14C"/>
                </a:solidFill>
                <a:latin typeface="Arial" pitchFamily="34" charset="0"/>
                <a:ea typeface="Arial" pitchFamily="34" charset="-122"/>
                <a:cs typeface="Arial" pitchFamily="34" charset="-120"/>
              </a:rPr>
              <a:t>TỔNG KẾT</a:t>
            </a:r>
            <a:endParaRPr lang="en-US" sz="1300" dirty="0"/>
          </a:p>
        </p:txBody>
      </p:sp>
      <p:sp>
        <p:nvSpPr>
          <p:cNvPr id="4" name="Text 2"/>
          <p:cNvSpPr/>
          <p:nvPr/>
        </p:nvSpPr>
        <p:spPr>
          <a:xfrm>
            <a:off x="548640" y="1371600"/>
            <a:ext cx="8046720" cy="1463040"/>
          </a:xfrm>
          <a:prstGeom prst="rect">
            <a:avLst/>
          </a:prstGeom>
          <a:noFill/>
          <a:ln/>
        </p:spPr>
        <p:txBody>
          <a:bodyPr wrap="square" rtlCol="0" anchor="ctr"/>
          <a:lstStyle/>
          <a:p>
            <a:pPr indent="0" marL="0">
              <a:lnSpc>
                <a:spcPct val="105000"/>
              </a:lnSpc>
              <a:buNone/>
            </a:pPr>
            <a:r>
              <a:rPr lang="en-US" sz="3000" b="1" dirty="0">
                <a:solidFill>
                  <a:srgbClr val="FFFFFF"/>
                </a:solidFill>
                <a:latin typeface="Arial" pitchFamily="34" charset="0"/>
                <a:ea typeface="Arial" pitchFamily="34" charset="-122"/>
                <a:cs typeface="Arial" pitchFamily="34" charset="-120"/>
              </a:rPr>
              <a:t>Biến tiếng nói khách hàng thành hành động</a:t>
            </a:r>
            <a:endParaRPr lang="en-US" sz="3000" dirty="0"/>
          </a:p>
          <a:p>
            <a:pPr indent="0" marL="0">
              <a:lnSpc>
                <a:spcPct val="105000"/>
              </a:lnSpc>
              <a:buNone/>
            </a:pPr>
            <a:r>
              <a:rPr lang="en-US" sz="3000" b="1" dirty="0">
                <a:solidFill>
                  <a:srgbClr val="FFFFFF"/>
                </a:solidFill>
                <a:latin typeface="Arial" pitchFamily="34" charset="0"/>
                <a:ea typeface="Arial" pitchFamily="34" charset="-122"/>
                <a:cs typeface="Arial" pitchFamily="34" charset="-120"/>
              </a:rPr>
              <a:t>trước khi sự cố lan.</a:t>
            </a:r>
            <a:endParaRPr lang="en-US" sz="3000" dirty="0"/>
          </a:p>
        </p:txBody>
      </p:sp>
      <p:sp>
        <p:nvSpPr>
          <p:cNvPr id="5" name="Shape 3"/>
          <p:cNvSpPr/>
          <p:nvPr/>
        </p:nvSpPr>
        <p:spPr>
          <a:xfrm>
            <a:off x="566928" y="2971800"/>
            <a:ext cx="2011680" cy="45720"/>
          </a:xfrm>
          <a:prstGeom prst="rect">
            <a:avLst/>
          </a:prstGeom>
          <a:solidFill>
            <a:srgbClr val="E0A82E"/>
          </a:solidFill>
          <a:ln/>
        </p:spPr>
      </p:sp>
      <p:sp>
        <p:nvSpPr>
          <p:cNvPr id="6" name="Text 4"/>
          <p:cNvSpPr/>
          <p:nvPr/>
        </p:nvSpPr>
        <p:spPr>
          <a:xfrm>
            <a:off x="566928" y="3154680"/>
            <a:ext cx="7863840" cy="457200"/>
          </a:xfrm>
          <a:prstGeom prst="rect">
            <a:avLst/>
          </a:prstGeom>
          <a:noFill/>
          <a:ln/>
        </p:spPr>
        <p:txBody>
          <a:bodyPr wrap="square" rtlCol="0" anchor="ctr"/>
          <a:lstStyle/>
          <a:p>
            <a:pPr indent="0" marL="0">
              <a:buNone/>
            </a:pPr>
            <a:r>
              <a:rPr lang="en-US" sz="1400" dirty="0">
                <a:solidFill>
                  <a:srgbClr val="D7EFE0"/>
                </a:solidFill>
                <a:latin typeface="Arial" pitchFamily="34" charset="0"/>
                <a:ea typeface="Arial" pitchFamily="34" charset="-122"/>
                <a:cs typeface="Arial" pitchFamily="34" charset="-120"/>
              </a:rPr>
              <a:t>Đọc thay · Phát hiện sớm · Giao đúng người · Khép kín tới hành động</a:t>
            </a:r>
            <a:endParaRPr lang="en-US" sz="1400" dirty="0"/>
          </a:p>
        </p:txBody>
      </p:sp>
      <p:sp>
        <p:nvSpPr>
          <p:cNvPr id="7" name="Text 5"/>
          <p:cNvSpPr/>
          <p:nvPr/>
        </p:nvSpPr>
        <p:spPr>
          <a:xfrm>
            <a:off x="566928" y="3931920"/>
            <a:ext cx="786384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Mời dùng thử và đồng hành đưa hệ thống lên dữ liệu vận hành thật.</a:t>
            </a:r>
            <a:endParaRPr lang="en-US" sz="1300" dirty="0"/>
          </a:p>
        </p:txBody>
      </p:sp>
      <p:sp>
        <p:nvSpPr>
          <p:cNvPr id="8" name="Text 6"/>
          <p:cNvSpPr/>
          <p:nvPr/>
        </p:nvSpPr>
        <p:spPr>
          <a:xfrm>
            <a:off x="566928" y="4526280"/>
            <a:ext cx="7863840" cy="320040"/>
          </a:xfrm>
          <a:prstGeom prst="rect">
            <a:avLst/>
          </a:prstGeom>
          <a:noFill/>
          <a:ln/>
        </p:spPr>
        <p:txBody>
          <a:bodyPr wrap="square" rtlCol="0" anchor="ctr"/>
          <a:lstStyle/>
          <a:p>
            <a:pPr indent="0" marL="0">
              <a:buNone/>
            </a:pPr>
            <a:r>
              <a:rPr lang="en-US" sz="1100" dirty="0">
                <a:solidFill>
                  <a:srgbClr val="AFD9C2"/>
                </a:solidFill>
                <a:latin typeface="Arial" pitchFamily="34" charset="0"/>
                <a:ea typeface="Arial" pitchFamily="34" charset="-122"/>
                <a:cs typeface="Arial" pitchFamily="34" charset="-120"/>
              </a:rPr>
              <a:t>AI20K Build Cohort 2 · Team 116 · xanhSM</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8F5"/>
        </a:solidFill>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B6E36"/>
          </a:solidFill>
          <a:ln/>
        </p:spPr>
      </p:sp>
      <p:sp>
        <p:nvSpPr>
          <p:cNvPr id="3" name="Text 1"/>
          <p:cNvSpPr/>
          <p:nvPr/>
        </p:nvSpPr>
        <p:spPr>
          <a:xfrm>
            <a:off x="8275320" y="4791456"/>
            <a:ext cx="777240" cy="256032"/>
          </a:xfrm>
          <a:prstGeom prst="rect">
            <a:avLst/>
          </a:prstGeom>
          <a:noFill/>
          <a:ln/>
        </p:spPr>
        <p:txBody>
          <a:bodyPr wrap="square" rtlCol="0" anchor="ctr"/>
          <a:lstStyle/>
          <a:p>
            <a:pPr algn="r" indent="0" marL="0">
              <a:buNone/>
            </a:pPr>
            <a:r>
              <a:rPr lang="en-US" sz="900" dirty="0">
                <a:solidFill>
                  <a:srgbClr val="6B7C72"/>
                </a:solidFill>
                <a:latin typeface="Arial" pitchFamily="34" charset="0"/>
                <a:ea typeface="Arial" pitchFamily="34" charset="-122"/>
                <a:cs typeface="Arial" pitchFamily="34" charset="-120"/>
              </a:rPr>
              <a:t>20/20</a:t>
            </a:r>
            <a:endParaRPr lang="en-US" sz="900" dirty="0"/>
          </a:p>
        </p:txBody>
      </p:sp>
      <p:sp>
        <p:nvSpPr>
          <p:cNvPr id="4" name="Text 2"/>
          <p:cNvSpPr/>
          <p:nvPr/>
        </p:nvSpPr>
        <p:spPr>
          <a:xfrm>
            <a:off x="411480" y="4791456"/>
            <a:ext cx="6400800" cy="256032"/>
          </a:xfrm>
          <a:prstGeom prst="rect">
            <a:avLst/>
          </a:prstGeom>
          <a:noFill/>
          <a:ln/>
        </p:spPr>
        <p:txBody>
          <a:bodyPr wrap="square" rtlCol="0" anchor="ctr"/>
          <a:lstStyle/>
          <a:p>
            <a:pPr indent="0" marL="0">
              <a:buNone/>
            </a:pPr>
            <a:r>
              <a:rPr lang="en-US" sz="900" dirty="0">
                <a:solidFill>
                  <a:srgbClr val="6B7C72"/>
                </a:solidFill>
                <a:latin typeface="Arial" pitchFamily="34" charset="0"/>
                <a:ea typeface="Arial" pitchFamily="34" charset="-122"/>
                <a:cs typeface="Arial" pitchFamily="34" charset="-120"/>
              </a:rPr>
              <a:t>xanhSM · AI Quality Intelligence Platform</a:t>
            </a:r>
            <a:endParaRPr lang="en-US" sz="900" dirty="0"/>
          </a:p>
        </p:txBody>
      </p:sp>
      <p:sp>
        <p:nvSpPr>
          <p:cNvPr id="5" name="Text 3"/>
          <p:cNvSpPr/>
          <p:nvPr/>
        </p:nvSpPr>
        <p:spPr>
          <a:xfrm>
            <a:off x="457200" y="301752"/>
            <a:ext cx="8229600" cy="274320"/>
          </a:xfrm>
          <a:prstGeom prst="rect">
            <a:avLst/>
          </a:prstGeom>
          <a:noFill/>
          <a:ln/>
        </p:spPr>
        <p:txBody>
          <a:bodyPr wrap="square" rtlCol="0" anchor="ctr"/>
          <a:lstStyle/>
          <a:p>
            <a:pPr indent="0" marL="0">
              <a:buNone/>
            </a:pPr>
            <a:r>
              <a:rPr lang="en-US" sz="1200" b="1" spc="200" kern="0" dirty="0">
                <a:solidFill>
                  <a:srgbClr val="12A150"/>
                </a:solidFill>
                <a:latin typeface="Arial" pitchFamily="34" charset="0"/>
                <a:ea typeface="Arial" pitchFamily="34" charset="-122"/>
                <a:cs typeface="Arial" pitchFamily="34" charset="-120"/>
              </a:rPr>
              <a:t>PHỤ LỤC</a:t>
            </a:r>
            <a:endParaRPr lang="en-US" sz="1200" dirty="0"/>
          </a:p>
        </p:txBody>
      </p:sp>
      <p:sp>
        <p:nvSpPr>
          <p:cNvPr id="6" name="Text 4"/>
          <p:cNvSpPr/>
          <p:nvPr/>
        </p:nvSpPr>
        <p:spPr>
          <a:xfrm>
            <a:off x="457200" y="548640"/>
            <a:ext cx="8229600" cy="658368"/>
          </a:xfrm>
          <a:prstGeom prst="rect">
            <a:avLst/>
          </a:prstGeom>
          <a:noFill/>
          <a:ln/>
        </p:spPr>
        <p:txBody>
          <a:bodyPr wrap="square" rtlCol="0" anchor="ctr"/>
          <a:lstStyle/>
          <a:p>
            <a:pPr indent="0" marL="0">
              <a:buNone/>
            </a:pPr>
            <a:r>
              <a:rPr lang="en-US" sz="2500" b="1" dirty="0">
                <a:solidFill>
                  <a:srgbClr val="13241B"/>
                </a:solidFill>
                <a:latin typeface="Arial" pitchFamily="34" charset="0"/>
                <a:ea typeface="Arial" pitchFamily="34" charset="-122"/>
                <a:cs typeface="Arial" pitchFamily="34" charset="-120"/>
              </a:rPr>
              <a:t>Câu hỏi giám khảo có thể hỏi</a:t>
            </a:r>
            <a:endParaRPr lang="en-US" sz="2500" dirty="0"/>
          </a:p>
        </p:txBody>
      </p:sp>
      <p:sp>
        <p:nvSpPr>
          <p:cNvPr id="7" name="Shape 5"/>
          <p:cNvSpPr/>
          <p:nvPr/>
        </p:nvSpPr>
        <p:spPr>
          <a:xfrm>
            <a:off x="457200" y="1225296"/>
            <a:ext cx="960120" cy="50292"/>
          </a:xfrm>
          <a:prstGeom prst="rect">
            <a:avLst/>
          </a:prstGeom>
          <a:solidFill>
            <a:srgbClr val="E0A82E"/>
          </a:solidFill>
          <a:ln/>
        </p:spPr>
      </p:sp>
      <p:sp>
        <p:nvSpPr>
          <p:cNvPr id="8" name="Shape 6"/>
          <p:cNvSpPr/>
          <p:nvPr/>
        </p:nvSpPr>
        <p:spPr>
          <a:xfrm>
            <a:off x="457200" y="1554480"/>
            <a:ext cx="8229600" cy="548640"/>
          </a:xfrm>
          <a:prstGeom prst="roundRect">
            <a:avLst>
              <a:gd name="adj" fmla="val 8333"/>
            </a:avLst>
          </a:prstGeom>
          <a:solidFill>
            <a:srgbClr val="E4F1EA"/>
          </a:solidFill>
          <a:ln w="9525">
            <a:solidFill>
              <a:srgbClr val="D2E9DC"/>
            </a:solidFill>
            <a:prstDash val="solid"/>
          </a:ln>
        </p:spPr>
      </p:sp>
      <p:sp>
        <p:nvSpPr>
          <p:cNvPr id="9" name="Text 7"/>
          <p:cNvSpPr/>
          <p:nvPr/>
        </p:nvSpPr>
        <p:spPr>
          <a:xfrm>
            <a:off x="640080" y="1554480"/>
            <a:ext cx="7863840" cy="548640"/>
          </a:xfrm>
          <a:prstGeom prst="rect">
            <a:avLst/>
          </a:prstGeom>
          <a:noFill/>
          <a:ln/>
        </p:spPr>
        <p:txBody>
          <a:bodyPr wrap="square" rtlCol="0" anchor="ctr"/>
          <a:lstStyle/>
          <a:p>
            <a:pPr indent="0" marL="0">
              <a:buNone/>
            </a:pPr>
            <a:r>
              <a:rPr lang="en-US" sz="1050" b="1" dirty="0">
                <a:solidFill>
                  <a:srgbClr val="0B6E36"/>
                </a:solidFill>
                <a:latin typeface="Arial" pitchFamily="34" charset="0"/>
                <a:ea typeface="Arial" pitchFamily="34" charset="-122"/>
                <a:cs typeface="Arial" pitchFamily="34" charset="-120"/>
              </a:rPr>
              <a:t>Q: Độ chính xác mô hình thì sao?  </a:t>
            </a:r>
            <a:pPr indent="0" marL="0">
              <a:buNone/>
            </a:pPr>
            <a:r>
              <a:rPr lang="en-US" sz="1050" dirty="0">
                <a:solidFill>
                  <a:srgbClr val="13241B"/>
                </a:solidFill>
                <a:latin typeface="Arial" pitchFamily="34" charset="0"/>
                <a:ea typeface="Arial" pitchFamily="34" charset="-122"/>
                <a:cs typeface="Arial" pitchFamily="34" charset="-120"/>
              </a:rPr>
              <a:t>A: Cảm xúc ~94%, chủ đề ~77%, định tuyến phòng ~75.4%; rule + người duyệt bù phần còn lại.</a:t>
            </a:r>
            <a:endParaRPr lang="en-US" sz="1050" dirty="0"/>
          </a:p>
        </p:txBody>
      </p:sp>
      <p:sp>
        <p:nvSpPr>
          <p:cNvPr id="10" name="Shape 8"/>
          <p:cNvSpPr/>
          <p:nvPr/>
        </p:nvSpPr>
        <p:spPr>
          <a:xfrm>
            <a:off x="457200" y="2176272"/>
            <a:ext cx="8229600" cy="548640"/>
          </a:xfrm>
          <a:prstGeom prst="roundRect">
            <a:avLst>
              <a:gd name="adj" fmla="val 8333"/>
            </a:avLst>
          </a:prstGeom>
          <a:solidFill>
            <a:srgbClr val="FFFFFF"/>
          </a:solidFill>
          <a:ln w="9525">
            <a:solidFill>
              <a:srgbClr val="D2E9DC"/>
            </a:solidFill>
            <a:prstDash val="solid"/>
          </a:ln>
        </p:spPr>
      </p:sp>
      <p:sp>
        <p:nvSpPr>
          <p:cNvPr id="11" name="Text 9"/>
          <p:cNvSpPr/>
          <p:nvPr/>
        </p:nvSpPr>
        <p:spPr>
          <a:xfrm>
            <a:off x="640080" y="2176272"/>
            <a:ext cx="7863840" cy="548640"/>
          </a:xfrm>
          <a:prstGeom prst="rect">
            <a:avLst/>
          </a:prstGeom>
          <a:noFill/>
          <a:ln/>
        </p:spPr>
        <p:txBody>
          <a:bodyPr wrap="square" rtlCol="0" anchor="ctr"/>
          <a:lstStyle/>
          <a:p>
            <a:pPr indent="0" marL="0">
              <a:buNone/>
            </a:pPr>
            <a:r>
              <a:rPr lang="en-US" sz="1050" b="1" dirty="0">
                <a:solidFill>
                  <a:srgbClr val="0B6E36"/>
                </a:solidFill>
                <a:latin typeface="Arial" pitchFamily="34" charset="0"/>
                <a:ea typeface="Arial" pitchFamily="34" charset="-122"/>
                <a:cs typeface="Arial" pitchFamily="34" charset="-120"/>
              </a:rPr>
              <a:t>Q: Chi phí LLM khi scale?  </a:t>
            </a:r>
            <a:pPr indent="0" marL="0">
              <a:buNone/>
            </a:pPr>
            <a:r>
              <a:rPr lang="en-US" sz="1050" dirty="0">
                <a:solidFill>
                  <a:srgbClr val="13241B"/>
                </a:solidFill>
                <a:latin typeface="Arial" pitchFamily="34" charset="0"/>
                <a:ea typeface="Arial" pitchFamily="34" charset="-122"/>
                <a:cs typeface="Arial" pitchFamily="34" charset="-120"/>
              </a:rPr>
              <a:t>A: Hybrid: ML rẻ chạy mọi review, LLM chỉ ở chỗ cần suy luận → chi phí kiểm soát được.</a:t>
            </a:r>
            <a:endParaRPr lang="en-US" sz="1050" dirty="0"/>
          </a:p>
        </p:txBody>
      </p:sp>
      <p:sp>
        <p:nvSpPr>
          <p:cNvPr id="12" name="Shape 10"/>
          <p:cNvSpPr/>
          <p:nvPr/>
        </p:nvSpPr>
        <p:spPr>
          <a:xfrm>
            <a:off x="457200" y="2798064"/>
            <a:ext cx="8229600" cy="548640"/>
          </a:xfrm>
          <a:prstGeom prst="roundRect">
            <a:avLst>
              <a:gd name="adj" fmla="val 8333"/>
            </a:avLst>
          </a:prstGeom>
          <a:solidFill>
            <a:srgbClr val="E4F1EA"/>
          </a:solidFill>
          <a:ln w="9525">
            <a:solidFill>
              <a:srgbClr val="D2E9DC"/>
            </a:solidFill>
            <a:prstDash val="solid"/>
          </a:ln>
        </p:spPr>
      </p:sp>
      <p:sp>
        <p:nvSpPr>
          <p:cNvPr id="13" name="Text 11"/>
          <p:cNvSpPr/>
          <p:nvPr/>
        </p:nvSpPr>
        <p:spPr>
          <a:xfrm>
            <a:off x="640080" y="2798064"/>
            <a:ext cx="7863840" cy="548640"/>
          </a:xfrm>
          <a:prstGeom prst="rect">
            <a:avLst/>
          </a:prstGeom>
          <a:noFill/>
          <a:ln/>
        </p:spPr>
        <p:txBody>
          <a:bodyPr wrap="square" rtlCol="0" anchor="ctr"/>
          <a:lstStyle/>
          <a:p>
            <a:pPr indent="0" marL="0">
              <a:buNone/>
            </a:pPr>
            <a:r>
              <a:rPr lang="en-US" sz="1050" b="1" dirty="0">
                <a:solidFill>
                  <a:srgbClr val="0B6E36"/>
                </a:solidFill>
                <a:latin typeface="Arial" pitchFamily="34" charset="0"/>
                <a:ea typeface="Arial" pitchFamily="34" charset="-122"/>
                <a:cs typeface="Arial" pitchFamily="34" charset="-120"/>
              </a:rPr>
              <a:t>Q: Bảo mật dữ liệu?  </a:t>
            </a:r>
            <a:pPr indent="0" marL="0">
              <a:buNone/>
            </a:pPr>
            <a:r>
              <a:rPr lang="en-US" sz="1050" dirty="0">
                <a:solidFill>
                  <a:srgbClr val="13241B"/>
                </a:solidFill>
                <a:latin typeface="Arial" pitchFamily="34" charset="0"/>
                <a:ea typeface="Arial" pitchFamily="34" charset="-122"/>
                <a:cs typeface="Arial" pitchFamily="34" charset="-120"/>
              </a:rPr>
              <a:t>A: Che PII hai đầu, phân quyền theo role + phòng ở tầng API, mọi đổi quyền có audit log.</a:t>
            </a:r>
            <a:endParaRPr lang="en-US" sz="1050" dirty="0"/>
          </a:p>
        </p:txBody>
      </p:sp>
      <p:sp>
        <p:nvSpPr>
          <p:cNvPr id="14" name="Shape 12"/>
          <p:cNvSpPr/>
          <p:nvPr/>
        </p:nvSpPr>
        <p:spPr>
          <a:xfrm>
            <a:off x="457200" y="3419856"/>
            <a:ext cx="8229600" cy="548640"/>
          </a:xfrm>
          <a:prstGeom prst="roundRect">
            <a:avLst>
              <a:gd name="adj" fmla="val 8333"/>
            </a:avLst>
          </a:prstGeom>
          <a:solidFill>
            <a:srgbClr val="FFFFFF"/>
          </a:solidFill>
          <a:ln w="9525">
            <a:solidFill>
              <a:srgbClr val="D2E9DC"/>
            </a:solidFill>
            <a:prstDash val="solid"/>
          </a:ln>
        </p:spPr>
      </p:sp>
      <p:sp>
        <p:nvSpPr>
          <p:cNvPr id="15" name="Text 13"/>
          <p:cNvSpPr/>
          <p:nvPr/>
        </p:nvSpPr>
        <p:spPr>
          <a:xfrm>
            <a:off x="640080" y="3419856"/>
            <a:ext cx="7863840" cy="548640"/>
          </a:xfrm>
          <a:prstGeom prst="rect">
            <a:avLst/>
          </a:prstGeom>
          <a:noFill/>
          <a:ln/>
        </p:spPr>
        <p:txBody>
          <a:bodyPr wrap="square" rtlCol="0" anchor="ctr"/>
          <a:lstStyle/>
          <a:p>
            <a:pPr indent="0" marL="0">
              <a:buNone/>
            </a:pPr>
            <a:r>
              <a:rPr lang="en-US" sz="1050" b="1" dirty="0">
                <a:solidFill>
                  <a:srgbClr val="0B6E36"/>
                </a:solidFill>
                <a:latin typeface="Arial" pitchFamily="34" charset="0"/>
                <a:ea typeface="Arial" pitchFamily="34" charset="-122"/>
                <a:cs typeface="Arial" pitchFamily="34" charset="-120"/>
              </a:rPr>
              <a:t>Q: Sao không dùng một LLM lớn duy nhất?  </a:t>
            </a:r>
            <a:pPr indent="0" marL="0">
              <a:buNone/>
            </a:pPr>
            <a:r>
              <a:rPr lang="en-US" sz="1050" dirty="0">
                <a:solidFill>
                  <a:srgbClr val="13241B"/>
                </a:solidFill>
                <a:latin typeface="Arial" pitchFamily="34" charset="0"/>
                <a:ea typeface="Arial" pitchFamily="34" charset="-122"/>
                <a:cs typeface="Arial" pitchFamily="34" charset="-120"/>
              </a:rPr>
              <a:t>A: Đắt, phụ thuộc một bên, khó kiểm soát ca an toàn; hybrid + rule + đa provider an toàn hơn.</a:t>
            </a:r>
            <a:endParaRPr lang="en-US" sz="1050" dirty="0"/>
          </a:p>
        </p:txBody>
      </p:sp>
      <p:sp>
        <p:nvSpPr>
          <p:cNvPr id="16" name="Shape 14"/>
          <p:cNvSpPr/>
          <p:nvPr/>
        </p:nvSpPr>
        <p:spPr>
          <a:xfrm>
            <a:off x="457200" y="4041648"/>
            <a:ext cx="8229600" cy="548640"/>
          </a:xfrm>
          <a:prstGeom prst="roundRect">
            <a:avLst>
              <a:gd name="adj" fmla="val 8333"/>
            </a:avLst>
          </a:prstGeom>
          <a:solidFill>
            <a:srgbClr val="E4F1EA"/>
          </a:solidFill>
          <a:ln w="9525">
            <a:solidFill>
              <a:srgbClr val="D2E9DC"/>
            </a:solidFill>
            <a:prstDash val="solid"/>
          </a:ln>
        </p:spPr>
      </p:sp>
      <p:sp>
        <p:nvSpPr>
          <p:cNvPr id="17" name="Text 15"/>
          <p:cNvSpPr/>
          <p:nvPr/>
        </p:nvSpPr>
        <p:spPr>
          <a:xfrm>
            <a:off x="640080" y="4041648"/>
            <a:ext cx="7863840" cy="548640"/>
          </a:xfrm>
          <a:prstGeom prst="rect">
            <a:avLst/>
          </a:prstGeom>
          <a:noFill/>
          <a:ln/>
        </p:spPr>
        <p:txBody>
          <a:bodyPr wrap="square" rtlCol="0" anchor="ctr"/>
          <a:lstStyle/>
          <a:p>
            <a:pPr indent="0" marL="0">
              <a:buNone/>
            </a:pPr>
            <a:r>
              <a:rPr lang="en-US" sz="1050" b="1" dirty="0">
                <a:solidFill>
                  <a:srgbClr val="0B6E36"/>
                </a:solidFill>
                <a:latin typeface="Arial" pitchFamily="34" charset="0"/>
                <a:ea typeface="Arial" pitchFamily="34" charset="-122"/>
                <a:cs typeface="Arial" pitchFamily="34" charset="-120"/>
              </a:rPr>
              <a:t>Q: Đường đến production?  </a:t>
            </a:r>
            <a:pPr indent="0" marL="0">
              <a:buNone/>
            </a:pPr>
            <a:r>
              <a:rPr lang="en-US" sz="1050" dirty="0">
                <a:solidFill>
                  <a:srgbClr val="13241B"/>
                </a:solidFill>
                <a:latin typeface="Arial" pitchFamily="34" charset="0"/>
                <a:ea typeface="Arial" pitchFamily="34" charset="-122"/>
                <a:cs typeface="Arial" pitchFamily="34" charset="-120"/>
              </a:rPr>
              <a:t>A: Cắm nguồn dữ liệu thật + kênh push; kiến trúc 6 service và lõi đã sẵn sàng.</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xanhSM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xanhSM — AI Quality Intelligence Platform</dc:title>
  <dc:subject>PptxGenJS Presentation</dc:subject>
  <dc:creator>AI20K Cohort 2 - Team 116</dc:creator>
  <cp:lastModifiedBy>AI20K Cohort 2 - Team 116</cp:lastModifiedBy>
  <cp:revision>1</cp:revision>
  <dcterms:created xsi:type="dcterms:W3CDTF">2026-06-26T02:56:29Z</dcterms:created>
  <dcterms:modified xsi:type="dcterms:W3CDTF">2026-06-26T02:56:29Z</dcterms:modified>
</cp:coreProperties>
</file>