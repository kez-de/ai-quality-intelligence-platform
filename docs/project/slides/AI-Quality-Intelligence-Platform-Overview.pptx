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hội đồng. Đây là AI Quality Intelligence Platform của Team 116 — nền tảng phân tích phản hồi khách hàng cho dịch vụ di chuyển xanhSM.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toán xuất phát từ thực tế: hàng nghìn phản hồi mỗi ngày từ nhiều kênh, đội vận hành đọc không xuể, và những sự cố an toàn nghiêm trọng dễ bị chôn vùi.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vậy bài toán là tự động hoá toàn bộ luồng: tiếp nhận, phân loại, phát hiện sớm, định tuyến đúng phòng, và đi tới hành động — dưới các ràng buộc realtime, an toàn, con người trong vòng kiểm soát.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pháp là một khoang lái điều hành chất lượng realtime, gói 11 tính năng vào 4 nhóm: Tiếp nhận, Phân tích, Cảnh báo, Hành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kiến trúc: ba tầng frontend / pipeline / supabase, triển khai thành 6 service Railway. Supabase là trục realtime — pipeline ghi, frontend đọc.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luồng vận hành end-to-end. Mỗi bước có sản phẩm kiểm chứng được; máy làm phần nặng, con người giữ các quyết định quan trọng.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1 — thu nhận. Người dùng không khai nhãn; hệ thống che PII rồi để ML tự gán topic, cảm xúc, mức độ. Luật safety ép P5 cho ca nguy hiểm.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2 — khi có spike, LLM phân tích nguyên nhân gốc rễ và đề xuất hành động, rồi giao đúng một trong sáu phòng ban; ticket tự chạy theo SLA.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3 — Human-in-the-loop. Ca nguy hiểm hoặc không chắc vào hàng đợi duyệt; nhân viên sửa hoặc duyệt, mọi thay đổi được ghi log để audit và retrain.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4 — multi-agent. 8 agent cộng orchestrator sinh báo cáo theo phòng, cấu trúc ba khối Vấn đề – Phân tích – Đề xuất, kèm tóm tắt điều 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5 — vòng khép kín. Manager biên tập đề xuất trong báo cáo rồi duyệt một nút để tạo task chính thức, có liên kết ngược về báo cáo gốc.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đi vào chi tiết, đây là vòng đời một task qua năm trạng thái: đang mở, đã giao, đang xử lý, chờ duyệt, đã xong. Điểm quan trọng là mỗi bước có người chịu trách nhiệm rõ ràng — hệ thống tạo việc, manager giao và duyệt, nhân viên xử lý và báo cáo.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vận hành giao việc: task gom từ ticket và báo cáo đã gắn sẵn phòng ban. Manager mở phần Gán task, hệ thống còn gợi ý người nhận cân bằng tải, rồi chọn nhân viên và đặt hạn để giao. Task đi qua năm trạng thái: đang mở, đã giao, đang xử lý, chờ duyệt, đã xong.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Phía nhân viên: với bộ lọc Việc của tôi, mỗi người chỉ thấy task được giao cho mình. Họ bấm Nhận việc để bắt đầu xử lý, rồi nộp báo cáo hoàn thành ở ba mức; task chuyển sang chờ duyệt để manager phê duyệt khép vòng. Giao diện cũng rút gọn đúng theo quyền.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6 — AI Chat với RAG hybrid. Trả lời có dẫn chứng từ SOP nội bộ; phân quyền tự động: guest chỉ thấy FAQ, staff thấy dữ liệu nội bộ.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có bốn vai trò với quyền tăng dần. Khách là người ngoài, chỉ xem dashboard công khai và gửi phản hồi. Nhân viên xử lý nghiệp vụ trong phòng mình. Quản lý thêm quyền giao việc, duyệt và xem báo cáo. Admin nắm toàn hệ thống và quản trị người dùng. Quyền được kiểm ở backend, không chỉ ẩn giao diện.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hay: chỉ một chatbot nhưng câu trả lời tự điều chỉnh theo tài khoản. Cùng câu hỏi về khu vực đang nóng, tài khoản khách chỉ nhận hỗ trợ công khai và không có số liệu nội bộ; còn admin nhận ngay thống kê theo khu vực và chủ đề. Với nhân viên và quản lý, dữ liệu được lọc đúng phòng ban qua RLS — chống rò rỉ dữ liệu chéo phòng.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nguyên tắc sản phẩm này chi phối mọi quyết định thiết kế — đặc biệt là rút ngắn khoảng cách giữa một lời phàn nàn và một hành động khắc phục.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Hiện trạng: vòng khép kín đã hoàn thiện, chạy trên dữ liệu review tiếng Việt thật. Tiếp theo là mở rộng knowledge base cho 6 phòng và tinh chỉnh đánh giá.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hội đồng. Em xin sẵn sàng cho phần hỏi đáp.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7950" y="533400"/>
            <a:ext cx="4080510" cy="152400"/>
          </a:xfrm>
          <a:prstGeom prst="rect">
            <a:avLst/>
          </a:prstGeom>
          <a:noFill/>
          <a:ln/>
        </p:spPr>
        <p:txBody>
          <a:bodyPr wrap="square" lIns="0" tIns="0" rIns="0" bIns="0" rtlCol="0" anchor="t"/>
          <a:lstStyle/>
          <a:p>
            <a:pPr algn="l" indent="0" marL="0">
              <a:buNone/>
            </a:pPr>
            <a:r>
              <a:rPr lang="en-US" sz="1100" b="1" dirty="0">
                <a:solidFill>
                  <a:srgbClr val="9BEFE0"/>
                </a:solidFill>
                <a:latin typeface="Arial" pitchFamily="34" charset="0"/>
                <a:ea typeface="Arial" pitchFamily="34" charset="-122"/>
                <a:cs typeface="Arial" pitchFamily="34" charset="-120"/>
              </a:rPr>
              <a:t>AI20K · COHORT 2 · TEAM 116</a:t>
            </a:r>
            <a:endParaRPr lang="en-US" sz="1100" dirty="0"/>
          </a:p>
        </p:txBody>
      </p:sp>
      <p:sp>
        <p:nvSpPr>
          <p:cNvPr id="3" name="Text 1"/>
          <p:cNvSpPr/>
          <p:nvPr/>
        </p:nvSpPr>
        <p:spPr>
          <a:xfrm>
            <a:off x="507950" y="863501"/>
            <a:ext cx="4080510" cy="1319808"/>
          </a:xfrm>
          <a:prstGeom prst="rect">
            <a:avLst/>
          </a:prstGeom>
          <a:noFill/>
          <a:ln/>
        </p:spPr>
        <p:txBody>
          <a:bodyPr wrap="square" lIns="0" tIns="0" rIns="0" bIns="0" rtlCol="0" anchor="t"/>
          <a:lstStyle/>
          <a:p>
            <a:pPr algn="l" indent="0" marL="0">
              <a:lnSpc>
                <a:spcPts val="3465"/>
              </a:lnSpc>
              <a:spcBef>
                <a:spcPts val="1400"/>
              </a:spcBef>
              <a:buNone/>
            </a:pPr>
            <a:r>
              <a:rPr lang="en-US" sz="3300" dirty="0">
                <a:solidFill>
                  <a:srgbClr val="FFFFFF"/>
                </a:solidFill>
                <a:latin typeface="Arial" pitchFamily="34" charset="0"/>
                <a:ea typeface="Arial" pitchFamily="34" charset="-122"/>
                <a:cs typeface="Arial" pitchFamily="34" charset="-120"/>
              </a:rPr>
              <a:t>AI Quality</a:t>
            </a:r>
            <a:endParaRPr lang="en-US" sz="3300" dirty="0"/>
          </a:p>
          <a:p>
            <a:pPr algn="l" indent="0" marL="0">
              <a:lnSpc>
                <a:spcPts val="3465"/>
              </a:lnSpc>
              <a:spcBef>
                <a:spcPts val="1400"/>
              </a:spcBef>
              <a:buNone/>
            </a:pPr>
            <a:r>
              <a:rPr lang="en-US" sz="3300" dirty="0">
                <a:solidFill>
                  <a:srgbClr val="FFFFFF"/>
                </a:solidFill>
                <a:latin typeface="Arial" pitchFamily="34" charset="0"/>
                <a:ea typeface="Arial" pitchFamily="34" charset="-122"/>
                <a:cs typeface="Arial" pitchFamily="34" charset="-120"/>
              </a:rPr>
              <a:t>Intelligence Platform</a:t>
            </a:r>
            <a:endParaRPr lang="en-US" sz="3300" dirty="0"/>
          </a:p>
        </p:txBody>
      </p:sp>
      <p:sp>
        <p:nvSpPr>
          <p:cNvPr id="4" name="Text 2"/>
          <p:cNvSpPr/>
          <p:nvPr/>
        </p:nvSpPr>
        <p:spPr>
          <a:xfrm>
            <a:off x="507950" y="2361009"/>
            <a:ext cx="4080510" cy="461963"/>
          </a:xfrm>
          <a:prstGeom prst="rect">
            <a:avLst/>
          </a:prstGeom>
          <a:noFill/>
          <a:ln/>
        </p:spPr>
        <p:txBody>
          <a:bodyPr wrap="square" lIns="0" tIns="0" rIns="0" bIns="0" rtlCol="0" anchor="t"/>
          <a:lstStyle/>
          <a:p>
            <a:pPr algn="l" indent="0" marL="0">
              <a:lnSpc>
                <a:spcPts val="1820"/>
              </a:lnSpc>
              <a:spcBef>
                <a:spcPts val="1400"/>
              </a:spcBef>
              <a:buNone/>
            </a:pPr>
            <a:r>
              <a:rPr lang="en-US" sz="1300" dirty="0">
                <a:solidFill>
                  <a:srgbClr val="CFF3EC"/>
                </a:solidFill>
                <a:latin typeface="Arial" pitchFamily="34" charset="0"/>
                <a:ea typeface="Arial" pitchFamily="34" charset="-122"/>
                <a:cs typeface="Arial" pitchFamily="34" charset="-120"/>
              </a:rPr>
              <a:t>Nền tảng phân tích chất lượng dịch vụ di chuyển thông minh </a:t>
            </a:r>
            <a:pPr algn="l" indent="0" marL="0">
              <a:lnSpc>
                <a:spcPts val="1820"/>
              </a:lnSpc>
              <a:spcBef>
                <a:spcPts val="1400"/>
              </a:spcBef>
              <a:buNone/>
            </a:pPr>
            <a:r>
              <a:rPr lang="en-US" sz="1300" b="1" dirty="0">
                <a:solidFill>
                  <a:srgbClr val="FFFFFF"/>
                </a:solidFill>
                <a:latin typeface="Arial" pitchFamily="34" charset="0"/>
                <a:ea typeface="Arial" pitchFamily="34" charset="-122"/>
                <a:cs typeface="Arial" pitchFamily="34" charset="-120"/>
              </a:rPr>
              <a:t>xanhSM</a:t>
            </a:r>
            <a:pPr algn="l" indent="0" marL="0">
              <a:lnSpc>
                <a:spcPts val="1820"/>
              </a:lnSpc>
              <a:spcBef>
                <a:spcPts val="1400"/>
              </a:spcBef>
              <a:buNone/>
            </a:pPr>
            <a:r>
              <a:rPr lang="en-US" sz="1300" dirty="0">
                <a:solidFill>
                  <a:srgbClr val="CFF3EC"/>
                </a:solidFill>
                <a:latin typeface="Arial" pitchFamily="34" charset="0"/>
                <a:ea typeface="Arial" pitchFamily="34" charset="-122"/>
                <a:cs typeface="Arial" pitchFamily="34" charset="-120"/>
              </a:rPr>
              <a:t> bằng AI.</a:t>
            </a:r>
            <a:endParaRPr lang="en-US" sz="1300" dirty="0"/>
          </a:p>
        </p:txBody>
      </p:sp>
      <p:sp>
        <p:nvSpPr>
          <p:cNvPr id="5" name="Text 3"/>
          <p:cNvSpPr/>
          <p:nvPr/>
        </p:nvSpPr>
        <p:spPr>
          <a:xfrm>
            <a:off x="507950" y="3026122"/>
            <a:ext cx="4080510" cy="419100"/>
          </a:xfrm>
          <a:prstGeom prst="rect">
            <a:avLst/>
          </a:prstGeom>
          <a:noFill/>
          <a:ln/>
        </p:spPr>
        <p:txBody>
          <a:bodyPr wrap="square" lIns="0" tIns="0" rIns="0" bIns="0" rtlCol="0" anchor="t"/>
          <a:lstStyle/>
          <a:p>
            <a:pPr algn="l" indent="0" marL="0">
              <a:lnSpc>
                <a:spcPts val="1650"/>
              </a:lnSpc>
              <a:spcBef>
                <a:spcPts val="1600"/>
              </a:spcBef>
              <a:buNone/>
            </a:pPr>
            <a:r>
              <a:rPr lang="en-US" sz="1100" dirty="0">
                <a:solidFill>
                  <a:srgbClr val="EAFBF7"/>
                </a:solidFill>
                <a:latin typeface="Arial" pitchFamily="34" charset="0"/>
                <a:ea typeface="Arial" pitchFamily="34" charset="-122"/>
                <a:cs typeface="Arial" pitchFamily="34" charset="-120"/>
              </a:rPr>
              <a:t>Tiếp nhận phản hồi · Che PII · Phân loại ML · Phát hiện điểm nóng · Định tuyến 6 phòng ban · Multi-agent · Chat RAG.</a:t>
            </a:r>
            <a:endParaRPr lang="en-US" sz="1100" dirty="0"/>
          </a:p>
        </p:txBody>
      </p:sp>
      <p:sp>
        <p:nvSpPr>
          <p:cNvPr id="6" name="Text 4"/>
          <p:cNvSpPr/>
          <p:nvPr/>
        </p:nvSpPr>
        <p:spPr>
          <a:xfrm>
            <a:off x="507950" y="4514850"/>
            <a:ext cx="4080510" cy="133350"/>
          </a:xfrm>
          <a:prstGeom prst="rect">
            <a:avLst/>
          </a:prstGeom>
          <a:noFill/>
          <a:ln/>
        </p:spPr>
        <p:txBody>
          <a:bodyPr wrap="square" lIns="0" tIns="0" rIns="0" bIns="0" rtlCol="0" anchor="t"/>
          <a:lstStyle/>
          <a:p>
            <a:pPr algn="l" indent="0" marL="0">
              <a:spcBef>
                <a:spcPts val="8422"/>
              </a:spcBef>
              <a:spcAft>
                <a:spcPts val="900"/>
              </a:spcAft>
              <a:buNone/>
            </a:pPr>
            <a:r>
              <a:rPr lang="en-US" sz="900" dirty="0">
                <a:solidFill>
                  <a:srgbClr val="9BEFE0"/>
                </a:solidFill>
                <a:latin typeface="Arial" pitchFamily="34" charset="0"/>
                <a:ea typeface="Arial" pitchFamily="34" charset="-122"/>
                <a:cs typeface="Arial" pitchFamily="34" charset="-120"/>
              </a:rPr>
              <a:t>FastAPI · React 19 · Supabase · 6 Railway service</a:t>
            </a:r>
            <a:endParaRPr lang="en-US" sz="900" dirty="0"/>
          </a:p>
        </p:txBody>
      </p:sp>
      <p:sp>
        <p:nvSpPr>
          <p:cNvPr id="7" name="Text 5"/>
          <p:cNvSpPr/>
          <p:nvPr/>
        </p:nvSpPr>
        <p:spPr>
          <a:xfrm>
            <a:off x="4686151" y="1285726"/>
            <a:ext cx="4025950" cy="2572048"/>
          </a:xfrm>
          <a:prstGeom prst="roundRect">
            <a:avLst>
              <a:gd name="adj" fmla="val 4938"/>
            </a:avLst>
          </a:prstGeom>
          <a:solidFill>
            <a:srgbClr val="FFFFFF"/>
          </a:solidFill>
          <a:ln w="9525">
            <a:solidFill>
              <a:srgbClr val="D9E8E4"/>
            </a:solidFill>
          </a:ln>
          <a:effectLst>
            <a:outerShdw sx="100000" sy="100000" kx="0" ky="0" algn="bl" rotWithShape="0" blurRad="133350" dist="47625" dir="3180000">
              <a:srgbClr val="0b5e5c">
                <a:alpha val="22000"/>
              </a:srgbClr>
            </a:outerShdw>
          </a:effectLst>
        </p:spPr>
        <p:txBody>
          <a:bodyPr wrap="square" rtlCol="0" anchor="ctr"/>
          <a:lstStyle/>
          <a:p>
            <a:pPr indent="0" marL="0">
              <a:buNone/>
            </a:pPr>
            <a:endParaRPr lang="en-US" dirty="0"/>
          </a:p>
        </p:txBody>
      </p:sp>
      <p:pic>
        <p:nvPicPr>
          <p:cNvPr id="8" name="Image 0" descr="/private/tmp/claude-501/-Users-kenz-de-projects-C2-App-116/3d8df5ac-6b2b-4cce-a997-fe0b4573b465/scratchpad/build/assets/landing.png">    </p:cNvPr>
          <p:cNvPicPr>
            <a:picLocks noChangeAspect="1"/>
          </p:cNvPicPr>
          <p:nvPr/>
        </p:nvPicPr>
        <p:blipFill>
          <a:blip r:embed="rId2"/>
          <a:stretch>
            <a:fillRect/>
          </a:stretch>
        </p:blipFill>
        <p:spPr>
          <a:xfrm>
            <a:off x="4759077" y="1358652"/>
            <a:ext cx="3880098" cy="24261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30101"/>
            <a:ext cx="8549640" cy="142875"/>
          </a:xfrm>
          <a:prstGeom prst="rect">
            <a:avLst/>
          </a:prstGeom>
          <a:noFill/>
          <a:ln/>
        </p:spPr>
        <p:txBody>
          <a:bodyPr wrap="square" lIns="0" tIns="0" rIns="0" bIns="0" rtlCol="0" anchor="t"/>
          <a:lstStyle/>
          <a:p>
            <a:pPr algn="l" indent="0" marL="0">
              <a:spcAft>
                <a:spcPts val="400"/>
              </a:spcAft>
              <a:buNone/>
            </a:pPr>
            <a:r>
              <a:rPr lang="en-US" sz="1000" b="1" dirty="0">
                <a:solidFill>
                  <a:srgbClr val="0E8C84"/>
                </a:solidFill>
                <a:latin typeface="Arial" pitchFamily="34" charset="0"/>
                <a:ea typeface="Arial" pitchFamily="34" charset="-122"/>
                <a:cs typeface="Arial" pitchFamily="34" charset="-120"/>
              </a:rPr>
              <a:t>BỐI CẢNH &amp; VẤN ĐỀ</a:t>
            </a:r>
            <a:endParaRPr lang="en-US" sz="1000" dirty="0"/>
          </a:p>
        </p:txBody>
      </p:sp>
      <p:sp>
        <p:nvSpPr>
          <p:cNvPr id="3" name="Text 1"/>
          <p:cNvSpPr/>
          <p:nvPr/>
        </p:nvSpPr>
        <p:spPr>
          <a:xfrm>
            <a:off x="381000" y="523726"/>
            <a:ext cx="8549640" cy="685502"/>
          </a:xfrm>
          <a:prstGeom prst="rect">
            <a:avLst/>
          </a:prstGeom>
          <a:noFill/>
          <a:ln/>
        </p:spPr>
        <p:txBody>
          <a:bodyPr wrap="square" lIns="0" tIns="0" rIns="0" bIns="0" rtlCol="0" anchor="t"/>
          <a:lstStyle/>
          <a:p>
            <a:pPr algn="l" indent="0" marL="0">
              <a:lnSpc>
                <a:spcPts val="2700"/>
              </a:lnSpc>
              <a:buNone/>
            </a:pPr>
            <a:r>
              <a:rPr lang="en-US" sz="2500" b="1" dirty="0">
                <a:solidFill>
                  <a:srgbClr val="0B5E5C"/>
                </a:solidFill>
                <a:latin typeface="Arial" pitchFamily="34" charset="0"/>
                <a:ea typeface="Arial" pitchFamily="34" charset="-122"/>
                <a:cs typeface="Arial" pitchFamily="34" charset="-120"/>
              </a:rPr>
              <a:t>Phản hồi đổ về mỗi ngày, nhưng đội vận hành không kịp đọc</a:t>
            </a:r>
            <a:endParaRPr lang="en-US" sz="2500" dirty="0"/>
          </a:p>
        </p:txBody>
      </p:sp>
      <p:sp>
        <p:nvSpPr>
          <p:cNvPr id="4" name="Text 2"/>
          <p:cNvSpPr/>
          <p:nvPr/>
        </p:nvSpPr>
        <p:spPr>
          <a:xfrm>
            <a:off x="381000" y="1272629"/>
            <a:ext cx="8549640" cy="363141"/>
          </a:xfrm>
          <a:prstGeom prst="rect">
            <a:avLst/>
          </a:prstGeom>
          <a:noFill/>
          <a:ln/>
        </p:spPr>
        <p:txBody>
          <a:bodyPr wrap="square" lIns="0" tIns="0" rIns="0" bIns="0" rtlCol="0" anchor="t"/>
          <a:lstStyle/>
          <a:p>
            <a:pPr algn="l" indent="0" marL="0">
              <a:lnSpc>
                <a:spcPts val="1430"/>
              </a:lnSpc>
              <a:spcBef>
                <a:spcPts val="500"/>
              </a:spcBef>
              <a:buNone/>
            </a:pPr>
            <a:r>
              <a:rPr lang="en-US" sz="1100" dirty="0">
                <a:solidFill>
                  <a:srgbClr val="5C7470"/>
                </a:solidFill>
                <a:latin typeface="Arial" pitchFamily="34" charset="0"/>
                <a:ea typeface="Arial" pitchFamily="34" charset="-122"/>
                <a:cs typeface="Arial" pitchFamily="34" charset="-120"/>
              </a:rPr>
              <a:t>Với hàng nghìn đánh giá từ App Store, Google Play, hotline và khảo sát, vấn đề thật sự bị pha loãng — và sự cố an toàn dễ bị chôn vùi giữa các phản hồi thông thường.</a:t>
            </a:r>
            <a:endParaRPr lang="en-US" sz="1100" dirty="0"/>
          </a:p>
        </p:txBody>
      </p:sp>
      <p:sp>
        <p:nvSpPr>
          <p:cNvPr id="5" name="Text 3"/>
          <p:cNvSpPr/>
          <p:nvPr/>
        </p:nvSpPr>
        <p:spPr>
          <a:xfrm>
            <a:off x="381000" y="1788170"/>
            <a:ext cx="1962150" cy="2885629"/>
          </a:xfrm>
          <a:prstGeom prst="roundRect">
            <a:avLst>
              <a:gd name="adj" fmla="val 6472"/>
            </a:avLst>
          </a:prstGeom>
          <a:solidFill>
            <a:srgbClr val="FFFFFF"/>
          </a:solidFill>
          <a:ln/>
        </p:spPr>
        <p:txBody>
          <a:bodyPr wrap="square" rtlCol="0" anchor="ctr"/>
          <a:lstStyle/>
          <a:p>
            <a:pPr indent="0" marL="0">
              <a:buNone/>
            </a:pPr>
            <a:endParaRPr lang="en-US" dirty="0"/>
          </a:p>
        </p:txBody>
      </p:sp>
      <p:sp>
        <p:nvSpPr>
          <p:cNvPr id="6" name="Shape 4"/>
          <p:cNvSpPr/>
          <p:nvPr/>
        </p:nvSpPr>
        <p:spPr>
          <a:xfrm>
            <a:off x="381000" y="1811982"/>
            <a:ext cx="1962150" cy="0"/>
          </a:xfrm>
          <a:prstGeom prst="line">
            <a:avLst/>
          </a:prstGeom>
          <a:noFill/>
          <a:ln w="47625">
            <a:solidFill>
              <a:srgbClr val="0E8C84"/>
            </a:solidFill>
            <a:prstDash val="solid"/>
          </a:ln>
        </p:spPr>
      </p:sp>
      <p:sp>
        <p:nvSpPr>
          <p:cNvPr id="7" name="Shape 5"/>
          <p:cNvSpPr/>
          <p:nvPr/>
        </p:nvSpPr>
        <p:spPr>
          <a:xfrm>
            <a:off x="2338388" y="1788170"/>
            <a:ext cx="0" cy="2885629"/>
          </a:xfrm>
          <a:prstGeom prst="line">
            <a:avLst/>
          </a:prstGeom>
          <a:noFill/>
          <a:ln w="9525">
            <a:solidFill>
              <a:srgbClr val="D9E8E4"/>
            </a:solidFill>
            <a:prstDash val="solid"/>
          </a:ln>
        </p:spPr>
      </p:sp>
      <p:sp>
        <p:nvSpPr>
          <p:cNvPr id="8" name="Shape 6"/>
          <p:cNvSpPr/>
          <p:nvPr/>
        </p:nvSpPr>
        <p:spPr>
          <a:xfrm>
            <a:off x="381000" y="4669036"/>
            <a:ext cx="1962150" cy="0"/>
          </a:xfrm>
          <a:prstGeom prst="line">
            <a:avLst/>
          </a:prstGeom>
          <a:noFill/>
          <a:ln w="9525">
            <a:solidFill>
              <a:srgbClr val="D9E8E4"/>
            </a:solidFill>
            <a:prstDash val="solid"/>
          </a:ln>
        </p:spPr>
      </p:sp>
      <p:sp>
        <p:nvSpPr>
          <p:cNvPr id="9" name="Shape 7"/>
          <p:cNvSpPr/>
          <p:nvPr/>
        </p:nvSpPr>
        <p:spPr>
          <a:xfrm>
            <a:off x="385763" y="1788170"/>
            <a:ext cx="0" cy="2885629"/>
          </a:xfrm>
          <a:prstGeom prst="line">
            <a:avLst/>
          </a:prstGeom>
          <a:noFill/>
          <a:ln w="9525">
            <a:solidFill>
              <a:srgbClr val="D9E8E4"/>
            </a:solidFill>
            <a:prstDash val="solid"/>
          </a:ln>
        </p:spPr>
      </p:sp>
      <p:sp>
        <p:nvSpPr>
          <p:cNvPr id="10" name="Text 8"/>
          <p:cNvSpPr/>
          <p:nvPr/>
        </p:nvSpPr>
        <p:spPr>
          <a:xfrm>
            <a:off x="542925" y="2013496"/>
            <a:ext cx="1671066" cy="333375"/>
          </a:xfrm>
          <a:prstGeom prst="rect">
            <a:avLst/>
          </a:prstGeom>
          <a:noFill/>
          <a:ln/>
        </p:spPr>
        <p:txBody>
          <a:bodyPr wrap="square" lIns="0" tIns="0" rIns="0" bIns="0" rtlCol="0" anchor="t"/>
          <a:lstStyle/>
          <a:p>
            <a:pPr algn="l" indent="0" marL="0">
              <a:buNone/>
            </a:pPr>
            <a:r>
              <a:rPr lang="en-US" sz="2300" b="1" dirty="0">
                <a:solidFill>
                  <a:srgbClr val="0E8C84"/>
                </a:solidFill>
                <a:latin typeface="Arial" pitchFamily="34" charset="0"/>
                <a:ea typeface="Arial" pitchFamily="34" charset="-122"/>
                <a:cs typeface="Arial" pitchFamily="34" charset="-120"/>
              </a:rPr>
              <a:t>12K+</a:t>
            </a:r>
            <a:endParaRPr lang="en-US" sz="2300" dirty="0"/>
          </a:p>
        </p:txBody>
      </p:sp>
      <p:sp>
        <p:nvSpPr>
          <p:cNvPr id="11" name="Text 9"/>
          <p:cNvSpPr/>
          <p:nvPr/>
        </p:nvSpPr>
        <p:spPr>
          <a:xfrm>
            <a:off x="542925" y="2423071"/>
            <a:ext cx="1671066" cy="565696"/>
          </a:xfrm>
          <a:prstGeom prst="rect">
            <a:avLst/>
          </a:prstGeom>
          <a:noFill/>
          <a:ln/>
        </p:spPr>
        <p:txBody>
          <a:bodyPr wrap="square" lIns="0" tIns="0" rIns="0" bIns="0" rtlCol="0" anchor="t"/>
          <a:lstStyle/>
          <a:p>
            <a:pPr algn="l" indent="0" marL="0">
              <a:lnSpc>
                <a:spcPts val="1485"/>
              </a:lnSpc>
              <a:spcBef>
                <a:spcPts val="600"/>
              </a:spcBef>
              <a:buNone/>
            </a:pPr>
            <a:r>
              <a:rPr lang="en-US" sz="1100" dirty="0">
                <a:solidFill>
                  <a:srgbClr val="0E2B29"/>
                </a:solidFill>
                <a:latin typeface="Arial" pitchFamily="34" charset="0"/>
                <a:ea typeface="Arial" pitchFamily="34" charset="-122"/>
                <a:cs typeface="Arial" pitchFamily="34" charset="-120"/>
              </a:rPr>
              <a:t>Phản hồi mỗi ngày, đa kênh rời rạc — không nguồn tập trung</a:t>
            </a:r>
            <a:endParaRPr lang="en-US" sz="1100" dirty="0"/>
          </a:p>
        </p:txBody>
      </p:sp>
      <p:sp>
        <p:nvSpPr>
          <p:cNvPr id="12" name="Text 10"/>
          <p:cNvSpPr/>
          <p:nvPr/>
        </p:nvSpPr>
        <p:spPr>
          <a:xfrm>
            <a:off x="2520851" y="1788170"/>
            <a:ext cx="1962299" cy="2885629"/>
          </a:xfrm>
          <a:prstGeom prst="roundRect">
            <a:avLst>
              <a:gd name="adj" fmla="val 6472"/>
            </a:avLst>
          </a:prstGeom>
          <a:solidFill>
            <a:srgbClr val="FFFFFF"/>
          </a:solidFill>
          <a:ln/>
        </p:spPr>
        <p:txBody>
          <a:bodyPr wrap="square" rtlCol="0" anchor="ctr"/>
          <a:lstStyle/>
          <a:p>
            <a:pPr indent="0" marL="0">
              <a:buNone/>
            </a:pPr>
            <a:endParaRPr lang="en-US" dirty="0"/>
          </a:p>
        </p:txBody>
      </p:sp>
      <p:sp>
        <p:nvSpPr>
          <p:cNvPr id="13" name="Shape 11"/>
          <p:cNvSpPr/>
          <p:nvPr/>
        </p:nvSpPr>
        <p:spPr>
          <a:xfrm>
            <a:off x="2520851" y="1811982"/>
            <a:ext cx="1962299" cy="0"/>
          </a:xfrm>
          <a:prstGeom prst="line">
            <a:avLst/>
          </a:prstGeom>
          <a:noFill/>
          <a:ln w="47625">
            <a:solidFill>
              <a:srgbClr val="E0892F"/>
            </a:solidFill>
            <a:prstDash val="solid"/>
          </a:ln>
        </p:spPr>
      </p:sp>
      <p:sp>
        <p:nvSpPr>
          <p:cNvPr id="14" name="Shape 12"/>
          <p:cNvSpPr/>
          <p:nvPr/>
        </p:nvSpPr>
        <p:spPr>
          <a:xfrm>
            <a:off x="4478387" y="1788170"/>
            <a:ext cx="0" cy="2885629"/>
          </a:xfrm>
          <a:prstGeom prst="line">
            <a:avLst/>
          </a:prstGeom>
          <a:noFill/>
          <a:ln w="9525">
            <a:solidFill>
              <a:srgbClr val="D9E8E4"/>
            </a:solidFill>
            <a:prstDash val="solid"/>
          </a:ln>
        </p:spPr>
      </p:sp>
      <p:sp>
        <p:nvSpPr>
          <p:cNvPr id="15" name="Shape 13"/>
          <p:cNvSpPr/>
          <p:nvPr/>
        </p:nvSpPr>
        <p:spPr>
          <a:xfrm>
            <a:off x="2520851" y="4669036"/>
            <a:ext cx="1962299" cy="0"/>
          </a:xfrm>
          <a:prstGeom prst="line">
            <a:avLst/>
          </a:prstGeom>
          <a:noFill/>
          <a:ln w="9525">
            <a:solidFill>
              <a:srgbClr val="D9E8E4"/>
            </a:solidFill>
            <a:prstDash val="solid"/>
          </a:ln>
        </p:spPr>
      </p:sp>
      <p:sp>
        <p:nvSpPr>
          <p:cNvPr id="16" name="Shape 14"/>
          <p:cNvSpPr/>
          <p:nvPr/>
        </p:nvSpPr>
        <p:spPr>
          <a:xfrm>
            <a:off x="2525613" y="1788170"/>
            <a:ext cx="0" cy="2885629"/>
          </a:xfrm>
          <a:prstGeom prst="line">
            <a:avLst/>
          </a:prstGeom>
          <a:noFill/>
          <a:ln w="9525">
            <a:solidFill>
              <a:srgbClr val="D9E8E4"/>
            </a:solidFill>
            <a:prstDash val="solid"/>
          </a:ln>
        </p:spPr>
      </p:sp>
      <p:sp>
        <p:nvSpPr>
          <p:cNvPr id="17" name="Text 15"/>
          <p:cNvSpPr/>
          <p:nvPr/>
        </p:nvSpPr>
        <p:spPr>
          <a:xfrm>
            <a:off x="2682776" y="2013496"/>
            <a:ext cx="1671218" cy="333375"/>
          </a:xfrm>
          <a:prstGeom prst="rect">
            <a:avLst/>
          </a:prstGeom>
          <a:noFill/>
          <a:ln/>
        </p:spPr>
        <p:txBody>
          <a:bodyPr wrap="square" lIns="0" tIns="0" rIns="0" bIns="0" rtlCol="0" anchor="t"/>
          <a:lstStyle/>
          <a:p>
            <a:pPr algn="l" indent="0" marL="0">
              <a:buNone/>
            </a:pPr>
            <a:r>
              <a:rPr lang="en-US" sz="2300" b="1" dirty="0">
                <a:solidFill>
                  <a:srgbClr val="E0892F"/>
                </a:solidFill>
                <a:latin typeface="Arial" pitchFamily="34" charset="0"/>
                <a:ea typeface="Arial" pitchFamily="34" charset="-122"/>
                <a:cs typeface="Arial" pitchFamily="34" charset="-120"/>
              </a:rPr>
              <a:t>Thủ công</a:t>
            </a:r>
            <a:endParaRPr lang="en-US" sz="2300" dirty="0"/>
          </a:p>
        </p:txBody>
      </p:sp>
      <p:sp>
        <p:nvSpPr>
          <p:cNvPr id="18" name="Text 16"/>
          <p:cNvSpPr/>
          <p:nvPr/>
        </p:nvSpPr>
        <p:spPr>
          <a:xfrm>
            <a:off x="2682776" y="2423071"/>
            <a:ext cx="1671218" cy="377130"/>
          </a:xfrm>
          <a:prstGeom prst="rect">
            <a:avLst/>
          </a:prstGeom>
          <a:noFill/>
          <a:ln/>
        </p:spPr>
        <p:txBody>
          <a:bodyPr wrap="square" lIns="0" tIns="0" rIns="0" bIns="0" rtlCol="0" anchor="t"/>
          <a:lstStyle/>
          <a:p>
            <a:pPr algn="l" indent="0" marL="0">
              <a:lnSpc>
                <a:spcPts val="1485"/>
              </a:lnSpc>
              <a:spcBef>
                <a:spcPts val="600"/>
              </a:spcBef>
              <a:buNone/>
            </a:pPr>
            <a:r>
              <a:rPr lang="en-US" sz="1100" dirty="0">
                <a:solidFill>
                  <a:srgbClr val="0E2B29"/>
                </a:solidFill>
                <a:latin typeface="Arial" pitchFamily="34" charset="0"/>
                <a:ea typeface="Arial" pitchFamily="34" charset="-122"/>
                <a:cs typeface="Arial" pitchFamily="34" charset="-120"/>
              </a:rPr>
              <a:t>Đọc &amp; phân loại bằng tay → chậm, thiếu nhất quán</a:t>
            </a:r>
            <a:endParaRPr lang="en-US" sz="1100" dirty="0"/>
          </a:p>
        </p:txBody>
      </p:sp>
      <p:sp>
        <p:nvSpPr>
          <p:cNvPr id="19" name="Text 17"/>
          <p:cNvSpPr/>
          <p:nvPr/>
        </p:nvSpPr>
        <p:spPr>
          <a:xfrm>
            <a:off x="4660850" y="1788170"/>
            <a:ext cx="1962150" cy="2885629"/>
          </a:xfrm>
          <a:prstGeom prst="roundRect">
            <a:avLst>
              <a:gd name="adj" fmla="val 6472"/>
            </a:avLst>
          </a:prstGeom>
          <a:solidFill>
            <a:srgbClr val="FFFFFF"/>
          </a:solidFill>
          <a:ln/>
        </p:spPr>
        <p:txBody>
          <a:bodyPr wrap="square" rtlCol="0" anchor="ctr"/>
          <a:lstStyle/>
          <a:p>
            <a:pPr indent="0" marL="0">
              <a:buNone/>
            </a:pPr>
            <a:endParaRPr lang="en-US" dirty="0"/>
          </a:p>
        </p:txBody>
      </p:sp>
      <p:sp>
        <p:nvSpPr>
          <p:cNvPr id="20" name="Shape 18"/>
          <p:cNvSpPr/>
          <p:nvPr/>
        </p:nvSpPr>
        <p:spPr>
          <a:xfrm>
            <a:off x="4660850" y="1811982"/>
            <a:ext cx="1962150" cy="0"/>
          </a:xfrm>
          <a:prstGeom prst="line">
            <a:avLst/>
          </a:prstGeom>
          <a:noFill/>
          <a:ln w="47625">
            <a:solidFill>
              <a:srgbClr val="D24B4B"/>
            </a:solidFill>
            <a:prstDash val="solid"/>
          </a:ln>
        </p:spPr>
      </p:sp>
      <p:sp>
        <p:nvSpPr>
          <p:cNvPr id="21" name="Shape 19"/>
          <p:cNvSpPr/>
          <p:nvPr/>
        </p:nvSpPr>
        <p:spPr>
          <a:xfrm>
            <a:off x="6618238" y="1788170"/>
            <a:ext cx="0" cy="2885629"/>
          </a:xfrm>
          <a:prstGeom prst="line">
            <a:avLst/>
          </a:prstGeom>
          <a:noFill/>
          <a:ln w="9525">
            <a:solidFill>
              <a:srgbClr val="D9E8E4"/>
            </a:solidFill>
            <a:prstDash val="solid"/>
          </a:ln>
        </p:spPr>
      </p:sp>
      <p:sp>
        <p:nvSpPr>
          <p:cNvPr id="22" name="Shape 20"/>
          <p:cNvSpPr/>
          <p:nvPr/>
        </p:nvSpPr>
        <p:spPr>
          <a:xfrm>
            <a:off x="4660850" y="4669036"/>
            <a:ext cx="1962150" cy="0"/>
          </a:xfrm>
          <a:prstGeom prst="line">
            <a:avLst/>
          </a:prstGeom>
          <a:noFill/>
          <a:ln w="9525">
            <a:solidFill>
              <a:srgbClr val="D9E8E4"/>
            </a:solidFill>
            <a:prstDash val="solid"/>
          </a:ln>
        </p:spPr>
      </p:sp>
      <p:sp>
        <p:nvSpPr>
          <p:cNvPr id="23" name="Shape 21"/>
          <p:cNvSpPr/>
          <p:nvPr/>
        </p:nvSpPr>
        <p:spPr>
          <a:xfrm>
            <a:off x="4665613" y="1788170"/>
            <a:ext cx="0" cy="2885629"/>
          </a:xfrm>
          <a:prstGeom prst="line">
            <a:avLst/>
          </a:prstGeom>
          <a:noFill/>
          <a:ln w="9525">
            <a:solidFill>
              <a:srgbClr val="D9E8E4"/>
            </a:solidFill>
            <a:prstDash val="solid"/>
          </a:ln>
        </p:spPr>
      </p:sp>
      <p:sp>
        <p:nvSpPr>
          <p:cNvPr id="24" name="Text 22"/>
          <p:cNvSpPr/>
          <p:nvPr/>
        </p:nvSpPr>
        <p:spPr>
          <a:xfrm>
            <a:off x="4822775" y="2013496"/>
            <a:ext cx="1671066" cy="333375"/>
          </a:xfrm>
          <a:prstGeom prst="rect">
            <a:avLst/>
          </a:prstGeom>
          <a:noFill/>
          <a:ln/>
        </p:spPr>
        <p:txBody>
          <a:bodyPr wrap="square" lIns="0" tIns="0" rIns="0" bIns="0" rtlCol="0" anchor="t"/>
          <a:lstStyle/>
          <a:p>
            <a:pPr algn="l" indent="0" marL="0">
              <a:buNone/>
            </a:pPr>
            <a:r>
              <a:rPr lang="en-US" sz="2300" b="1" dirty="0">
                <a:solidFill>
                  <a:srgbClr val="D24B4B"/>
                </a:solidFill>
                <a:latin typeface="Arial" pitchFamily="34" charset="0"/>
                <a:ea typeface="Arial" pitchFamily="34" charset="-122"/>
                <a:cs typeface="Arial" pitchFamily="34" charset="-120"/>
              </a:rPr>
              <a:t>Sự cố ẩn</a:t>
            </a:r>
            <a:endParaRPr lang="en-US" sz="2300" dirty="0"/>
          </a:p>
        </p:txBody>
      </p:sp>
      <p:sp>
        <p:nvSpPr>
          <p:cNvPr id="25" name="Text 23"/>
          <p:cNvSpPr/>
          <p:nvPr/>
        </p:nvSpPr>
        <p:spPr>
          <a:xfrm>
            <a:off x="4822775" y="2423071"/>
            <a:ext cx="1671066" cy="377130"/>
          </a:xfrm>
          <a:prstGeom prst="rect">
            <a:avLst/>
          </a:prstGeom>
          <a:noFill/>
          <a:ln/>
        </p:spPr>
        <p:txBody>
          <a:bodyPr wrap="square" lIns="0" tIns="0" rIns="0" bIns="0" rtlCol="0" anchor="t"/>
          <a:lstStyle/>
          <a:p>
            <a:pPr algn="l" indent="0" marL="0">
              <a:lnSpc>
                <a:spcPts val="1485"/>
              </a:lnSpc>
              <a:spcBef>
                <a:spcPts val="600"/>
              </a:spcBef>
              <a:buNone/>
            </a:pPr>
            <a:r>
              <a:rPr lang="en-US" sz="1100" dirty="0">
                <a:solidFill>
                  <a:srgbClr val="0E2B29"/>
                </a:solidFill>
                <a:latin typeface="Arial" pitchFamily="34" charset="0"/>
                <a:ea typeface="Arial" pitchFamily="34" charset="-122"/>
                <a:cs typeface="Arial" pitchFamily="34" charset="-120"/>
              </a:rPr>
              <a:t>Tai nạn, quấy rối, gian lận lẫn trong "nhiễu" phản hồi</a:t>
            </a:r>
            <a:endParaRPr lang="en-US" sz="1100" dirty="0"/>
          </a:p>
        </p:txBody>
      </p:sp>
      <p:sp>
        <p:nvSpPr>
          <p:cNvPr id="26" name="Text 24"/>
          <p:cNvSpPr/>
          <p:nvPr/>
        </p:nvSpPr>
        <p:spPr>
          <a:xfrm>
            <a:off x="6800701" y="1788170"/>
            <a:ext cx="1962299" cy="2885629"/>
          </a:xfrm>
          <a:prstGeom prst="roundRect">
            <a:avLst>
              <a:gd name="adj" fmla="val 6472"/>
            </a:avLst>
          </a:prstGeom>
          <a:solidFill>
            <a:srgbClr val="FFFFFF"/>
          </a:solidFill>
          <a:ln/>
        </p:spPr>
        <p:txBody>
          <a:bodyPr wrap="square" rtlCol="0" anchor="ctr"/>
          <a:lstStyle/>
          <a:p>
            <a:pPr indent="0" marL="0">
              <a:buNone/>
            </a:pPr>
            <a:endParaRPr lang="en-US" dirty="0"/>
          </a:p>
        </p:txBody>
      </p:sp>
      <p:sp>
        <p:nvSpPr>
          <p:cNvPr id="27" name="Shape 25"/>
          <p:cNvSpPr/>
          <p:nvPr/>
        </p:nvSpPr>
        <p:spPr>
          <a:xfrm>
            <a:off x="6800701" y="1811982"/>
            <a:ext cx="1962299" cy="0"/>
          </a:xfrm>
          <a:prstGeom prst="line">
            <a:avLst/>
          </a:prstGeom>
          <a:noFill/>
          <a:ln w="47625">
            <a:solidFill>
              <a:srgbClr val="7A5AF8"/>
            </a:solidFill>
            <a:prstDash val="solid"/>
          </a:ln>
        </p:spPr>
      </p:sp>
      <p:sp>
        <p:nvSpPr>
          <p:cNvPr id="28" name="Shape 26"/>
          <p:cNvSpPr/>
          <p:nvPr/>
        </p:nvSpPr>
        <p:spPr>
          <a:xfrm>
            <a:off x="8758237" y="1788170"/>
            <a:ext cx="0" cy="2885629"/>
          </a:xfrm>
          <a:prstGeom prst="line">
            <a:avLst/>
          </a:prstGeom>
          <a:noFill/>
          <a:ln w="9525">
            <a:solidFill>
              <a:srgbClr val="D9E8E4"/>
            </a:solidFill>
            <a:prstDash val="solid"/>
          </a:ln>
        </p:spPr>
      </p:sp>
      <p:sp>
        <p:nvSpPr>
          <p:cNvPr id="29" name="Shape 27"/>
          <p:cNvSpPr/>
          <p:nvPr/>
        </p:nvSpPr>
        <p:spPr>
          <a:xfrm>
            <a:off x="6800701" y="4669036"/>
            <a:ext cx="1962299" cy="0"/>
          </a:xfrm>
          <a:prstGeom prst="line">
            <a:avLst/>
          </a:prstGeom>
          <a:noFill/>
          <a:ln w="9525">
            <a:solidFill>
              <a:srgbClr val="D9E8E4"/>
            </a:solidFill>
            <a:prstDash val="solid"/>
          </a:ln>
        </p:spPr>
      </p:sp>
      <p:sp>
        <p:nvSpPr>
          <p:cNvPr id="30" name="Shape 28"/>
          <p:cNvSpPr/>
          <p:nvPr/>
        </p:nvSpPr>
        <p:spPr>
          <a:xfrm>
            <a:off x="6805464" y="1788170"/>
            <a:ext cx="0" cy="2885629"/>
          </a:xfrm>
          <a:prstGeom prst="line">
            <a:avLst/>
          </a:prstGeom>
          <a:noFill/>
          <a:ln w="9525">
            <a:solidFill>
              <a:srgbClr val="D9E8E4"/>
            </a:solidFill>
            <a:prstDash val="solid"/>
          </a:ln>
        </p:spPr>
      </p:sp>
      <p:sp>
        <p:nvSpPr>
          <p:cNvPr id="31" name="Text 29"/>
          <p:cNvSpPr/>
          <p:nvPr/>
        </p:nvSpPr>
        <p:spPr>
          <a:xfrm>
            <a:off x="6962626" y="2013496"/>
            <a:ext cx="1671218" cy="666750"/>
          </a:xfrm>
          <a:prstGeom prst="rect">
            <a:avLst/>
          </a:prstGeom>
          <a:noFill/>
          <a:ln/>
        </p:spPr>
        <p:txBody>
          <a:bodyPr wrap="square" lIns="0" tIns="0" rIns="0" bIns="0" rtlCol="0" anchor="t"/>
          <a:lstStyle/>
          <a:p>
            <a:pPr algn="l" indent="0" marL="0">
              <a:buNone/>
            </a:pPr>
            <a:r>
              <a:rPr lang="en-US" sz="2300" b="1" dirty="0">
                <a:solidFill>
                  <a:srgbClr val="7A5AF8"/>
                </a:solidFill>
                <a:latin typeface="Arial" pitchFamily="34" charset="0"/>
                <a:ea typeface="Arial" pitchFamily="34" charset="-122"/>
                <a:cs typeface="Arial" pitchFamily="34" charset="-120"/>
              </a:rPr>
              <a:t>Phản ứng chậm</a:t>
            </a:r>
            <a:endParaRPr lang="en-US" sz="2300" dirty="0"/>
          </a:p>
        </p:txBody>
      </p:sp>
      <p:sp>
        <p:nvSpPr>
          <p:cNvPr id="32" name="Text 30"/>
          <p:cNvSpPr/>
          <p:nvPr/>
        </p:nvSpPr>
        <p:spPr>
          <a:xfrm>
            <a:off x="6962626" y="2756446"/>
            <a:ext cx="1671218" cy="565696"/>
          </a:xfrm>
          <a:prstGeom prst="rect">
            <a:avLst/>
          </a:prstGeom>
          <a:noFill/>
          <a:ln/>
        </p:spPr>
        <p:txBody>
          <a:bodyPr wrap="square" lIns="0" tIns="0" rIns="0" bIns="0" rtlCol="0" anchor="t"/>
          <a:lstStyle/>
          <a:p>
            <a:pPr algn="l" indent="0" marL="0">
              <a:lnSpc>
                <a:spcPts val="1485"/>
              </a:lnSpc>
              <a:spcBef>
                <a:spcPts val="600"/>
              </a:spcBef>
              <a:buNone/>
            </a:pPr>
            <a:r>
              <a:rPr lang="en-US" sz="1100" dirty="0">
                <a:solidFill>
                  <a:srgbClr val="0E2B29"/>
                </a:solidFill>
                <a:latin typeface="Arial" pitchFamily="34" charset="0"/>
                <a:ea typeface="Arial" pitchFamily="34" charset="-122"/>
                <a:cs typeface="Arial" pitchFamily="34" charset="-120"/>
              </a:rPr>
              <a:t>Phát hiện điểm nóng muộn → mất niềm tin khách hàng</a:t>
            </a:r>
            <a:endParaRPr lang="en-US" sz="1100" dirty="0"/>
          </a:p>
        </p:txBody>
      </p:sp>
      <p:sp>
        <p:nvSpPr>
          <p:cNvPr id="33" name="Text 31"/>
          <p:cNvSpPr/>
          <p:nvPr/>
        </p:nvSpPr>
        <p:spPr>
          <a:xfrm>
            <a:off x="381000" y="4673798"/>
            <a:ext cx="8549640" cy="114300"/>
          </a:xfrm>
          <a:prstGeom prst="rect">
            <a:avLst/>
          </a:prstGeom>
          <a:noFill/>
          <a:ln/>
        </p:spPr>
        <p:txBody>
          <a:bodyPr wrap="square" lIns="0" tIns="0" rIns="0" bIns="0" rtlCol="0" anchor="t"/>
          <a:lstStyle/>
          <a:p>
            <a:pPr algn="l" indent="0" marL="0">
              <a:spcAft>
                <a:spcPts val="800"/>
              </a:spcAft>
              <a:buNone/>
            </a:pPr>
            <a:r>
              <a:rPr lang="en-US" sz="800" dirty="0">
                <a:solidFill>
                  <a:srgbClr val="5C7470"/>
                </a:solidFill>
                <a:latin typeface="Arial" pitchFamily="34" charset="0"/>
                <a:ea typeface="Arial" pitchFamily="34" charset="-122"/>
                <a:cs typeface="Arial" pitchFamily="34" charset="-120"/>
              </a:rPr>
              <a:t>xanhSM · AI Quality Intelligence Platform · AI20K Cohort 2 — Team 116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30101"/>
            <a:ext cx="8549640" cy="142875"/>
          </a:xfrm>
          <a:prstGeom prst="rect">
            <a:avLst/>
          </a:prstGeom>
          <a:noFill/>
          <a:ln/>
        </p:spPr>
        <p:txBody>
          <a:bodyPr wrap="square" lIns="0" tIns="0" rIns="0" bIns="0" rtlCol="0" anchor="t"/>
          <a:lstStyle/>
          <a:p>
            <a:pPr algn="l" indent="0" marL="0">
              <a:spcAft>
                <a:spcPts val="400"/>
              </a:spcAft>
              <a:buNone/>
            </a:pPr>
            <a:r>
              <a:rPr lang="en-US" sz="1000" b="1" dirty="0">
                <a:solidFill>
                  <a:srgbClr val="0E8C84"/>
                </a:solidFill>
                <a:latin typeface="Arial" pitchFamily="34" charset="0"/>
                <a:ea typeface="Arial" pitchFamily="34" charset="-122"/>
                <a:cs typeface="Arial" pitchFamily="34" charset="-120"/>
              </a:rPr>
              <a:t>BÀI TOÁN</a:t>
            </a:r>
            <a:endParaRPr lang="en-US" sz="1000" dirty="0"/>
          </a:p>
        </p:txBody>
      </p:sp>
      <p:sp>
        <p:nvSpPr>
          <p:cNvPr id="3" name="Text 1"/>
          <p:cNvSpPr/>
          <p:nvPr/>
        </p:nvSpPr>
        <p:spPr>
          <a:xfrm>
            <a:off x="381000" y="523726"/>
            <a:ext cx="8549640" cy="685502"/>
          </a:xfrm>
          <a:prstGeom prst="rect">
            <a:avLst/>
          </a:prstGeom>
          <a:noFill/>
          <a:ln/>
        </p:spPr>
        <p:txBody>
          <a:bodyPr wrap="square" lIns="0" tIns="0" rIns="0" bIns="0" rtlCol="0" anchor="t"/>
          <a:lstStyle/>
          <a:p>
            <a:pPr algn="l" indent="0" marL="0">
              <a:lnSpc>
                <a:spcPts val="2700"/>
              </a:lnSpc>
              <a:buNone/>
            </a:pPr>
            <a:r>
              <a:rPr lang="en-US" sz="2500" b="1" dirty="0">
                <a:solidFill>
                  <a:srgbClr val="0B5E5C"/>
                </a:solidFill>
                <a:latin typeface="Arial" pitchFamily="34" charset="0"/>
                <a:ea typeface="Arial" pitchFamily="34" charset="-122"/>
                <a:cs typeface="Arial" pitchFamily="34" charset="-120"/>
              </a:rPr>
              <a:t>Biến phản hồi thô thành hành động được giao đúng người</a:t>
            </a:r>
            <a:endParaRPr lang="en-US" sz="2500" dirty="0"/>
          </a:p>
        </p:txBody>
      </p:sp>
      <p:sp>
        <p:nvSpPr>
          <p:cNvPr id="4" name="Text 2"/>
          <p:cNvSpPr/>
          <p:nvPr/>
        </p:nvSpPr>
        <p:spPr>
          <a:xfrm>
            <a:off x="381000" y="1272629"/>
            <a:ext cx="8549640" cy="181570"/>
          </a:xfrm>
          <a:prstGeom prst="rect">
            <a:avLst/>
          </a:prstGeom>
          <a:noFill/>
          <a:ln/>
        </p:spPr>
        <p:txBody>
          <a:bodyPr wrap="square" lIns="0" tIns="0" rIns="0" bIns="0" rtlCol="0" anchor="t"/>
          <a:lstStyle/>
          <a:p>
            <a:pPr algn="l" indent="0" marL="0">
              <a:lnSpc>
                <a:spcPts val="1430"/>
              </a:lnSpc>
              <a:spcBef>
                <a:spcPts val="500"/>
              </a:spcBef>
              <a:buNone/>
            </a:pPr>
            <a:r>
              <a:rPr lang="en-US" sz="1100" dirty="0">
                <a:solidFill>
                  <a:srgbClr val="5C7470"/>
                </a:solidFill>
                <a:latin typeface="Arial" pitchFamily="34" charset="0"/>
                <a:ea typeface="Arial" pitchFamily="34" charset="-122"/>
                <a:cs typeface="Arial" pitchFamily="34" charset="-120"/>
              </a:rPr>
              <a:t>Một luồng tự động, khép kín — từ lúc khách nói, đến lúc đúng phòng ban nhận việc và xử lý dứt điểm.</a:t>
            </a:r>
            <a:endParaRPr lang="en-US" sz="1100" dirty="0"/>
          </a:p>
        </p:txBody>
      </p:sp>
      <p:sp>
        <p:nvSpPr>
          <p:cNvPr id="5" name="Text 3"/>
          <p:cNvSpPr/>
          <p:nvPr/>
        </p:nvSpPr>
        <p:spPr>
          <a:xfrm>
            <a:off x="381000" y="1708100"/>
            <a:ext cx="1527423" cy="1151930"/>
          </a:xfrm>
          <a:prstGeom prst="roundRect">
            <a:avLst>
              <a:gd name="adj" fmla="val 11025"/>
            </a:avLst>
          </a:prstGeom>
          <a:solidFill>
            <a:srgbClr val="FFFFFF"/>
          </a:solidFill>
          <a:ln/>
        </p:spPr>
        <p:txBody>
          <a:bodyPr wrap="square" rtlCol="0" anchor="ctr"/>
          <a:lstStyle/>
          <a:p>
            <a:pPr indent="0" marL="0">
              <a:buNone/>
            </a:pPr>
            <a:endParaRPr lang="en-US" dirty="0"/>
          </a:p>
        </p:txBody>
      </p:sp>
      <p:sp>
        <p:nvSpPr>
          <p:cNvPr id="6" name="Shape 4"/>
          <p:cNvSpPr/>
          <p:nvPr/>
        </p:nvSpPr>
        <p:spPr>
          <a:xfrm>
            <a:off x="381000" y="1731913"/>
            <a:ext cx="1527423" cy="0"/>
          </a:xfrm>
          <a:prstGeom prst="line">
            <a:avLst/>
          </a:prstGeom>
          <a:noFill/>
          <a:ln w="47625">
            <a:solidFill>
              <a:srgbClr val="0E8C84"/>
            </a:solidFill>
            <a:prstDash val="solid"/>
          </a:ln>
        </p:spPr>
      </p:sp>
      <p:sp>
        <p:nvSpPr>
          <p:cNvPr id="7" name="Shape 5"/>
          <p:cNvSpPr/>
          <p:nvPr/>
        </p:nvSpPr>
        <p:spPr>
          <a:xfrm>
            <a:off x="1903661" y="1708100"/>
            <a:ext cx="0" cy="1151930"/>
          </a:xfrm>
          <a:prstGeom prst="line">
            <a:avLst/>
          </a:prstGeom>
          <a:noFill/>
          <a:ln w="9525">
            <a:solidFill>
              <a:srgbClr val="D9E8E4"/>
            </a:solidFill>
            <a:prstDash val="solid"/>
          </a:ln>
        </p:spPr>
      </p:sp>
      <p:sp>
        <p:nvSpPr>
          <p:cNvPr id="8" name="Shape 6"/>
          <p:cNvSpPr/>
          <p:nvPr/>
        </p:nvSpPr>
        <p:spPr>
          <a:xfrm>
            <a:off x="381000" y="2855268"/>
            <a:ext cx="1527423" cy="0"/>
          </a:xfrm>
          <a:prstGeom prst="line">
            <a:avLst/>
          </a:prstGeom>
          <a:noFill/>
          <a:ln w="9525">
            <a:solidFill>
              <a:srgbClr val="D9E8E4"/>
            </a:solidFill>
            <a:prstDash val="solid"/>
          </a:ln>
        </p:spPr>
      </p:sp>
      <p:sp>
        <p:nvSpPr>
          <p:cNvPr id="9" name="Shape 7"/>
          <p:cNvSpPr/>
          <p:nvPr/>
        </p:nvSpPr>
        <p:spPr>
          <a:xfrm>
            <a:off x="385763" y="1708100"/>
            <a:ext cx="0" cy="1151930"/>
          </a:xfrm>
          <a:prstGeom prst="line">
            <a:avLst/>
          </a:prstGeom>
          <a:noFill/>
          <a:ln w="9525">
            <a:solidFill>
              <a:srgbClr val="D9E8E4"/>
            </a:solidFill>
            <a:prstDash val="solid"/>
          </a:ln>
        </p:spPr>
      </p:sp>
      <p:sp>
        <p:nvSpPr>
          <p:cNvPr id="10" name="Text 8"/>
          <p:cNvSpPr/>
          <p:nvPr/>
        </p:nvSpPr>
        <p:spPr>
          <a:xfrm>
            <a:off x="1036552" y="1908125"/>
            <a:ext cx="216170" cy="219075"/>
          </a:xfrm>
          <a:prstGeom prst="rect">
            <a:avLst/>
          </a:prstGeom>
          <a:noFill/>
          <a:ln/>
        </p:spPr>
        <p:txBody>
          <a:bodyPr wrap="square" lIns="0" tIns="0" rIns="0" bIns="0" rtlCol="0" anchor="t"/>
          <a:lstStyle/>
          <a:p>
            <a:pPr algn="ctr" indent="0" marL="0">
              <a:buNone/>
            </a:pPr>
            <a:r>
              <a:rPr lang="en-US" sz="1500" b="1" dirty="0">
                <a:solidFill>
                  <a:srgbClr val="0E8C84"/>
                </a:solidFill>
                <a:latin typeface="Arial" pitchFamily="34" charset="0"/>
                <a:ea typeface="Arial" pitchFamily="34" charset="-122"/>
                <a:cs typeface="Arial" pitchFamily="34" charset="-120"/>
              </a:rPr>
              <a:t>01</a:t>
            </a:r>
            <a:endParaRPr lang="en-US" sz="1500" dirty="0"/>
          </a:p>
        </p:txBody>
      </p:sp>
      <p:sp>
        <p:nvSpPr>
          <p:cNvPr id="11" name="Text 9"/>
          <p:cNvSpPr/>
          <p:nvPr/>
        </p:nvSpPr>
        <p:spPr>
          <a:xfrm>
            <a:off x="672828" y="2203400"/>
            <a:ext cx="943618" cy="329803"/>
          </a:xfrm>
          <a:prstGeom prst="rect">
            <a:avLst/>
          </a:prstGeom>
          <a:noFill/>
          <a:ln/>
        </p:spPr>
        <p:txBody>
          <a:bodyPr wrap="square" lIns="0" tIns="0" rIns="0" bIns="0" rtlCol="0" anchor="t"/>
          <a:lstStyle/>
          <a:p>
            <a:pPr algn="ctr" indent="0" marL="0">
              <a:lnSpc>
                <a:spcPts val="1300"/>
              </a:lnSpc>
              <a:spcBef>
                <a:spcPts val="600"/>
              </a:spcBef>
              <a:buNone/>
            </a:pPr>
            <a:r>
              <a:rPr lang="en-US" sz="1000" dirty="0">
                <a:solidFill>
                  <a:srgbClr val="0E2B29"/>
                </a:solidFill>
                <a:latin typeface="Arial" pitchFamily="34" charset="0"/>
                <a:ea typeface="Arial" pitchFamily="34" charset="-122"/>
                <a:cs typeface="Arial" pitchFamily="34" charset="-120"/>
              </a:rPr>
              <a:t>Tiếp nhận</a:t>
            </a:r>
            <a:endParaRPr lang="en-US" sz="1000" dirty="0"/>
          </a:p>
          <a:p>
            <a:pPr algn="ctr" indent="0" marL="0">
              <a:lnSpc>
                <a:spcPts val="1300"/>
              </a:lnSpc>
              <a:spcBef>
                <a:spcPts val="600"/>
              </a:spcBef>
              <a:buNone/>
            </a:pPr>
            <a:r>
              <a:rPr lang="en-US" sz="1000" dirty="0">
                <a:solidFill>
                  <a:srgbClr val="0E2B29"/>
                </a:solidFill>
                <a:latin typeface="Arial" pitchFamily="34" charset="0"/>
                <a:ea typeface="Arial" pitchFamily="34" charset="-122"/>
                <a:cs typeface="Arial" pitchFamily="34" charset="-120"/>
              </a:rPr>
              <a:t>tự động đa kênh</a:t>
            </a:r>
            <a:endParaRPr lang="en-US" sz="1000" dirty="0"/>
          </a:p>
        </p:txBody>
      </p:sp>
      <p:sp>
        <p:nvSpPr>
          <p:cNvPr id="12" name="Text 10"/>
          <p:cNvSpPr/>
          <p:nvPr/>
        </p:nvSpPr>
        <p:spPr>
          <a:xfrm>
            <a:off x="1959173" y="2136428"/>
            <a:ext cx="86377" cy="295275"/>
          </a:xfrm>
          <a:prstGeom prst="rect">
            <a:avLst/>
          </a:prstGeom>
          <a:noFill/>
          <a:ln/>
        </p:spPr>
        <p:txBody>
          <a:bodyPr wrap="square" lIns="0" tIns="0" rIns="0" bIns="0" rtlCol="0" anchor="t"/>
          <a:lstStyle/>
          <a:p>
            <a:pPr algn="l" indent="0" marL="0">
              <a:buNone/>
            </a:pPr>
            <a:r>
              <a:rPr lang="en-US" sz="2000" b="1" dirty="0">
                <a:solidFill>
                  <a:srgbClr val="34D399"/>
                </a:solidFill>
                <a:latin typeface="Arial" pitchFamily="34" charset="0"/>
                <a:ea typeface="Arial" pitchFamily="34" charset="-122"/>
                <a:cs typeface="Arial" pitchFamily="34" charset="-120"/>
              </a:rPr>
              <a:t>›</a:t>
            </a:r>
            <a:endParaRPr lang="en-US" sz="2000" dirty="0"/>
          </a:p>
        </p:txBody>
      </p:sp>
      <p:sp>
        <p:nvSpPr>
          <p:cNvPr id="13" name="Text 11"/>
          <p:cNvSpPr/>
          <p:nvPr/>
        </p:nvSpPr>
        <p:spPr>
          <a:xfrm>
            <a:off x="2094607" y="1708100"/>
            <a:ext cx="1527572" cy="1151930"/>
          </a:xfrm>
          <a:prstGeom prst="roundRect">
            <a:avLst>
              <a:gd name="adj" fmla="val 11025"/>
            </a:avLst>
          </a:prstGeom>
          <a:solidFill>
            <a:srgbClr val="FFFFFF"/>
          </a:solidFill>
          <a:ln/>
        </p:spPr>
        <p:txBody>
          <a:bodyPr wrap="square" rtlCol="0" anchor="ctr"/>
          <a:lstStyle/>
          <a:p>
            <a:pPr indent="0" marL="0">
              <a:buNone/>
            </a:pPr>
            <a:endParaRPr lang="en-US" dirty="0"/>
          </a:p>
        </p:txBody>
      </p:sp>
      <p:sp>
        <p:nvSpPr>
          <p:cNvPr id="14" name="Shape 12"/>
          <p:cNvSpPr/>
          <p:nvPr/>
        </p:nvSpPr>
        <p:spPr>
          <a:xfrm>
            <a:off x="2094607" y="1731913"/>
            <a:ext cx="1527572" cy="0"/>
          </a:xfrm>
          <a:prstGeom prst="line">
            <a:avLst/>
          </a:prstGeom>
          <a:noFill/>
          <a:ln w="47625">
            <a:solidFill>
              <a:srgbClr val="0E8C84"/>
            </a:solidFill>
            <a:prstDash val="solid"/>
          </a:ln>
        </p:spPr>
      </p:sp>
      <p:sp>
        <p:nvSpPr>
          <p:cNvPr id="15" name="Shape 13"/>
          <p:cNvSpPr/>
          <p:nvPr/>
        </p:nvSpPr>
        <p:spPr>
          <a:xfrm>
            <a:off x="3617416" y="1708100"/>
            <a:ext cx="0" cy="1151930"/>
          </a:xfrm>
          <a:prstGeom prst="line">
            <a:avLst/>
          </a:prstGeom>
          <a:noFill/>
          <a:ln w="9525">
            <a:solidFill>
              <a:srgbClr val="D9E8E4"/>
            </a:solidFill>
            <a:prstDash val="solid"/>
          </a:ln>
        </p:spPr>
      </p:sp>
      <p:sp>
        <p:nvSpPr>
          <p:cNvPr id="16" name="Shape 14"/>
          <p:cNvSpPr/>
          <p:nvPr/>
        </p:nvSpPr>
        <p:spPr>
          <a:xfrm>
            <a:off x="2094607" y="2855268"/>
            <a:ext cx="1527572" cy="0"/>
          </a:xfrm>
          <a:prstGeom prst="line">
            <a:avLst/>
          </a:prstGeom>
          <a:noFill/>
          <a:ln w="9525">
            <a:solidFill>
              <a:srgbClr val="D9E8E4"/>
            </a:solidFill>
            <a:prstDash val="solid"/>
          </a:ln>
        </p:spPr>
      </p:sp>
      <p:sp>
        <p:nvSpPr>
          <p:cNvPr id="17" name="Shape 15"/>
          <p:cNvSpPr/>
          <p:nvPr/>
        </p:nvSpPr>
        <p:spPr>
          <a:xfrm>
            <a:off x="2099370" y="1708100"/>
            <a:ext cx="0" cy="1151930"/>
          </a:xfrm>
          <a:prstGeom prst="line">
            <a:avLst/>
          </a:prstGeom>
          <a:noFill/>
          <a:ln w="9525">
            <a:solidFill>
              <a:srgbClr val="D9E8E4"/>
            </a:solidFill>
            <a:prstDash val="solid"/>
          </a:ln>
        </p:spPr>
      </p:sp>
      <p:sp>
        <p:nvSpPr>
          <p:cNvPr id="18" name="Text 16"/>
          <p:cNvSpPr/>
          <p:nvPr/>
        </p:nvSpPr>
        <p:spPr>
          <a:xfrm>
            <a:off x="2750308" y="1908125"/>
            <a:ext cx="216170" cy="219075"/>
          </a:xfrm>
          <a:prstGeom prst="rect">
            <a:avLst/>
          </a:prstGeom>
          <a:noFill/>
          <a:ln/>
        </p:spPr>
        <p:txBody>
          <a:bodyPr wrap="square" lIns="0" tIns="0" rIns="0" bIns="0" rtlCol="0" anchor="t"/>
          <a:lstStyle/>
          <a:p>
            <a:pPr algn="ctr" indent="0" marL="0">
              <a:buNone/>
            </a:pPr>
            <a:r>
              <a:rPr lang="en-US" sz="1500" b="1" dirty="0">
                <a:solidFill>
                  <a:srgbClr val="0E8C84"/>
                </a:solidFill>
                <a:latin typeface="Arial" pitchFamily="34" charset="0"/>
                <a:ea typeface="Arial" pitchFamily="34" charset="-122"/>
                <a:cs typeface="Arial" pitchFamily="34" charset="-120"/>
              </a:rPr>
              <a:t>02</a:t>
            </a:r>
            <a:endParaRPr lang="en-US" sz="1500" dirty="0"/>
          </a:p>
        </p:txBody>
      </p:sp>
      <p:sp>
        <p:nvSpPr>
          <p:cNvPr id="19" name="Text 17"/>
          <p:cNvSpPr/>
          <p:nvPr/>
        </p:nvSpPr>
        <p:spPr>
          <a:xfrm>
            <a:off x="2192578" y="2203400"/>
            <a:ext cx="1331631" cy="494705"/>
          </a:xfrm>
          <a:prstGeom prst="rect">
            <a:avLst/>
          </a:prstGeom>
          <a:noFill/>
          <a:ln/>
        </p:spPr>
        <p:txBody>
          <a:bodyPr wrap="square" lIns="0" tIns="0" rIns="0" bIns="0" rtlCol="0" anchor="t"/>
          <a:lstStyle/>
          <a:p>
            <a:pPr algn="ctr" indent="0" marL="0">
              <a:lnSpc>
                <a:spcPts val="1300"/>
              </a:lnSpc>
              <a:spcBef>
                <a:spcPts val="600"/>
              </a:spcBef>
              <a:buNone/>
            </a:pPr>
            <a:r>
              <a:rPr lang="en-US" sz="1000" dirty="0">
                <a:solidFill>
                  <a:srgbClr val="0E2B29"/>
                </a:solidFill>
                <a:latin typeface="Arial" pitchFamily="34" charset="0"/>
                <a:ea typeface="Arial" pitchFamily="34" charset="-122"/>
                <a:cs typeface="Arial" pitchFamily="34" charset="-120"/>
              </a:rPr>
              <a:t>Phân loại</a:t>
            </a:r>
            <a:endParaRPr lang="en-US" sz="1000" dirty="0"/>
          </a:p>
          <a:p>
            <a:pPr algn="ctr" indent="0" marL="0">
              <a:lnSpc>
                <a:spcPts val="1300"/>
              </a:lnSpc>
              <a:spcBef>
                <a:spcPts val="600"/>
              </a:spcBef>
              <a:buNone/>
            </a:pPr>
            <a:r>
              <a:rPr lang="en-US" sz="1000" dirty="0">
                <a:solidFill>
                  <a:srgbClr val="0E2B29"/>
                </a:solidFill>
                <a:latin typeface="Arial" pitchFamily="34" charset="0"/>
                <a:ea typeface="Arial" pitchFamily="34" charset="-122"/>
                <a:cs typeface="Arial" pitchFamily="34" charset="-120"/>
              </a:rPr>
              <a:t>topic · cảm xúc · mức độ</a:t>
            </a:r>
            <a:endParaRPr lang="en-US" sz="1000" dirty="0"/>
          </a:p>
        </p:txBody>
      </p:sp>
      <p:sp>
        <p:nvSpPr>
          <p:cNvPr id="20" name="Text 18"/>
          <p:cNvSpPr/>
          <p:nvPr/>
        </p:nvSpPr>
        <p:spPr>
          <a:xfrm>
            <a:off x="3672929" y="2136428"/>
            <a:ext cx="86377" cy="295275"/>
          </a:xfrm>
          <a:prstGeom prst="rect">
            <a:avLst/>
          </a:prstGeom>
          <a:noFill/>
          <a:ln/>
        </p:spPr>
        <p:txBody>
          <a:bodyPr wrap="square" lIns="0" tIns="0" rIns="0" bIns="0" rtlCol="0" anchor="t"/>
          <a:lstStyle/>
          <a:p>
            <a:pPr algn="l" indent="0" marL="0">
              <a:buNone/>
            </a:pPr>
            <a:r>
              <a:rPr lang="en-US" sz="2000" b="1" dirty="0">
                <a:solidFill>
                  <a:srgbClr val="34D399"/>
                </a:solidFill>
                <a:latin typeface="Arial" pitchFamily="34" charset="0"/>
                <a:ea typeface="Arial" pitchFamily="34" charset="-122"/>
                <a:cs typeface="Arial" pitchFamily="34" charset="-120"/>
              </a:rPr>
              <a:t>›</a:t>
            </a:r>
            <a:endParaRPr lang="en-US" sz="2000" dirty="0"/>
          </a:p>
        </p:txBody>
      </p:sp>
      <p:sp>
        <p:nvSpPr>
          <p:cNvPr id="21" name="Text 19"/>
          <p:cNvSpPr/>
          <p:nvPr/>
        </p:nvSpPr>
        <p:spPr>
          <a:xfrm>
            <a:off x="3808363" y="1708100"/>
            <a:ext cx="1527423" cy="1151930"/>
          </a:xfrm>
          <a:prstGeom prst="roundRect">
            <a:avLst>
              <a:gd name="adj" fmla="val 11025"/>
            </a:avLst>
          </a:prstGeom>
          <a:solidFill>
            <a:srgbClr val="FFFFFF"/>
          </a:solidFill>
          <a:ln/>
        </p:spPr>
        <p:txBody>
          <a:bodyPr wrap="square" rtlCol="0" anchor="ctr"/>
          <a:lstStyle/>
          <a:p>
            <a:pPr indent="0" marL="0">
              <a:buNone/>
            </a:pPr>
            <a:endParaRPr lang="en-US" dirty="0"/>
          </a:p>
        </p:txBody>
      </p:sp>
      <p:sp>
        <p:nvSpPr>
          <p:cNvPr id="22" name="Shape 20"/>
          <p:cNvSpPr/>
          <p:nvPr/>
        </p:nvSpPr>
        <p:spPr>
          <a:xfrm>
            <a:off x="3808363" y="1731913"/>
            <a:ext cx="1527423" cy="0"/>
          </a:xfrm>
          <a:prstGeom prst="line">
            <a:avLst/>
          </a:prstGeom>
          <a:noFill/>
          <a:ln w="47625">
            <a:solidFill>
              <a:srgbClr val="0E8C84"/>
            </a:solidFill>
            <a:prstDash val="solid"/>
          </a:ln>
        </p:spPr>
      </p:sp>
      <p:sp>
        <p:nvSpPr>
          <p:cNvPr id="23" name="Shape 21"/>
          <p:cNvSpPr/>
          <p:nvPr/>
        </p:nvSpPr>
        <p:spPr>
          <a:xfrm>
            <a:off x="5331023" y="1708100"/>
            <a:ext cx="0" cy="1151930"/>
          </a:xfrm>
          <a:prstGeom prst="line">
            <a:avLst/>
          </a:prstGeom>
          <a:noFill/>
          <a:ln w="9525">
            <a:solidFill>
              <a:srgbClr val="D9E8E4"/>
            </a:solidFill>
            <a:prstDash val="solid"/>
          </a:ln>
        </p:spPr>
      </p:sp>
      <p:sp>
        <p:nvSpPr>
          <p:cNvPr id="24" name="Shape 22"/>
          <p:cNvSpPr/>
          <p:nvPr/>
        </p:nvSpPr>
        <p:spPr>
          <a:xfrm>
            <a:off x="3808363" y="2855268"/>
            <a:ext cx="1527423" cy="0"/>
          </a:xfrm>
          <a:prstGeom prst="line">
            <a:avLst/>
          </a:prstGeom>
          <a:noFill/>
          <a:ln w="9525">
            <a:solidFill>
              <a:srgbClr val="D9E8E4"/>
            </a:solidFill>
            <a:prstDash val="solid"/>
          </a:ln>
        </p:spPr>
      </p:sp>
      <p:sp>
        <p:nvSpPr>
          <p:cNvPr id="25" name="Shape 23"/>
          <p:cNvSpPr/>
          <p:nvPr/>
        </p:nvSpPr>
        <p:spPr>
          <a:xfrm>
            <a:off x="3813125" y="1708100"/>
            <a:ext cx="0" cy="1151930"/>
          </a:xfrm>
          <a:prstGeom prst="line">
            <a:avLst/>
          </a:prstGeom>
          <a:noFill/>
          <a:ln w="9525">
            <a:solidFill>
              <a:srgbClr val="D9E8E4"/>
            </a:solidFill>
            <a:prstDash val="solid"/>
          </a:ln>
        </p:spPr>
      </p:sp>
      <p:sp>
        <p:nvSpPr>
          <p:cNvPr id="26" name="Text 24"/>
          <p:cNvSpPr/>
          <p:nvPr/>
        </p:nvSpPr>
        <p:spPr>
          <a:xfrm>
            <a:off x="4463915" y="1908125"/>
            <a:ext cx="216170" cy="219075"/>
          </a:xfrm>
          <a:prstGeom prst="rect">
            <a:avLst/>
          </a:prstGeom>
          <a:noFill/>
          <a:ln/>
        </p:spPr>
        <p:txBody>
          <a:bodyPr wrap="square" lIns="0" tIns="0" rIns="0" bIns="0" rtlCol="0" anchor="t"/>
          <a:lstStyle/>
          <a:p>
            <a:pPr algn="ctr" indent="0" marL="0">
              <a:buNone/>
            </a:pPr>
            <a:r>
              <a:rPr lang="en-US" sz="1500" b="1" dirty="0">
                <a:solidFill>
                  <a:srgbClr val="0E8C84"/>
                </a:solidFill>
                <a:latin typeface="Arial" pitchFamily="34" charset="0"/>
                <a:ea typeface="Arial" pitchFamily="34" charset="-122"/>
                <a:cs typeface="Arial" pitchFamily="34" charset="-120"/>
              </a:rPr>
              <a:t>03</a:t>
            </a:r>
            <a:endParaRPr lang="en-US" sz="1500" dirty="0"/>
          </a:p>
        </p:txBody>
      </p:sp>
      <p:sp>
        <p:nvSpPr>
          <p:cNvPr id="27" name="Text 25"/>
          <p:cNvSpPr/>
          <p:nvPr/>
        </p:nvSpPr>
        <p:spPr>
          <a:xfrm>
            <a:off x="4028386" y="2203400"/>
            <a:ext cx="1087377" cy="329803"/>
          </a:xfrm>
          <a:prstGeom prst="rect">
            <a:avLst/>
          </a:prstGeom>
          <a:noFill/>
          <a:ln/>
        </p:spPr>
        <p:txBody>
          <a:bodyPr wrap="square" lIns="0" tIns="0" rIns="0" bIns="0" rtlCol="0" anchor="t"/>
          <a:lstStyle/>
          <a:p>
            <a:pPr algn="ctr" indent="0" marL="0">
              <a:lnSpc>
                <a:spcPts val="1300"/>
              </a:lnSpc>
              <a:spcBef>
                <a:spcPts val="600"/>
              </a:spcBef>
              <a:buNone/>
            </a:pPr>
            <a:r>
              <a:rPr lang="en-US" sz="1000" dirty="0">
                <a:solidFill>
                  <a:srgbClr val="0E2B29"/>
                </a:solidFill>
                <a:latin typeface="Arial" pitchFamily="34" charset="0"/>
                <a:ea typeface="Arial" pitchFamily="34" charset="-122"/>
                <a:cs typeface="Arial" pitchFamily="34" charset="-120"/>
              </a:rPr>
              <a:t>Phát hiện sớm</a:t>
            </a:r>
            <a:endParaRPr lang="en-US" sz="1000" dirty="0"/>
          </a:p>
          <a:p>
            <a:pPr algn="ctr" indent="0" marL="0">
              <a:lnSpc>
                <a:spcPts val="1300"/>
              </a:lnSpc>
              <a:spcBef>
                <a:spcPts val="600"/>
              </a:spcBef>
              <a:buNone/>
            </a:pPr>
            <a:r>
              <a:rPr lang="en-US" sz="1000" dirty="0">
                <a:solidFill>
                  <a:srgbClr val="0E2B29"/>
                </a:solidFill>
                <a:latin typeface="Arial" pitchFamily="34" charset="0"/>
                <a:ea typeface="Arial" pitchFamily="34" charset="-122"/>
                <a:cs typeface="Arial" pitchFamily="34" charset="-120"/>
              </a:rPr>
              <a:t>điểm nóng &amp; sự cố</a:t>
            </a:r>
            <a:endParaRPr lang="en-US" sz="1000" dirty="0"/>
          </a:p>
        </p:txBody>
      </p:sp>
      <p:sp>
        <p:nvSpPr>
          <p:cNvPr id="28" name="Text 26"/>
          <p:cNvSpPr/>
          <p:nvPr/>
        </p:nvSpPr>
        <p:spPr>
          <a:xfrm>
            <a:off x="5386536" y="2136428"/>
            <a:ext cx="86377" cy="295275"/>
          </a:xfrm>
          <a:prstGeom prst="rect">
            <a:avLst/>
          </a:prstGeom>
          <a:noFill/>
          <a:ln/>
        </p:spPr>
        <p:txBody>
          <a:bodyPr wrap="square" lIns="0" tIns="0" rIns="0" bIns="0" rtlCol="0" anchor="t"/>
          <a:lstStyle/>
          <a:p>
            <a:pPr algn="l" indent="0" marL="0">
              <a:buNone/>
            </a:pPr>
            <a:r>
              <a:rPr lang="en-US" sz="2000" b="1" dirty="0">
                <a:solidFill>
                  <a:srgbClr val="34D399"/>
                </a:solidFill>
                <a:latin typeface="Arial" pitchFamily="34" charset="0"/>
                <a:ea typeface="Arial" pitchFamily="34" charset="-122"/>
                <a:cs typeface="Arial" pitchFamily="34" charset="-120"/>
              </a:rPr>
              <a:t>›</a:t>
            </a:r>
            <a:endParaRPr lang="en-US" sz="2000" dirty="0"/>
          </a:p>
        </p:txBody>
      </p:sp>
      <p:sp>
        <p:nvSpPr>
          <p:cNvPr id="29" name="Text 27"/>
          <p:cNvSpPr/>
          <p:nvPr/>
        </p:nvSpPr>
        <p:spPr>
          <a:xfrm>
            <a:off x="5521970" y="1708100"/>
            <a:ext cx="1527423" cy="1151930"/>
          </a:xfrm>
          <a:prstGeom prst="roundRect">
            <a:avLst>
              <a:gd name="adj" fmla="val 11025"/>
            </a:avLst>
          </a:prstGeom>
          <a:solidFill>
            <a:srgbClr val="FFFFFF"/>
          </a:solidFill>
          <a:ln/>
        </p:spPr>
        <p:txBody>
          <a:bodyPr wrap="square" rtlCol="0" anchor="ctr"/>
          <a:lstStyle/>
          <a:p>
            <a:pPr indent="0" marL="0">
              <a:buNone/>
            </a:pPr>
            <a:endParaRPr lang="en-US" dirty="0"/>
          </a:p>
        </p:txBody>
      </p:sp>
      <p:sp>
        <p:nvSpPr>
          <p:cNvPr id="30" name="Shape 28"/>
          <p:cNvSpPr/>
          <p:nvPr/>
        </p:nvSpPr>
        <p:spPr>
          <a:xfrm>
            <a:off x="5521970" y="1731913"/>
            <a:ext cx="1527423" cy="0"/>
          </a:xfrm>
          <a:prstGeom prst="line">
            <a:avLst/>
          </a:prstGeom>
          <a:noFill/>
          <a:ln w="47625">
            <a:solidFill>
              <a:srgbClr val="0E8C84"/>
            </a:solidFill>
            <a:prstDash val="solid"/>
          </a:ln>
        </p:spPr>
      </p:sp>
      <p:sp>
        <p:nvSpPr>
          <p:cNvPr id="31" name="Shape 29"/>
          <p:cNvSpPr/>
          <p:nvPr/>
        </p:nvSpPr>
        <p:spPr>
          <a:xfrm>
            <a:off x="7044630" y="1708100"/>
            <a:ext cx="0" cy="1151930"/>
          </a:xfrm>
          <a:prstGeom prst="line">
            <a:avLst/>
          </a:prstGeom>
          <a:noFill/>
          <a:ln w="9525">
            <a:solidFill>
              <a:srgbClr val="D9E8E4"/>
            </a:solidFill>
            <a:prstDash val="solid"/>
          </a:ln>
        </p:spPr>
      </p:sp>
      <p:sp>
        <p:nvSpPr>
          <p:cNvPr id="32" name="Shape 30"/>
          <p:cNvSpPr/>
          <p:nvPr/>
        </p:nvSpPr>
        <p:spPr>
          <a:xfrm>
            <a:off x="5521970" y="2855268"/>
            <a:ext cx="1527423" cy="0"/>
          </a:xfrm>
          <a:prstGeom prst="line">
            <a:avLst/>
          </a:prstGeom>
          <a:noFill/>
          <a:ln w="9525">
            <a:solidFill>
              <a:srgbClr val="D9E8E4"/>
            </a:solidFill>
            <a:prstDash val="solid"/>
          </a:ln>
        </p:spPr>
      </p:sp>
      <p:sp>
        <p:nvSpPr>
          <p:cNvPr id="33" name="Shape 31"/>
          <p:cNvSpPr/>
          <p:nvPr/>
        </p:nvSpPr>
        <p:spPr>
          <a:xfrm>
            <a:off x="5526732" y="1708100"/>
            <a:ext cx="0" cy="1151930"/>
          </a:xfrm>
          <a:prstGeom prst="line">
            <a:avLst/>
          </a:prstGeom>
          <a:noFill/>
          <a:ln w="9525">
            <a:solidFill>
              <a:srgbClr val="D9E8E4"/>
            </a:solidFill>
            <a:prstDash val="solid"/>
          </a:ln>
        </p:spPr>
      </p:sp>
      <p:sp>
        <p:nvSpPr>
          <p:cNvPr id="34" name="Text 32"/>
          <p:cNvSpPr/>
          <p:nvPr/>
        </p:nvSpPr>
        <p:spPr>
          <a:xfrm>
            <a:off x="6177522" y="1908125"/>
            <a:ext cx="216170" cy="219075"/>
          </a:xfrm>
          <a:prstGeom prst="rect">
            <a:avLst/>
          </a:prstGeom>
          <a:noFill/>
          <a:ln/>
        </p:spPr>
        <p:txBody>
          <a:bodyPr wrap="square" lIns="0" tIns="0" rIns="0" bIns="0" rtlCol="0" anchor="t"/>
          <a:lstStyle/>
          <a:p>
            <a:pPr algn="ctr" indent="0" marL="0">
              <a:buNone/>
            </a:pPr>
            <a:r>
              <a:rPr lang="en-US" sz="1500" b="1" dirty="0">
                <a:solidFill>
                  <a:srgbClr val="0E8C84"/>
                </a:solidFill>
                <a:latin typeface="Arial" pitchFamily="34" charset="0"/>
                <a:ea typeface="Arial" pitchFamily="34" charset="-122"/>
                <a:cs typeface="Arial" pitchFamily="34" charset="-120"/>
              </a:rPr>
              <a:t>04</a:t>
            </a:r>
            <a:endParaRPr lang="en-US" sz="1500" dirty="0"/>
          </a:p>
        </p:txBody>
      </p:sp>
      <p:sp>
        <p:nvSpPr>
          <p:cNvPr id="35" name="Text 33"/>
          <p:cNvSpPr/>
          <p:nvPr/>
        </p:nvSpPr>
        <p:spPr>
          <a:xfrm>
            <a:off x="5669887" y="2203400"/>
            <a:ext cx="1231440" cy="329803"/>
          </a:xfrm>
          <a:prstGeom prst="rect">
            <a:avLst/>
          </a:prstGeom>
          <a:noFill/>
          <a:ln/>
        </p:spPr>
        <p:txBody>
          <a:bodyPr wrap="square" lIns="0" tIns="0" rIns="0" bIns="0" rtlCol="0" anchor="t"/>
          <a:lstStyle/>
          <a:p>
            <a:pPr algn="ctr" indent="0" marL="0">
              <a:lnSpc>
                <a:spcPts val="1300"/>
              </a:lnSpc>
              <a:spcBef>
                <a:spcPts val="600"/>
              </a:spcBef>
              <a:buNone/>
            </a:pPr>
            <a:r>
              <a:rPr lang="en-US" sz="1000" dirty="0">
                <a:solidFill>
                  <a:srgbClr val="0E2B29"/>
                </a:solidFill>
                <a:latin typeface="Arial" pitchFamily="34" charset="0"/>
                <a:ea typeface="Arial" pitchFamily="34" charset="-122"/>
                <a:cs typeface="Arial" pitchFamily="34" charset="-120"/>
              </a:rPr>
              <a:t>Định tuyến</a:t>
            </a:r>
            <a:endParaRPr lang="en-US" sz="1000" dirty="0"/>
          </a:p>
          <a:p>
            <a:pPr algn="ctr" indent="0" marL="0">
              <a:lnSpc>
                <a:spcPts val="1300"/>
              </a:lnSpc>
              <a:spcBef>
                <a:spcPts val="600"/>
              </a:spcBef>
              <a:buNone/>
            </a:pPr>
            <a:r>
              <a:rPr lang="en-US" sz="1000" dirty="0">
                <a:solidFill>
                  <a:srgbClr val="0E2B29"/>
                </a:solidFill>
                <a:latin typeface="Arial" pitchFamily="34" charset="0"/>
                <a:ea typeface="Arial" pitchFamily="34" charset="-122"/>
                <a:cs typeface="Arial" pitchFamily="34" charset="-120"/>
              </a:rPr>
              <a:t>đúng 1 trong 6 phòng</a:t>
            </a:r>
            <a:endParaRPr lang="en-US" sz="1000" dirty="0"/>
          </a:p>
        </p:txBody>
      </p:sp>
      <p:sp>
        <p:nvSpPr>
          <p:cNvPr id="36" name="Text 34"/>
          <p:cNvSpPr/>
          <p:nvPr/>
        </p:nvSpPr>
        <p:spPr>
          <a:xfrm>
            <a:off x="7100143" y="2136428"/>
            <a:ext cx="86377" cy="295275"/>
          </a:xfrm>
          <a:prstGeom prst="rect">
            <a:avLst/>
          </a:prstGeom>
          <a:noFill/>
          <a:ln/>
        </p:spPr>
        <p:txBody>
          <a:bodyPr wrap="square" lIns="0" tIns="0" rIns="0" bIns="0" rtlCol="0" anchor="t"/>
          <a:lstStyle/>
          <a:p>
            <a:pPr algn="l" indent="0" marL="0">
              <a:buNone/>
            </a:pPr>
            <a:r>
              <a:rPr lang="en-US" sz="2000" b="1" dirty="0">
                <a:solidFill>
                  <a:srgbClr val="34D399"/>
                </a:solidFill>
                <a:latin typeface="Arial" pitchFamily="34" charset="0"/>
                <a:ea typeface="Arial" pitchFamily="34" charset="-122"/>
                <a:cs typeface="Arial" pitchFamily="34" charset="-120"/>
              </a:rPr>
              <a:t>›</a:t>
            </a:r>
            <a:endParaRPr lang="en-US" sz="2000" dirty="0"/>
          </a:p>
        </p:txBody>
      </p:sp>
      <p:sp>
        <p:nvSpPr>
          <p:cNvPr id="37" name="Text 35"/>
          <p:cNvSpPr/>
          <p:nvPr/>
        </p:nvSpPr>
        <p:spPr>
          <a:xfrm>
            <a:off x="7235577" y="1708100"/>
            <a:ext cx="1527423" cy="1151930"/>
          </a:xfrm>
          <a:prstGeom prst="roundRect">
            <a:avLst>
              <a:gd name="adj" fmla="val 11025"/>
            </a:avLst>
          </a:prstGeom>
          <a:solidFill>
            <a:srgbClr val="FFFFFF"/>
          </a:solidFill>
          <a:ln/>
        </p:spPr>
        <p:txBody>
          <a:bodyPr wrap="square" rtlCol="0" anchor="ctr"/>
          <a:lstStyle/>
          <a:p>
            <a:pPr indent="0" marL="0">
              <a:buNone/>
            </a:pPr>
            <a:endParaRPr lang="en-US" dirty="0"/>
          </a:p>
        </p:txBody>
      </p:sp>
      <p:sp>
        <p:nvSpPr>
          <p:cNvPr id="38" name="Shape 36"/>
          <p:cNvSpPr/>
          <p:nvPr/>
        </p:nvSpPr>
        <p:spPr>
          <a:xfrm>
            <a:off x="7235577" y="1731913"/>
            <a:ext cx="1527423" cy="0"/>
          </a:xfrm>
          <a:prstGeom prst="line">
            <a:avLst/>
          </a:prstGeom>
          <a:noFill/>
          <a:ln w="47625">
            <a:solidFill>
              <a:srgbClr val="0E8C84"/>
            </a:solidFill>
            <a:prstDash val="solid"/>
          </a:ln>
        </p:spPr>
      </p:sp>
      <p:sp>
        <p:nvSpPr>
          <p:cNvPr id="39" name="Shape 37"/>
          <p:cNvSpPr/>
          <p:nvPr/>
        </p:nvSpPr>
        <p:spPr>
          <a:xfrm>
            <a:off x="8758237" y="1708100"/>
            <a:ext cx="0" cy="1151930"/>
          </a:xfrm>
          <a:prstGeom prst="line">
            <a:avLst/>
          </a:prstGeom>
          <a:noFill/>
          <a:ln w="9525">
            <a:solidFill>
              <a:srgbClr val="D9E8E4"/>
            </a:solidFill>
            <a:prstDash val="solid"/>
          </a:ln>
        </p:spPr>
      </p:sp>
      <p:sp>
        <p:nvSpPr>
          <p:cNvPr id="40" name="Shape 38"/>
          <p:cNvSpPr/>
          <p:nvPr/>
        </p:nvSpPr>
        <p:spPr>
          <a:xfrm>
            <a:off x="7235577" y="2855268"/>
            <a:ext cx="1527423" cy="0"/>
          </a:xfrm>
          <a:prstGeom prst="line">
            <a:avLst/>
          </a:prstGeom>
          <a:noFill/>
          <a:ln w="9525">
            <a:solidFill>
              <a:srgbClr val="D9E8E4"/>
            </a:solidFill>
            <a:prstDash val="solid"/>
          </a:ln>
        </p:spPr>
      </p:sp>
      <p:sp>
        <p:nvSpPr>
          <p:cNvPr id="41" name="Shape 39"/>
          <p:cNvSpPr/>
          <p:nvPr/>
        </p:nvSpPr>
        <p:spPr>
          <a:xfrm>
            <a:off x="7240339" y="1708100"/>
            <a:ext cx="0" cy="1151930"/>
          </a:xfrm>
          <a:prstGeom prst="line">
            <a:avLst/>
          </a:prstGeom>
          <a:noFill/>
          <a:ln w="9525">
            <a:solidFill>
              <a:srgbClr val="D9E8E4"/>
            </a:solidFill>
            <a:prstDash val="solid"/>
          </a:ln>
        </p:spPr>
      </p:sp>
      <p:sp>
        <p:nvSpPr>
          <p:cNvPr id="42" name="Text 40"/>
          <p:cNvSpPr/>
          <p:nvPr/>
        </p:nvSpPr>
        <p:spPr>
          <a:xfrm>
            <a:off x="7891129" y="1908125"/>
            <a:ext cx="216170" cy="219075"/>
          </a:xfrm>
          <a:prstGeom prst="rect">
            <a:avLst/>
          </a:prstGeom>
          <a:noFill/>
          <a:ln/>
        </p:spPr>
        <p:txBody>
          <a:bodyPr wrap="square" lIns="0" tIns="0" rIns="0" bIns="0" rtlCol="0" anchor="t"/>
          <a:lstStyle/>
          <a:p>
            <a:pPr algn="ctr" indent="0" marL="0">
              <a:buNone/>
            </a:pPr>
            <a:r>
              <a:rPr lang="en-US" sz="1500" b="1" dirty="0">
                <a:solidFill>
                  <a:srgbClr val="0E8C84"/>
                </a:solidFill>
                <a:latin typeface="Arial" pitchFamily="34" charset="0"/>
                <a:ea typeface="Arial" pitchFamily="34" charset="-122"/>
                <a:cs typeface="Arial" pitchFamily="34" charset="-120"/>
              </a:rPr>
              <a:t>05</a:t>
            </a:r>
            <a:endParaRPr lang="en-US" sz="1500" dirty="0"/>
          </a:p>
        </p:txBody>
      </p:sp>
      <p:sp>
        <p:nvSpPr>
          <p:cNvPr id="43" name="Text 41"/>
          <p:cNvSpPr/>
          <p:nvPr/>
        </p:nvSpPr>
        <p:spPr>
          <a:xfrm>
            <a:off x="7516779" y="2203400"/>
            <a:ext cx="964871" cy="329803"/>
          </a:xfrm>
          <a:prstGeom prst="rect">
            <a:avLst/>
          </a:prstGeom>
          <a:noFill/>
          <a:ln/>
        </p:spPr>
        <p:txBody>
          <a:bodyPr wrap="square" lIns="0" tIns="0" rIns="0" bIns="0" rtlCol="0" anchor="t"/>
          <a:lstStyle/>
          <a:p>
            <a:pPr algn="ctr" indent="0" marL="0">
              <a:lnSpc>
                <a:spcPts val="1300"/>
              </a:lnSpc>
              <a:spcBef>
                <a:spcPts val="600"/>
              </a:spcBef>
              <a:buNone/>
            </a:pPr>
            <a:r>
              <a:rPr lang="en-US" sz="1000" dirty="0">
                <a:solidFill>
                  <a:srgbClr val="0E2B29"/>
                </a:solidFill>
                <a:latin typeface="Arial" pitchFamily="34" charset="0"/>
                <a:ea typeface="Arial" pitchFamily="34" charset="-122"/>
                <a:cs typeface="Arial" pitchFamily="34" charset="-120"/>
              </a:rPr>
              <a:t>Hành động</a:t>
            </a:r>
            <a:endParaRPr lang="en-US" sz="1000" dirty="0"/>
          </a:p>
          <a:p>
            <a:pPr algn="ctr" indent="0" marL="0">
              <a:lnSpc>
                <a:spcPts val="1300"/>
              </a:lnSpc>
              <a:spcBef>
                <a:spcPts val="600"/>
              </a:spcBef>
              <a:buNone/>
            </a:pPr>
            <a:r>
              <a:rPr lang="en-US" sz="1000" dirty="0">
                <a:solidFill>
                  <a:srgbClr val="0E2B29"/>
                </a:solidFill>
                <a:latin typeface="Arial" pitchFamily="34" charset="0"/>
                <a:ea typeface="Arial" pitchFamily="34" charset="-122"/>
                <a:cs typeface="Arial" pitchFamily="34" charset="-120"/>
              </a:rPr>
              <a:t>khép kín &amp; duyệt</a:t>
            </a:r>
            <a:endParaRPr lang="en-US" sz="1000" dirty="0"/>
          </a:p>
        </p:txBody>
      </p:sp>
      <p:sp>
        <p:nvSpPr>
          <p:cNvPr id="44" name="Text 42"/>
          <p:cNvSpPr/>
          <p:nvPr/>
        </p:nvSpPr>
        <p:spPr>
          <a:xfrm>
            <a:off x="381000" y="3088630"/>
            <a:ext cx="8382000" cy="747117"/>
          </a:xfrm>
          <a:prstGeom prst="roundRect">
            <a:avLst>
              <a:gd name="adj" fmla="val 16999"/>
            </a:avLst>
          </a:prstGeom>
          <a:solidFill>
            <a:srgbClr val="FFFFFF"/>
          </a:solidFill>
          <a:ln/>
        </p:spPr>
        <p:txBody>
          <a:bodyPr wrap="square" rtlCol="0" anchor="ctr"/>
          <a:lstStyle/>
          <a:p>
            <a:pPr indent="0" marL="0">
              <a:buNone/>
            </a:pPr>
            <a:endParaRPr lang="en-US" dirty="0"/>
          </a:p>
        </p:txBody>
      </p:sp>
      <p:sp>
        <p:nvSpPr>
          <p:cNvPr id="45" name="Shape 43"/>
          <p:cNvSpPr/>
          <p:nvPr/>
        </p:nvSpPr>
        <p:spPr>
          <a:xfrm>
            <a:off x="381000" y="3093393"/>
            <a:ext cx="8382000" cy="0"/>
          </a:xfrm>
          <a:prstGeom prst="line">
            <a:avLst/>
          </a:prstGeom>
          <a:noFill/>
          <a:ln w="9525">
            <a:solidFill>
              <a:srgbClr val="D9E8E4"/>
            </a:solidFill>
            <a:prstDash val="solid"/>
          </a:ln>
        </p:spPr>
      </p:sp>
      <p:sp>
        <p:nvSpPr>
          <p:cNvPr id="46" name="Shape 44"/>
          <p:cNvSpPr/>
          <p:nvPr/>
        </p:nvSpPr>
        <p:spPr>
          <a:xfrm>
            <a:off x="8758237" y="3088630"/>
            <a:ext cx="0" cy="747117"/>
          </a:xfrm>
          <a:prstGeom prst="line">
            <a:avLst/>
          </a:prstGeom>
          <a:noFill/>
          <a:ln w="9525">
            <a:solidFill>
              <a:srgbClr val="D9E8E4"/>
            </a:solidFill>
            <a:prstDash val="solid"/>
          </a:ln>
        </p:spPr>
      </p:sp>
      <p:sp>
        <p:nvSpPr>
          <p:cNvPr id="47" name="Shape 45"/>
          <p:cNvSpPr/>
          <p:nvPr/>
        </p:nvSpPr>
        <p:spPr>
          <a:xfrm>
            <a:off x="381000" y="3830985"/>
            <a:ext cx="8382000" cy="0"/>
          </a:xfrm>
          <a:prstGeom prst="line">
            <a:avLst/>
          </a:prstGeom>
          <a:noFill/>
          <a:ln w="9525">
            <a:solidFill>
              <a:srgbClr val="D9E8E4"/>
            </a:solidFill>
            <a:prstDash val="solid"/>
          </a:ln>
        </p:spPr>
      </p:sp>
      <p:sp>
        <p:nvSpPr>
          <p:cNvPr id="48" name="Shape 46"/>
          <p:cNvSpPr/>
          <p:nvPr/>
        </p:nvSpPr>
        <p:spPr>
          <a:xfrm>
            <a:off x="409575" y="3088630"/>
            <a:ext cx="0" cy="747117"/>
          </a:xfrm>
          <a:prstGeom prst="line">
            <a:avLst/>
          </a:prstGeom>
          <a:noFill/>
          <a:ln w="57150">
            <a:solidFill>
              <a:srgbClr val="34D399"/>
            </a:solidFill>
            <a:prstDash val="solid"/>
          </a:ln>
        </p:spPr>
      </p:sp>
      <p:sp>
        <p:nvSpPr>
          <p:cNvPr id="49" name="Text 47"/>
          <p:cNvSpPr/>
          <p:nvPr/>
        </p:nvSpPr>
        <p:spPr>
          <a:xfrm>
            <a:off x="590550" y="3250555"/>
            <a:ext cx="8170736" cy="423267"/>
          </a:xfrm>
          <a:prstGeom prst="rect">
            <a:avLst/>
          </a:prstGeom>
          <a:noFill/>
          <a:ln/>
        </p:spPr>
        <p:txBody>
          <a:bodyPr wrap="square" lIns="0" tIns="0" rIns="0" bIns="0" rtlCol="0" anchor="t"/>
          <a:lstStyle/>
          <a:p>
            <a:pPr algn="l" indent="0" marL="0">
              <a:lnSpc>
                <a:spcPts val="1667"/>
              </a:lnSpc>
              <a:buNone/>
            </a:pPr>
            <a:r>
              <a:rPr lang="en-US" sz="1150" b="1" dirty="0">
                <a:solidFill>
                  <a:srgbClr val="0E2B29"/>
                </a:solidFill>
                <a:latin typeface="Arial" pitchFamily="34" charset="0"/>
                <a:ea typeface="Arial" pitchFamily="34" charset="-122"/>
                <a:cs typeface="Arial" pitchFamily="34" charset="-120"/>
              </a:rPr>
              <a:t>Ràng buộc:</a:t>
            </a:r>
            <a:pPr algn="l" indent="0" marL="0">
              <a:lnSpc>
                <a:spcPts val="1667"/>
              </a:lnSpc>
              <a:buNone/>
            </a:pPr>
            <a:r>
              <a:rPr lang="en-US" sz="1150" dirty="0">
                <a:solidFill>
                  <a:srgbClr val="0E2B29"/>
                </a:solidFill>
                <a:latin typeface="Arial" pitchFamily="34" charset="0"/>
                <a:ea typeface="Arial" pitchFamily="34" charset="-122"/>
                <a:cs typeface="Arial" pitchFamily="34" charset="-120"/>
              </a:rPr>
              <a:t> realtime, an toàn được ưu tiên tuyệt đối, giữ con người trong vòng kiểm soát, và phân quyền dữ liệu theo vai trò.</a:t>
            </a:r>
            <a:endParaRPr lang="en-US" sz="1150" dirty="0"/>
          </a:p>
        </p:txBody>
      </p:sp>
      <p:sp>
        <p:nvSpPr>
          <p:cNvPr id="50" name="Text 48"/>
          <p:cNvSpPr/>
          <p:nvPr/>
        </p:nvSpPr>
        <p:spPr>
          <a:xfrm>
            <a:off x="381000" y="4673798"/>
            <a:ext cx="8549640" cy="114300"/>
          </a:xfrm>
          <a:prstGeom prst="rect">
            <a:avLst/>
          </a:prstGeom>
          <a:noFill/>
          <a:ln/>
        </p:spPr>
        <p:txBody>
          <a:bodyPr wrap="square" lIns="0" tIns="0" rIns="0" bIns="0" rtlCol="0" anchor="t"/>
          <a:lstStyle/>
          <a:p>
            <a:pPr algn="l" indent="0" marL="0">
              <a:spcBef>
                <a:spcPts val="6599"/>
              </a:spcBef>
              <a:spcAft>
                <a:spcPts val="800"/>
              </a:spcAft>
              <a:buNone/>
            </a:pPr>
            <a:r>
              <a:rPr lang="en-US" sz="800" dirty="0">
                <a:solidFill>
                  <a:srgbClr val="5C7470"/>
                </a:solidFill>
                <a:latin typeface="Arial" pitchFamily="34" charset="0"/>
                <a:ea typeface="Arial" pitchFamily="34" charset="-122"/>
                <a:cs typeface="Arial" pitchFamily="34" charset="-120"/>
              </a:rPr>
              <a:t>xanhSM · AI Quality Intelligence Platform · AI20K Cohort 2 — Team 116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30101"/>
            <a:ext cx="8549640" cy="142875"/>
          </a:xfrm>
          <a:prstGeom prst="rect">
            <a:avLst/>
          </a:prstGeom>
          <a:noFill/>
          <a:ln/>
        </p:spPr>
        <p:txBody>
          <a:bodyPr wrap="square" lIns="0" tIns="0" rIns="0" bIns="0" rtlCol="0" anchor="t"/>
          <a:lstStyle/>
          <a:p>
            <a:pPr algn="l" indent="0" marL="0">
              <a:spcAft>
                <a:spcPts val="400"/>
              </a:spcAft>
              <a:buNone/>
            </a:pPr>
            <a:r>
              <a:rPr lang="en-US" sz="1000" b="1" dirty="0">
                <a:solidFill>
                  <a:srgbClr val="0E8C84"/>
                </a:solidFill>
                <a:latin typeface="Arial" pitchFamily="34" charset="0"/>
                <a:ea typeface="Arial" pitchFamily="34" charset="-122"/>
                <a:cs typeface="Arial" pitchFamily="34" charset="-120"/>
              </a:rPr>
              <a:t>GIẢI PHÁP TỔNG QUAN</a:t>
            </a:r>
            <a:endParaRPr lang="en-US" sz="1000" dirty="0"/>
          </a:p>
        </p:txBody>
      </p:sp>
      <p:sp>
        <p:nvSpPr>
          <p:cNvPr id="3" name="Text 1"/>
          <p:cNvSpPr/>
          <p:nvPr/>
        </p:nvSpPr>
        <p:spPr>
          <a:xfrm>
            <a:off x="381000" y="523726"/>
            <a:ext cx="8549640" cy="685502"/>
          </a:xfrm>
          <a:prstGeom prst="rect">
            <a:avLst/>
          </a:prstGeom>
          <a:noFill/>
          <a:ln/>
        </p:spPr>
        <p:txBody>
          <a:bodyPr wrap="square" lIns="0" tIns="0" rIns="0" bIns="0" rtlCol="0" anchor="t"/>
          <a:lstStyle/>
          <a:p>
            <a:pPr algn="l" indent="0" marL="0">
              <a:lnSpc>
                <a:spcPts val="2700"/>
              </a:lnSpc>
              <a:buNone/>
            </a:pPr>
            <a:r>
              <a:rPr lang="en-US" sz="2500" b="1" dirty="0">
                <a:solidFill>
                  <a:srgbClr val="0B5E5C"/>
                </a:solidFill>
                <a:latin typeface="Arial" pitchFamily="34" charset="0"/>
                <a:ea typeface="Arial" pitchFamily="34" charset="-122"/>
                <a:cs typeface="Arial" pitchFamily="34" charset="-120"/>
              </a:rPr>
              <a:t>Một "khoang lái" điều hành chất lượng theo thời gian thực</a:t>
            </a:r>
            <a:endParaRPr lang="en-US" sz="2500" dirty="0"/>
          </a:p>
        </p:txBody>
      </p:sp>
      <p:sp>
        <p:nvSpPr>
          <p:cNvPr id="4" name="Text 2"/>
          <p:cNvSpPr/>
          <p:nvPr/>
        </p:nvSpPr>
        <p:spPr>
          <a:xfrm>
            <a:off x="381000" y="1437829"/>
            <a:ext cx="3048149" cy="1946672"/>
          </a:xfrm>
          <a:prstGeom prst="rect">
            <a:avLst/>
          </a:prstGeom>
          <a:noFill/>
          <a:ln/>
        </p:spPr>
        <p:txBody>
          <a:bodyPr wrap="square" lIns="88900" tIns="0" rIns="0" bIns="0" rtlCol="0" anchor="t"/>
          <a:lstStyle/>
          <a:p>
            <a:pPr algn="l" marL="88900" indent="-88900">
              <a:lnSpc>
                <a:spcPts val="1667"/>
              </a:lnSpc>
              <a:spcAft>
                <a:spcPts val="500"/>
              </a:spcAft>
              <a:buSzPct val="100000"/>
              <a:buChar char="•"/>
            </a:pPr>
            <a:r>
              <a:rPr lang="en-US" sz="1150" b="1" dirty="0">
                <a:solidFill>
                  <a:srgbClr val="0E2B29"/>
                </a:solidFill>
                <a:latin typeface="Arial" pitchFamily="34" charset="0"/>
                <a:ea typeface="Arial" pitchFamily="34" charset="-122"/>
                <a:cs typeface="Arial" pitchFamily="34" charset="-120"/>
              </a:rPr>
              <a:t>Tiếp nhận:</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gom phản hồi đa kênh, streaming realtime.</a:t>
            </a:r>
            <a:endParaRPr lang="en-US" sz="1150" dirty="0"/>
          </a:p>
          <a:p>
            <a:pPr algn="l" marL="88900" indent="-88900">
              <a:lnSpc>
                <a:spcPts val="1667"/>
              </a:lnSpc>
              <a:spcAft>
                <a:spcPts val="500"/>
              </a:spcAft>
              <a:buSzPct val="100000"/>
              <a:buChar char="•"/>
            </a:pPr>
            <a:r>
              <a:rPr lang="en-US" sz="1150" b="1" dirty="0">
                <a:solidFill>
                  <a:srgbClr val="0E2B29"/>
                </a:solidFill>
                <a:latin typeface="Arial" pitchFamily="34" charset="0"/>
                <a:ea typeface="Arial" pitchFamily="34" charset="-122"/>
                <a:cs typeface="Arial" pitchFamily="34" charset="-120"/>
              </a:rPr>
              <a:t>Phân tích:</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ML phân loại + ma trận rủi ro 5 chiều bằng LLM.</a:t>
            </a:r>
            <a:endParaRPr lang="en-US" sz="1150" dirty="0"/>
          </a:p>
          <a:p>
            <a:pPr algn="l" marL="88900" indent="-88900">
              <a:lnSpc>
                <a:spcPts val="1667"/>
              </a:lnSpc>
              <a:spcAft>
                <a:spcPts val="500"/>
              </a:spcAft>
              <a:buSzPct val="100000"/>
              <a:buChar char="•"/>
            </a:pPr>
            <a:r>
              <a:rPr lang="en-US" sz="1150" b="1" dirty="0">
                <a:solidFill>
                  <a:srgbClr val="0E2B29"/>
                </a:solidFill>
                <a:latin typeface="Arial" pitchFamily="34" charset="0"/>
                <a:ea typeface="Arial" pitchFamily="34" charset="-122"/>
                <a:cs typeface="Arial" pitchFamily="34" charset="-120"/>
              </a:rPr>
              <a:t>Cảnh báo:</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phát hiện spike → alert/ticket định tuyến 6 phòng.</a:t>
            </a:r>
            <a:endParaRPr lang="en-US" sz="1150" dirty="0"/>
          </a:p>
          <a:p>
            <a:pPr algn="l" marL="88900" indent="-88900">
              <a:lnSpc>
                <a:spcPts val="1667"/>
              </a:lnSpc>
              <a:spcAft>
                <a:spcPts val="500"/>
              </a:spcAft>
              <a:buSzPct val="100000"/>
              <a:buChar char="•"/>
            </a:pPr>
            <a:r>
              <a:rPr lang="en-US" sz="1150" b="1" dirty="0">
                <a:solidFill>
                  <a:srgbClr val="0E2B29"/>
                </a:solidFill>
                <a:latin typeface="Arial" pitchFamily="34" charset="0"/>
                <a:ea typeface="Arial" pitchFamily="34" charset="-122"/>
                <a:cs typeface="Arial" pitchFamily="34" charset="-120"/>
              </a:rPr>
              <a:t>Hành động:</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multi-agent, báo cáo AI, khép kín báo cáo → task.</a:t>
            </a:r>
            <a:endParaRPr lang="en-US" sz="1150" dirty="0"/>
          </a:p>
        </p:txBody>
      </p:sp>
      <p:sp>
        <p:nvSpPr>
          <p:cNvPr id="5" name="Text 3"/>
          <p:cNvSpPr/>
          <p:nvPr/>
        </p:nvSpPr>
        <p:spPr>
          <a:xfrm>
            <a:off x="3632299" y="1361629"/>
            <a:ext cx="5130701" cy="3262759"/>
          </a:xfrm>
          <a:prstGeom prst="roundRect">
            <a:avLst>
              <a:gd name="adj" fmla="val 3892"/>
            </a:avLst>
          </a:prstGeom>
          <a:solidFill>
            <a:srgbClr val="FFFFFF"/>
          </a:solidFill>
          <a:ln w="9525">
            <a:solidFill>
              <a:srgbClr val="D9E8E4"/>
            </a:solidFill>
          </a:ln>
          <a:effectLst>
            <a:outerShdw sx="100000" sy="100000" kx="0" ky="0" algn="bl" rotWithShape="0" blurRad="133350" dist="47625" dir="3180000">
              <a:srgbClr val="0b5e5c">
                <a:alpha val="22000"/>
              </a:srgbClr>
            </a:outerShdw>
          </a:effectLst>
        </p:spPr>
        <p:txBody>
          <a:bodyPr wrap="square" rtlCol="0" anchor="ctr"/>
          <a:lstStyle/>
          <a:p>
            <a:pPr indent="0" marL="0">
              <a:buNone/>
            </a:pPr>
            <a:endParaRPr lang="en-US" dirty="0"/>
          </a:p>
        </p:txBody>
      </p:sp>
      <p:pic>
        <p:nvPicPr>
          <p:cNvPr id="6" name="Image 0" descr="/private/tmp/claude-501/-Users-kenz-de-projects-C2-App-116/3d8df5ac-6b2b-4cce-a997-fe0b4573b465/scratchpad/build/assets/dashboard.png">    </p:cNvPr>
          <p:cNvPicPr>
            <a:picLocks noChangeAspect="1"/>
          </p:cNvPicPr>
          <p:nvPr/>
        </p:nvPicPr>
        <p:blipFill>
          <a:blip r:embed="rId1"/>
          <a:stretch>
            <a:fillRect/>
          </a:stretch>
        </p:blipFill>
        <p:spPr>
          <a:xfrm>
            <a:off x="3705225" y="1434554"/>
            <a:ext cx="4984849" cy="3116907"/>
          </a:xfrm>
          <a:prstGeom prst="rect">
            <a:avLst/>
          </a:prstGeom>
        </p:spPr>
      </p:pic>
      <p:sp>
        <p:nvSpPr>
          <p:cNvPr id="7" name="Text 4"/>
          <p:cNvSpPr/>
          <p:nvPr/>
        </p:nvSpPr>
        <p:spPr>
          <a:xfrm>
            <a:off x="381000" y="4673798"/>
            <a:ext cx="8549640" cy="114300"/>
          </a:xfrm>
          <a:prstGeom prst="rect">
            <a:avLst/>
          </a:prstGeom>
          <a:noFill/>
          <a:ln/>
        </p:spPr>
        <p:txBody>
          <a:bodyPr wrap="square" lIns="0" tIns="0" rIns="0" bIns="0" rtlCol="0" anchor="t"/>
          <a:lstStyle/>
          <a:p>
            <a:pPr algn="l" indent="0" marL="0">
              <a:spcAft>
                <a:spcPts val="800"/>
              </a:spcAft>
              <a:buNone/>
            </a:pPr>
            <a:r>
              <a:rPr lang="en-US" sz="800" dirty="0">
                <a:solidFill>
                  <a:srgbClr val="5C7470"/>
                </a:solidFill>
                <a:latin typeface="Arial" pitchFamily="34" charset="0"/>
                <a:ea typeface="Arial" pitchFamily="34" charset="-122"/>
                <a:cs typeface="Arial" pitchFamily="34" charset="-120"/>
              </a:rPr>
              <a:t>xanhSM · AI Quality Intelligence Platform · AI20K Cohort 2 — Team 116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30101"/>
            <a:ext cx="8549640" cy="142875"/>
          </a:xfrm>
          <a:prstGeom prst="rect">
            <a:avLst/>
          </a:prstGeom>
          <a:noFill/>
          <a:ln/>
        </p:spPr>
        <p:txBody>
          <a:bodyPr wrap="square" lIns="0" tIns="0" rIns="0" bIns="0" rtlCol="0" anchor="t"/>
          <a:lstStyle/>
          <a:p>
            <a:pPr algn="l" indent="0" marL="0">
              <a:spcAft>
                <a:spcPts val="400"/>
              </a:spcAft>
              <a:buNone/>
            </a:pPr>
            <a:r>
              <a:rPr lang="en-US" sz="1000" b="1" dirty="0">
                <a:solidFill>
                  <a:srgbClr val="0E8C84"/>
                </a:solidFill>
                <a:latin typeface="Arial" pitchFamily="34" charset="0"/>
                <a:ea typeface="Arial" pitchFamily="34" charset="-122"/>
                <a:cs typeface="Arial" pitchFamily="34" charset="-120"/>
              </a:rPr>
              <a:t>KIẾN TRÚC TỔNG THỂ</a:t>
            </a:r>
            <a:endParaRPr lang="en-US" sz="1000" dirty="0"/>
          </a:p>
        </p:txBody>
      </p:sp>
      <p:sp>
        <p:nvSpPr>
          <p:cNvPr id="3" name="Text 1"/>
          <p:cNvSpPr/>
          <p:nvPr/>
        </p:nvSpPr>
        <p:spPr>
          <a:xfrm>
            <a:off x="381000" y="523726"/>
            <a:ext cx="8549640" cy="342751"/>
          </a:xfrm>
          <a:prstGeom prst="rect">
            <a:avLst/>
          </a:prstGeom>
          <a:noFill/>
          <a:ln/>
        </p:spPr>
        <p:txBody>
          <a:bodyPr wrap="square" lIns="0" tIns="0" rIns="0" bIns="0" rtlCol="0" anchor="t"/>
          <a:lstStyle/>
          <a:p>
            <a:pPr algn="l" indent="0" marL="0">
              <a:lnSpc>
                <a:spcPts val="2700"/>
              </a:lnSpc>
              <a:buNone/>
            </a:pPr>
            <a:r>
              <a:rPr lang="en-US" sz="2500" b="1" dirty="0">
                <a:solidFill>
                  <a:srgbClr val="0B5E5C"/>
                </a:solidFill>
                <a:latin typeface="Arial" pitchFamily="34" charset="0"/>
                <a:ea typeface="Arial" pitchFamily="34" charset="-122"/>
                <a:cs typeface="Arial" pitchFamily="34" charset="-120"/>
              </a:rPr>
              <a:t>Ba tầng, một trục realtime, sáu service triển khai</a:t>
            </a:r>
            <a:endParaRPr lang="en-US" sz="2500" dirty="0"/>
          </a:p>
        </p:txBody>
      </p:sp>
      <p:sp>
        <p:nvSpPr>
          <p:cNvPr id="4" name="Text 2"/>
          <p:cNvSpPr/>
          <p:nvPr/>
        </p:nvSpPr>
        <p:spPr>
          <a:xfrm>
            <a:off x="381000" y="1044178"/>
            <a:ext cx="2692301" cy="1213247"/>
          </a:xfrm>
          <a:prstGeom prst="roundRect">
            <a:avLst>
              <a:gd name="adj" fmla="val 10468"/>
            </a:avLst>
          </a:prstGeom>
          <a:solidFill>
            <a:srgbClr val="FFFFFF"/>
          </a:solidFill>
          <a:ln/>
        </p:spPr>
        <p:txBody>
          <a:bodyPr wrap="square" rtlCol="0" anchor="ctr"/>
          <a:lstStyle/>
          <a:p>
            <a:pPr indent="0" marL="0">
              <a:buNone/>
            </a:pPr>
            <a:endParaRPr lang="en-US" dirty="0"/>
          </a:p>
        </p:txBody>
      </p:sp>
      <p:sp>
        <p:nvSpPr>
          <p:cNvPr id="5" name="Shape 3"/>
          <p:cNvSpPr/>
          <p:nvPr/>
        </p:nvSpPr>
        <p:spPr>
          <a:xfrm>
            <a:off x="381000" y="1067991"/>
            <a:ext cx="2692301" cy="0"/>
          </a:xfrm>
          <a:prstGeom prst="line">
            <a:avLst/>
          </a:prstGeom>
          <a:noFill/>
          <a:ln w="47625">
            <a:solidFill>
              <a:srgbClr val="0E8C84"/>
            </a:solidFill>
            <a:prstDash val="solid"/>
          </a:ln>
        </p:spPr>
      </p:sp>
      <p:sp>
        <p:nvSpPr>
          <p:cNvPr id="6" name="Shape 4"/>
          <p:cNvSpPr/>
          <p:nvPr/>
        </p:nvSpPr>
        <p:spPr>
          <a:xfrm>
            <a:off x="3068538" y="1044178"/>
            <a:ext cx="0" cy="1213247"/>
          </a:xfrm>
          <a:prstGeom prst="line">
            <a:avLst/>
          </a:prstGeom>
          <a:noFill/>
          <a:ln w="9525">
            <a:solidFill>
              <a:srgbClr val="D9E8E4"/>
            </a:solidFill>
            <a:prstDash val="solid"/>
          </a:ln>
        </p:spPr>
      </p:sp>
      <p:sp>
        <p:nvSpPr>
          <p:cNvPr id="7" name="Shape 5"/>
          <p:cNvSpPr/>
          <p:nvPr/>
        </p:nvSpPr>
        <p:spPr>
          <a:xfrm>
            <a:off x="381000" y="2252663"/>
            <a:ext cx="2692301" cy="0"/>
          </a:xfrm>
          <a:prstGeom prst="line">
            <a:avLst/>
          </a:prstGeom>
          <a:noFill/>
          <a:ln w="9525">
            <a:solidFill>
              <a:srgbClr val="D9E8E4"/>
            </a:solidFill>
            <a:prstDash val="solid"/>
          </a:ln>
        </p:spPr>
      </p:sp>
      <p:sp>
        <p:nvSpPr>
          <p:cNvPr id="8" name="Shape 6"/>
          <p:cNvSpPr/>
          <p:nvPr/>
        </p:nvSpPr>
        <p:spPr>
          <a:xfrm>
            <a:off x="385763" y="1044178"/>
            <a:ext cx="0" cy="1213247"/>
          </a:xfrm>
          <a:prstGeom prst="line">
            <a:avLst/>
          </a:prstGeom>
          <a:noFill/>
          <a:ln w="9525">
            <a:solidFill>
              <a:srgbClr val="D9E8E4"/>
            </a:solidFill>
            <a:prstDash val="solid"/>
          </a:ln>
        </p:spPr>
      </p:sp>
      <p:sp>
        <p:nvSpPr>
          <p:cNvPr id="9" name="Text 7"/>
          <p:cNvSpPr/>
          <p:nvPr/>
        </p:nvSpPr>
        <p:spPr>
          <a:xfrm>
            <a:off x="542925" y="1244203"/>
            <a:ext cx="2415820" cy="190500"/>
          </a:xfrm>
          <a:prstGeom prst="rect">
            <a:avLst/>
          </a:prstGeom>
          <a:noFill/>
          <a:ln/>
        </p:spPr>
        <p:txBody>
          <a:bodyPr wrap="square" lIns="0" tIns="0" rIns="0" bIns="0" rtlCol="0" anchor="t"/>
          <a:lstStyle/>
          <a:p>
            <a:pPr algn="l" indent="0" marL="0">
              <a:buNone/>
            </a:pPr>
            <a:r>
              <a:rPr lang="en-US" sz="1250" b="1" dirty="0">
                <a:solidFill>
                  <a:srgbClr val="0E8C84"/>
                </a:solidFill>
                <a:latin typeface="Arial" pitchFamily="34" charset="0"/>
                <a:ea typeface="Arial" pitchFamily="34" charset="-122"/>
                <a:cs typeface="Arial" pitchFamily="34" charset="-120"/>
              </a:rPr>
              <a:t>app/ — Frontend</a:t>
            </a:r>
            <a:endParaRPr lang="en-US" sz="1250" dirty="0"/>
          </a:p>
        </p:txBody>
      </p:sp>
      <p:sp>
        <p:nvSpPr>
          <p:cNvPr id="10" name="Text 8"/>
          <p:cNvSpPr/>
          <p:nvPr/>
        </p:nvSpPr>
        <p:spPr>
          <a:xfrm>
            <a:off x="542925" y="1498104"/>
            <a:ext cx="2415820" cy="156865"/>
          </a:xfrm>
          <a:prstGeom prst="rect">
            <a:avLst/>
          </a:prstGeom>
          <a:noFill/>
          <a:ln/>
        </p:spPr>
        <p:txBody>
          <a:bodyPr wrap="square" lIns="0" tIns="0" rIns="0" bIns="0" rtlCol="0" anchor="t"/>
          <a:lstStyle/>
          <a:p>
            <a:pPr algn="l" indent="0" marL="0">
              <a:lnSpc>
                <a:spcPts val="1235"/>
              </a:lnSpc>
              <a:spcBef>
                <a:spcPts val="500"/>
              </a:spcBef>
              <a:buNone/>
            </a:pPr>
            <a:r>
              <a:rPr lang="en-US" sz="950" dirty="0">
                <a:solidFill>
                  <a:srgbClr val="0E2B29"/>
                </a:solidFill>
                <a:latin typeface="Arial" pitchFamily="34" charset="0"/>
                <a:ea typeface="Arial" pitchFamily="34" charset="-122"/>
                <a:cs typeface="Arial" pitchFamily="34" charset="-120"/>
              </a:rPr>
              <a:t>TanStack Start + React 19</a:t>
            </a:r>
            <a:endParaRPr lang="en-US" sz="950" dirty="0"/>
          </a:p>
        </p:txBody>
      </p:sp>
      <p:sp>
        <p:nvSpPr>
          <p:cNvPr id="11" name="Text 9"/>
          <p:cNvSpPr/>
          <p:nvPr/>
        </p:nvSpPr>
        <p:spPr>
          <a:xfrm>
            <a:off x="542925" y="1718370"/>
            <a:ext cx="2415820" cy="156865"/>
          </a:xfrm>
          <a:prstGeom prst="rect">
            <a:avLst/>
          </a:prstGeom>
          <a:noFill/>
          <a:ln/>
        </p:spPr>
        <p:txBody>
          <a:bodyPr wrap="square" lIns="0" tIns="0" rIns="0" bIns="0" rtlCol="0" anchor="t"/>
          <a:lstStyle/>
          <a:p>
            <a:pPr algn="l" indent="0" marL="0">
              <a:lnSpc>
                <a:spcPts val="1235"/>
              </a:lnSpc>
              <a:spcBef>
                <a:spcPts val="500"/>
              </a:spcBef>
              <a:buNone/>
            </a:pPr>
            <a:r>
              <a:rPr lang="en-US" sz="950" dirty="0">
                <a:solidFill>
                  <a:srgbClr val="0E2B29"/>
                </a:solidFill>
                <a:latin typeface="Arial" pitchFamily="34" charset="0"/>
                <a:ea typeface="Arial" pitchFamily="34" charset="-122"/>
                <a:cs typeface="Arial" pitchFamily="34" charset="-120"/>
              </a:rPr>
              <a:t>Quality Cockpit, Chat, Admin</a:t>
            </a:r>
            <a:endParaRPr lang="en-US" sz="950" dirty="0"/>
          </a:p>
        </p:txBody>
      </p:sp>
      <p:sp>
        <p:nvSpPr>
          <p:cNvPr id="12" name="Text 10"/>
          <p:cNvSpPr/>
          <p:nvPr/>
        </p:nvSpPr>
        <p:spPr>
          <a:xfrm>
            <a:off x="542925" y="1938635"/>
            <a:ext cx="2415820" cy="156865"/>
          </a:xfrm>
          <a:prstGeom prst="rect">
            <a:avLst/>
          </a:prstGeom>
          <a:noFill/>
          <a:ln/>
        </p:spPr>
        <p:txBody>
          <a:bodyPr wrap="square" lIns="0" tIns="0" rIns="0" bIns="0" rtlCol="0" anchor="t"/>
          <a:lstStyle/>
          <a:p>
            <a:pPr algn="l" indent="0" marL="0">
              <a:lnSpc>
                <a:spcPts val="1235"/>
              </a:lnSpc>
              <a:spcBef>
                <a:spcPts val="500"/>
              </a:spcBef>
              <a:buNone/>
            </a:pPr>
            <a:r>
              <a:rPr lang="en-US" sz="950" dirty="0">
                <a:solidFill>
                  <a:srgbClr val="0E2B29"/>
                </a:solidFill>
                <a:latin typeface="Arial" pitchFamily="34" charset="0"/>
                <a:ea typeface="Arial" pitchFamily="34" charset="-122"/>
                <a:cs typeface="Arial" pitchFamily="34" charset="-120"/>
              </a:rPr>
              <a:t>Đọc Supabase realtime (RLS)</a:t>
            </a:r>
            <a:endParaRPr lang="en-US" sz="950" dirty="0"/>
          </a:p>
        </p:txBody>
      </p:sp>
      <p:sp>
        <p:nvSpPr>
          <p:cNvPr id="13" name="Text 11"/>
          <p:cNvSpPr/>
          <p:nvPr/>
        </p:nvSpPr>
        <p:spPr>
          <a:xfrm>
            <a:off x="3225701" y="1044178"/>
            <a:ext cx="2692450" cy="1213247"/>
          </a:xfrm>
          <a:prstGeom prst="roundRect">
            <a:avLst>
              <a:gd name="adj" fmla="val 10468"/>
            </a:avLst>
          </a:prstGeom>
          <a:solidFill>
            <a:srgbClr val="FFFFFF"/>
          </a:solidFill>
          <a:ln/>
        </p:spPr>
        <p:txBody>
          <a:bodyPr wrap="square" rtlCol="0" anchor="ctr"/>
          <a:lstStyle/>
          <a:p>
            <a:pPr indent="0" marL="0">
              <a:buNone/>
            </a:pPr>
            <a:endParaRPr lang="en-US" dirty="0"/>
          </a:p>
        </p:txBody>
      </p:sp>
      <p:sp>
        <p:nvSpPr>
          <p:cNvPr id="14" name="Shape 12"/>
          <p:cNvSpPr/>
          <p:nvPr/>
        </p:nvSpPr>
        <p:spPr>
          <a:xfrm>
            <a:off x="3225701" y="1067991"/>
            <a:ext cx="2692450" cy="0"/>
          </a:xfrm>
          <a:prstGeom prst="line">
            <a:avLst/>
          </a:prstGeom>
          <a:noFill/>
          <a:ln w="47625">
            <a:solidFill>
              <a:srgbClr val="0E6FB0"/>
            </a:solidFill>
            <a:prstDash val="solid"/>
          </a:ln>
        </p:spPr>
      </p:sp>
      <p:sp>
        <p:nvSpPr>
          <p:cNvPr id="15" name="Shape 13"/>
          <p:cNvSpPr/>
          <p:nvPr/>
        </p:nvSpPr>
        <p:spPr>
          <a:xfrm>
            <a:off x="5913388" y="1044178"/>
            <a:ext cx="0" cy="1213247"/>
          </a:xfrm>
          <a:prstGeom prst="line">
            <a:avLst/>
          </a:prstGeom>
          <a:noFill/>
          <a:ln w="9525">
            <a:solidFill>
              <a:srgbClr val="D9E8E4"/>
            </a:solidFill>
            <a:prstDash val="solid"/>
          </a:ln>
        </p:spPr>
      </p:sp>
      <p:sp>
        <p:nvSpPr>
          <p:cNvPr id="16" name="Shape 14"/>
          <p:cNvSpPr/>
          <p:nvPr/>
        </p:nvSpPr>
        <p:spPr>
          <a:xfrm>
            <a:off x="3225701" y="2252663"/>
            <a:ext cx="2692450" cy="0"/>
          </a:xfrm>
          <a:prstGeom prst="line">
            <a:avLst/>
          </a:prstGeom>
          <a:noFill/>
          <a:ln w="9525">
            <a:solidFill>
              <a:srgbClr val="D9E8E4"/>
            </a:solidFill>
            <a:prstDash val="solid"/>
          </a:ln>
        </p:spPr>
      </p:sp>
      <p:sp>
        <p:nvSpPr>
          <p:cNvPr id="17" name="Shape 15"/>
          <p:cNvSpPr/>
          <p:nvPr/>
        </p:nvSpPr>
        <p:spPr>
          <a:xfrm>
            <a:off x="3230463" y="1044178"/>
            <a:ext cx="0" cy="1213247"/>
          </a:xfrm>
          <a:prstGeom prst="line">
            <a:avLst/>
          </a:prstGeom>
          <a:noFill/>
          <a:ln w="9525">
            <a:solidFill>
              <a:srgbClr val="D9E8E4"/>
            </a:solidFill>
            <a:prstDash val="solid"/>
          </a:ln>
        </p:spPr>
      </p:sp>
      <p:sp>
        <p:nvSpPr>
          <p:cNvPr id="18" name="Text 16"/>
          <p:cNvSpPr/>
          <p:nvPr/>
        </p:nvSpPr>
        <p:spPr>
          <a:xfrm>
            <a:off x="3387626" y="1244203"/>
            <a:ext cx="2415972" cy="190500"/>
          </a:xfrm>
          <a:prstGeom prst="rect">
            <a:avLst/>
          </a:prstGeom>
          <a:noFill/>
          <a:ln/>
        </p:spPr>
        <p:txBody>
          <a:bodyPr wrap="square" lIns="0" tIns="0" rIns="0" bIns="0" rtlCol="0" anchor="t"/>
          <a:lstStyle/>
          <a:p>
            <a:pPr algn="l" indent="0" marL="0">
              <a:buNone/>
            </a:pPr>
            <a:r>
              <a:rPr lang="en-US" sz="1250" b="1" dirty="0">
                <a:solidFill>
                  <a:srgbClr val="0E6FB0"/>
                </a:solidFill>
                <a:latin typeface="Arial" pitchFamily="34" charset="0"/>
                <a:ea typeface="Arial" pitchFamily="34" charset="-122"/>
                <a:cs typeface="Arial" pitchFamily="34" charset="-120"/>
              </a:rPr>
              <a:t>pipeline/ — Backend</a:t>
            </a:r>
            <a:endParaRPr lang="en-US" sz="1250" dirty="0"/>
          </a:p>
        </p:txBody>
      </p:sp>
      <p:sp>
        <p:nvSpPr>
          <p:cNvPr id="19" name="Text 17"/>
          <p:cNvSpPr/>
          <p:nvPr/>
        </p:nvSpPr>
        <p:spPr>
          <a:xfrm>
            <a:off x="3387626" y="1498104"/>
            <a:ext cx="2415972" cy="156865"/>
          </a:xfrm>
          <a:prstGeom prst="rect">
            <a:avLst/>
          </a:prstGeom>
          <a:noFill/>
          <a:ln/>
        </p:spPr>
        <p:txBody>
          <a:bodyPr wrap="square" lIns="0" tIns="0" rIns="0" bIns="0" rtlCol="0" anchor="t"/>
          <a:lstStyle/>
          <a:p>
            <a:pPr algn="l" indent="0" marL="0">
              <a:lnSpc>
                <a:spcPts val="1235"/>
              </a:lnSpc>
              <a:spcBef>
                <a:spcPts val="500"/>
              </a:spcBef>
              <a:buNone/>
            </a:pPr>
            <a:r>
              <a:rPr lang="en-US" sz="950" dirty="0">
                <a:solidFill>
                  <a:srgbClr val="0E2B29"/>
                </a:solidFill>
                <a:latin typeface="Arial" pitchFamily="34" charset="0"/>
                <a:ea typeface="Arial" pitchFamily="34" charset="-122"/>
                <a:cs typeface="Arial" pitchFamily="34" charset="-120"/>
              </a:rPr>
              <a:t>FastAPI: clean → classify</a:t>
            </a:r>
            <a:endParaRPr lang="en-US" sz="950" dirty="0"/>
          </a:p>
        </p:txBody>
      </p:sp>
      <p:sp>
        <p:nvSpPr>
          <p:cNvPr id="20" name="Text 18"/>
          <p:cNvSpPr/>
          <p:nvPr/>
        </p:nvSpPr>
        <p:spPr>
          <a:xfrm>
            <a:off x="3387626" y="1718370"/>
            <a:ext cx="2415972" cy="156865"/>
          </a:xfrm>
          <a:prstGeom prst="rect">
            <a:avLst/>
          </a:prstGeom>
          <a:noFill/>
          <a:ln/>
        </p:spPr>
        <p:txBody>
          <a:bodyPr wrap="square" lIns="0" tIns="0" rIns="0" bIns="0" rtlCol="0" anchor="t"/>
          <a:lstStyle/>
          <a:p>
            <a:pPr algn="l" indent="0" marL="0">
              <a:lnSpc>
                <a:spcPts val="1235"/>
              </a:lnSpc>
              <a:spcBef>
                <a:spcPts val="500"/>
              </a:spcBef>
              <a:buNone/>
            </a:pPr>
            <a:r>
              <a:rPr lang="en-US" sz="950" dirty="0">
                <a:solidFill>
                  <a:srgbClr val="0E2B29"/>
                </a:solidFill>
                <a:latin typeface="Arial" pitchFamily="34" charset="0"/>
                <a:ea typeface="Arial" pitchFamily="34" charset="-122"/>
                <a:cs typeface="Arial" pitchFamily="34" charset="-120"/>
              </a:rPr>
              <a:t>ingest → spike → LLM agent</a:t>
            </a:r>
            <a:endParaRPr lang="en-US" sz="950" dirty="0"/>
          </a:p>
        </p:txBody>
      </p:sp>
      <p:sp>
        <p:nvSpPr>
          <p:cNvPr id="21" name="Text 19"/>
          <p:cNvSpPr/>
          <p:nvPr/>
        </p:nvSpPr>
        <p:spPr>
          <a:xfrm>
            <a:off x="3387626" y="1938635"/>
            <a:ext cx="2415972" cy="156865"/>
          </a:xfrm>
          <a:prstGeom prst="rect">
            <a:avLst/>
          </a:prstGeom>
          <a:noFill/>
          <a:ln/>
        </p:spPr>
        <p:txBody>
          <a:bodyPr wrap="square" lIns="0" tIns="0" rIns="0" bIns="0" rtlCol="0" anchor="t"/>
          <a:lstStyle/>
          <a:p>
            <a:pPr algn="l" indent="0" marL="0">
              <a:lnSpc>
                <a:spcPts val="1235"/>
              </a:lnSpc>
              <a:spcBef>
                <a:spcPts val="500"/>
              </a:spcBef>
              <a:buNone/>
            </a:pPr>
            <a:r>
              <a:rPr lang="en-US" sz="950" dirty="0">
                <a:solidFill>
                  <a:srgbClr val="0E2B29"/>
                </a:solidFill>
                <a:latin typeface="Arial" pitchFamily="34" charset="0"/>
                <a:ea typeface="Arial" pitchFamily="34" charset="-122"/>
                <a:cs typeface="Arial" pitchFamily="34" charset="-120"/>
              </a:rPr>
              <a:t>4 worker nền (ticket/ingest/ml/agent)</a:t>
            </a:r>
            <a:endParaRPr lang="en-US" sz="950" dirty="0"/>
          </a:p>
        </p:txBody>
      </p:sp>
      <p:sp>
        <p:nvSpPr>
          <p:cNvPr id="22" name="Text 20"/>
          <p:cNvSpPr/>
          <p:nvPr/>
        </p:nvSpPr>
        <p:spPr>
          <a:xfrm>
            <a:off x="6070550" y="1044178"/>
            <a:ext cx="2692450" cy="1213247"/>
          </a:xfrm>
          <a:prstGeom prst="roundRect">
            <a:avLst>
              <a:gd name="adj" fmla="val 10468"/>
            </a:avLst>
          </a:prstGeom>
          <a:solidFill>
            <a:srgbClr val="FFFFFF"/>
          </a:solidFill>
          <a:ln/>
        </p:spPr>
        <p:txBody>
          <a:bodyPr wrap="square" rtlCol="0" anchor="ctr"/>
          <a:lstStyle/>
          <a:p>
            <a:pPr indent="0" marL="0">
              <a:buNone/>
            </a:pPr>
            <a:endParaRPr lang="en-US" dirty="0"/>
          </a:p>
        </p:txBody>
      </p:sp>
      <p:sp>
        <p:nvSpPr>
          <p:cNvPr id="23" name="Shape 21"/>
          <p:cNvSpPr/>
          <p:nvPr/>
        </p:nvSpPr>
        <p:spPr>
          <a:xfrm>
            <a:off x="6070550" y="1067991"/>
            <a:ext cx="2692450" cy="0"/>
          </a:xfrm>
          <a:prstGeom prst="line">
            <a:avLst/>
          </a:prstGeom>
          <a:noFill/>
          <a:ln w="47625">
            <a:solidFill>
              <a:srgbClr val="7A5AF8"/>
            </a:solidFill>
            <a:prstDash val="solid"/>
          </a:ln>
        </p:spPr>
      </p:sp>
      <p:sp>
        <p:nvSpPr>
          <p:cNvPr id="24" name="Shape 22"/>
          <p:cNvSpPr/>
          <p:nvPr/>
        </p:nvSpPr>
        <p:spPr>
          <a:xfrm>
            <a:off x="8758238" y="1044178"/>
            <a:ext cx="0" cy="1213247"/>
          </a:xfrm>
          <a:prstGeom prst="line">
            <a:avLst/>
          </a:prstGeom>
          <a:noFill/>
          <a:ln w="9525">
            <a:solidFill>
              <a:srgbClr val="D9E8E4"/>
            </a:solidFill>
            <a:prstDash val="solid"/>
          </a:ln>
        </p:spPr>
      </p:sp>
      <p:sp>
        <p:nvSpPr>
          <p:cNvPr id="25" name="Shape 23"/>
          <p:cNvSpPr/>
          <p:nvPr/>
        </p:nvSpPr>
        <p:spPr>
          <a:xfrm>
            <a:off x="6070550" y="2252663"/>
            <a:ext cx="2692450" cy="0"/>
          </a:xfrm>
          <a:prstGeom prst="line">
            <a:avLst/>
          </a:prstGeom>
          <a:noFill/>
          <a:ln w="9525">
            <a:solidFill>
              <a:srgbClr val="D9E8E4"/>
            </a:solidFill>
            <a:prstDash val="solid"/>
          </a:ln>
        </p:spPr>
      </p:sp>
      <p:sp>
        <p:nvSpPr>
          <p:cNvPr id="26" name="Shape 24"/>
          <p:cNvSpPr/>
          <p:nvPr/>
        </p:nvSpPr>
        <p:spPr>
          <a:xfrm>
            <a:off x="6075313" y="1044178"/>
            <a:ext cx="0" cy="1213247"/>
          </a:xfrm>
          <a:prstGeom prst="line">
            <a:avLst/>
          </a:prstGeom>
          <a:noFill/>
          <a:ln w="9525">
            <a:solidFill>
              <a:srgbClr val="D9E8E4"/>
            </a:solidFill>
            <a:prstDash val="solid"/>
          </a:ln>
        </p:spPr>
      </p:sp>
      <p:sp>
        <p:nvSpPr>
          <p:cNvPr id="27" name="Text 25"/>
          <p:cNvSpPr/>
          <p:nvPr/>
        </p:nvSpPr>
        <p:spPr>
          <a:xfrm>
            <a:off x="6232475" y="1244203"/>
            <a:ext cx="2415972" cy="190500"/>
          </a:xfrm>
          <a:prstGeom prst="rect">
            <a:avLst/>
          </a:prstGeom>
          <a:noFill/>
          <a:ln/>
        </p:spPr>
        <p:txBody>
          <a:bodyPr wrap="square" lIns="0" tIns="0" rIns="0" bIns="0" rtlCol="0" anchor="t"/>
          <a:lstStyle/>
          <a:p>
            <a:pPr algn="l" indent="0" marL="0">
              <a:buNone/>
            </a:pPr>
            <a:r>
              <a:rPr lang="en-US" sz="1250" b="1" dirty="0">
                <a:solidFill>
                  <a:srgbClr val="7A5AF8"/>
                </a:solidFill>
                <a:latin typeface="Arial" pitchFamily="34" charset="0"/>
                <a:ea typeface="Arial" pitchFamily="34" charset="-122"/>
                <a:cs typeface="Arial" pitchFamily="34" charset="-120"/>
              </a:rPr>
              <a:t>supabase/ — Dữ liệu</a:t>
            </a:r>
            <a:endParaRPr lang="en-US" sz="1250" dirty="0"/>
          </a:p>
        </p:txBody>
      </p:sp>
      <p:sp>
        <p:nvSpPr>
          <p:cNvPr id="28" name="Text 26"/>
          <p:cNvSpPr/>
          <p:nvPr/>
        </p:nvSpPr>
        <p:spPr>
          <a:xfrm>
            <a:off x="6232475" y="1498104"/>
            <a:ext cx="2415972" cy="156865"/>
          </a:xfrm>
          <a:prstGeom prst="rect">
            <a:avLst/>
          </a:prstGeom>
          <a:noFill/>
          <a:ln/>
        </p:spPr>
        <p:txBody>
          <a:bodyPr wrap="square" lIns="0" tIns="0" rIns="0" bIns="0" rtlCol="0" anchor="t"/>
          <a:lstStyle/>
          <a:p>
            <a:pPr algn="l" indent="0" marL="0">
              <a:lnSpc>
                <a:spcPts val="1235"/>
              </a:lnSpc>
              <a:spcBef>
                <a:spcPts val="500"/>
              </a:spcBef>
              <a:buNone/>
            </a:pPr>
            <a:r>
              <a:rPr lang="en-US" sz="950" dirty="0">
                <a:solidFill>
                  <a:srgbClr val="0E2B29"/>
                </a:solidFill>
                <a:latin typeface="Arial" pitchFamily="34" charset="0"/>
                <a:ea typeface="Arial" pitchFamily="34" charset="-122"/>
                <a:cs typeface="Arial" pitchFamily="34" charset="-120"/>
              </a:rPr>
              <a:t>PostgreSQL + RLS + RBAC</a:t>
            </a:r>
            <a:endParaRPr lang="en-US" sz="950" dirty="0"/>
          </a:p>
        </p:txBody>
      </p:sp>
      <p:sp>
        <p:nvSpPr>
          <p:cNvPr id="29" name="Text 27"/>
          <p:cNvSpPr/>
          <p:nvPr/>
        </p:nvSpPr>
        <p:spPr>
          <a:xfrm>
            <a:off x="6232475" y="1718370"/>
            <a:ext cx="2415972" cy="156865"/>
          </a:xfrm>
          <a:prstGeom prst="rect">
            <a:avLst/>
          </a:prstGeom>
          <a:noFill/>
          <a:ln/>
        </p:spPr>
        <p:txBody>
          <a:bodyPr wrap="square" lIns="0" tIns="0" rIns="0" bIns="0" rtlCol="0" anchor="t"/>
          <a:lstStyle/>
          <a:p>
            <a:pPr algn="l" indent="0" marL="0">
              <a:lnSpc>
                <a:spcPts val="1235"/>
              </a:lnSpc>
              <a:spcBef>
                <a:spcPts val="500"/>
              </a:spcBef>
              <a:buNone/>
            </a:pPr>
            <a:r>
              <a:rPr lang="en-US" sz="950" dirty="0">
                <a:solidFill>
                  <a:srgbClr val="0E2B29"/>
                </a:solidFill>
                <a:latin typeface="Arial" pitchFamily="34" charset="0"/>
                <a:ea typeface="Arial" pitchFamily="34" charset="-122"/>
                <a:cs typeface="Arial" pitchFamily="34" charset="-120"/>
              </a:rPr>
              <a:t>6 migration, pgvector</a:t>
            </a:r>
            <a:endParaRPr lang="en-US" sz="950" dirty="0"/>
          </a:p>
        </p:txBody>
      </p:sp>
      <p:sp>
        <p:nvSpPr>
          <p:cNvPr id="30" name="Text 28"/>
          <p:cNvSpPr/>
          <p:nvPr/>
        </p:nvSpPr>
        <p:spPr>
          <a:xfrm>
            <a:off x="6232475" y="1938635"/>
            <a:ext cx="2415972" cy="156865"/>
          </a:xfrm>
          <a:prstGeom prst="rect">
            <a:avLst/>
          </a:prstGeom>
          <a:noFill/>
          <a:ln/>
        </p:spPr>
        <p:txBody>
          <a:bodyPr wrap="square" lIns="0" tIns="0" rIns="0" bIns="0" rtlCol="0" anchor="t"/>
          <a:lstStyle/>
          <a:p>
            <a:pPr algn="l" indent="0" marL="0">
              <a:lnSpc>
                <a:spcPts val="1235"/>
              </a:lnSpc>
              <a:spcBef>
                <a:spcPts val="500"/>
              </a:spcBef>
              <a:buNone/>
            </a:pPr>
            <a:r>
              <a:rPr lang="en-US" sz="950" dirty="0">
                <a:solidFill>
                  <a:srgbClr val="0E2B29"/>
                </a:solidFill>
                <a:latin typeface="Arial" pitchFamily="34" charset="0"/>
                <a:ea typeface="Arial" pitchFamily="34" charset="-122"/>
                <a:cs typeface="Arial" pitchFamily="34" charset="-120"/>
              </a:rPr>
              <a:t>Trục nối: pipeline ghi · FE đọc</a:t>
            </a:r>
            <a:endParaRPr lang="en-US" sz="950" dirty="0"/>
          </a:p>
        </p:txBody>
      </p:sp>
      <p:sp>
        <p:nvSpPr>
          <p:cNvPr id="31" name="Text 29"/>
          <p:cNvSpPr/>
          <p:nvPr/>
        </p:nvSpPr>
        <p:spPr>
          <a:xfrm>
            <a:off x="381000" y="2435126"/>
            <a:ext cx="8382000" cy="714970"/>
          </a:xfrm>
          <a:prstGeom prst="roundRect">
            <a:avLst>
              <a:gd name="adj" fmla="val 17763"/>
            </a:avLst>
          </a:prstGeom>
          <a:solidFill>
            <a:srgbClr val="FFFFFF"/>
          </a:solidFill>
          <a:ln/>
        </p:spPr>
        <p:txBody>
          <a:bodyPr wrap="square" rtlCol="0" anchor="ctr"/>
          <a:lstStyle/>
          <a:p>
            <a:pPr indent="0" marL="0">
              <a:buNone/>
            </a:pPr>
            <a:endParaRPr lang="en-US" dirty="0"/>
          </a:p>
        </p:txBody>
      </p:sp>
      <p:sp>
        <p:nvSpPr>
          <p:cNvPr id="32" name="Shape 30"/>
          <p:cNvSpPr/>
          <p:nvPr/>
        </p:nvSpPr>
        <p:spPr>
          <a:xfrm>
            <a:off x="381000" y="2439888"/>
            <a:ext cx="8382000" cy="0"/>
          </a:xfrm>
          <a:prstGeom prst="line">
            <a:avLst/>
          </a:prstGeom>
          <a:noFill/>
          <a:ln w="9525">
            <a:solidFill>
              <a:srgbClr val="D9E8E4"/>
            </a:solidFill>
            <a:prstDash val="solid"/>
          </a:ln>
        </p:spPr>
      </p:sp>
      <p:sp>
        <p:nvSpPr>
          <p:cNvPr id="33" name="Shape 31"/>
          <p:cNvSpPr/>
          <p:nvPr/>
        </p:nvSpPr>
        <p:spPr>
          <a:xfrm>
            <a:off x="8758237" y="2435126"/>
            <a:ext cx="0" cy="714970"/>
          </a:xfrm>
          <a:prstGeom prst="line">
            <a:avLst/>
          </a:prstGeom>
          <a:noFill/>
          <a:ln w="9525">
            <a:solidFill>
              <a:srgbClr val="D9E8E4"/>
            </a:solidFill>
            <a:prstDash val="solid"/>
          </a:ln>
        </p:spPr>
      </p:sp>
      <p:sp>
        <p:nvSpPr>
          <p:cNvPr id="34" name="Shape 32"/>
          <p:cNvSpPr/>
          <p:nvPr/>
        </p:nvSpPr>
        <p:spPr>
          <a:xfrm>
            <a:off x="381000" y="3145334"/>
            <a:ext cx="8382000" cy="0"/>
          </a:xfrm>
          <a:prstGeom prst="line">
            <a:avLst/>
          </a:prstGeom>
          <a:noFill/>
          <a:ln w="9525">
            <a:solidFill>
              <a:srgbClr val="D9E8E4"/>
            </a:solidFill>
            <a:prstDash val="solid"/>
          </a:ln>
        </p:spPr>
      </p:sp>
      <p:sp>
        <p:nvSpPr>
          <p:cNvPr id="35" name="Shape 33"/>
          <p:cNvSpPr/>
          <p:nvPr/>
        </p:nvSpPr>
        <p:spPr>
          <a:xfrm>
            <a:off x="409575" y="2435126"/>
            <a:ext cx="0" cy="714970"/>
          </a:xfrm>
          <a:prstGeom prst="line">
            <a:avLst/>
          </a:prstGeom>
          <a:noFill/>
          <a:ln w="57150">
            <a:solidFill>
              <a:srgbClr val="34D399"/>
            </a:solidFill>
            <a:prstDash val="solid"/>
          </a:ln>
        </p:spPr>
      </p:sp>
      <p:sp>
        <p:nvSpPr>
          <p:cNvPr id="36" name="Text 34"/>
          <p:cNvSpPr/>
          <p:nvPr/>
        </p:nvSpPr>
        <p:spPr>
          <a:xfrm>
            <a:off x="590550" y="2597051"/>
            <a:ext cx="8170736" cy="391120"/>
          </a:xfrm>
          <a:prstGeom prst="rect">
            <a:avLst/>
          </a:prstGeom>
          <a:noFill/>
          <a:ln/>
        </p:spPr>
        <p:txBody>
          <a:bodyPr wrap="square" lIns="0" tIns="0" rIns="0" bIns="0" rtlCol="0" anchor="t"/>
          <a:lstStyle/>
          <a:p>
            <a:pPr algn="l" indent="0" marL="0">
              <a:lnSpc>
                <a:spcPts val="1540"/>
              </a:lnSpc>
              <a:buNone/>
            </a:pPr>
            <a:r>
              <a:rPr lang="en-US" sz="1100" b="1" dirty="0">
                <a:solidFill>
                  <a:srgbClr val="0E2B29"/>
                </a:solidFill>
                <a:latin typeface="Arial" pitchFamily="34" charset="0"/>
                <a:ea typeface="Arial" pitchFamily="34" charset="-122"/>
                <a:cs typeface="Arial" pitchFamily="34" charset="-120"/>
              </a:rPr>
              <a:t>Triển khai:</a:t>
            </a:r>
            <a:pPr algn="l" indent="0" marL="0">
              <a:lnSpc>
                <a:spcPts val="1540"/>
              </a:lnSpc>
              <a:buNone/>
            </a:pPr>
            <a:r>
              <a:rPr lang="en-US" sz="1100" dirty="0">
                <a:solidFill>
                  <a:srgbClr val="0E2B29"/>
                </a:solidFill>
                <a:latin typeface="Arial" pitchFamily="34" charset="0"/>
                <a:ea typeface="Arial" pitchFamily="34" charset="-122"/>
                <a:cs typeface="Arial" pitchFamily="34" charset="-120"/>
              </a:rPr>
              <a:t> 6 Railway service Docker — frontend, backend (web API) và 4 worker dùng chung </a:t>
            </a:r>
            <a:pPr algn="l" indent="0" marL="0">
              <a:lnSpc>
                <a:spcPts val="1540"/>
              </a:lnSpc>
              <a:buNone/>
            </a:pPr>
            <a:r>
              <a:rPr lang="en-US" sz="1100" i="1" dirty="0">
                <a:solidFill>
                  <a:srgbClr val="0E2B29"/>
                </a:solidFill>
                <a:latin typeface="Arial" pitchFamily="34" charset="0"/>
                <a:ea typeface="Arial" pitchFamily="34" charset="-122"/>
                <a:cs typeface="Arial" pitchFamily="34" charset="-120"/>
              </a:rPr>
              <a:t>pipeline/</a:t>
            </a:r>
            <a:pPr algn="l" indent="0" marL="0">
              <a:lnSpc>
                <a:spcPts val="1540"/>
              </a:lnSpc>
              <a:buNone/>
            </a:pPr>
            <a:r>
              <a:rPr lang="en-US" sz="1100" dirty="0">
                <a:solidFill>
                  <a:srgbClr val="0E2B29"/>
                </a:solidFill>
                <a:latin typeface="Arial" pitchFamily="34" charset="0"/>
                <a:ea typeface="Arial" pitchFamily="34" charset="-122"/>
                <a:cs typeface="Arial" pitchFamily="34" charset="-120"/>
              </a:rPr>
              <a:t>. </a:t>
            </a:r>
            <a:pPr algn="l" indent="0" marL="0">
              <a:lnSpc>
                <a:spcPts val="1540"/>
              </a:lnSpc>
              <a:buNone/>
            </a:pPr>
            <a:r>
              <a:rPr lang="en-US" sz="1100" b="1" dirty="0">
                <a:solidFill>
                  <a:srgbClr val="0E2B29"/>
                </a:solidFill>
                <a:latin typeface="Arial" pitchFamily="34" charset="0"/>
                <a:ea typeface="Arial" pitchFamily="34" charset="-122"/>
                <a:cs typeface="Arial" pitchFamily="34" charset="-120"/>
              </a:rPr>
              <a:t>Supabase</a:t>
            </a:r>
            <a:pPr algn="l" indent="0" marL="0">
              <a:lnSpc>
                <a:spcPts val="1540"/>
              </a:lnSpc>
              <a:buNone/>
            </a:pPr>
            <a:r>
              <a:rPr lang="en-US" sz="1100" dirty="0">
                <a:solidFill>
                  <a:srgbClr val="0E2B29"/>
                </a:solidFill>
                <a:latin typeface="Arial" pitchFamily="34" charset="0"/>
                <a:ea typeface="Arial" pitchFamily="34" charset="-122"/>
                <a:cs typeface="Arial" pitchFamily="34" charset="-120"/>
              </a:rPr>
              <a:t> là trục: pipeline Python ghi kết quả, frontend đọc trực tiếp để hiển thị realtime.</a:t>
            </a:r>
            <a:endParaRPr lang="en-US" sz="1100" dirty="0"/>
          </a:p>
        </p:txBody>
      </p:sp>
      <p:sp>
        <p:nvSpPr>
          <p:cNvPr id="37" name="Text 35"/>
          <p:cNvSpPr/>
          <p:nvPr/>
        </p:nvSpPr>
        <p:spPr>
          <a:xfrm>
            <a:off x="381000" y="4673798"/>
            <a:ext cx="8549640" cy="114300"/>
          </a:xfrm>
          <a:prstGeom prst="rect">
            <a:avLst/>
          </a:prstGeom>
          <a:noFill/>
          <a:ln/>
        </p:spPr>
        <p:txBody>
          <a:bodyPr wrap="square" lIns="0" tIns="0" rIns="0" bIns="0" rtlCol="0" anchor="t"/>
          <a:lstStyle/>
          <a:p>
            <a:pPr algn="l" indent="0" marL="0">
              <a:spcBef>
                <a:spcPts val="11998"/>
              </a:spcBef>
              <a:spcAft>
                <a:spcPts val="800"/>
              </a:spcAft>
              <a:buNone/>
            </a:pPr>
            <a:r>
              <a:rPr lang="en-US" sz="800" dirty="0">
                <a:solidFill>
                  <a:srgbClr val="5C7470"/>
                </a:solidFill>
                <a:latin typeface="Arial" pitchFamily="34" charset="0"/>
                <a:ea typeface="Arial" pitchFamily="34" charset="-122"/>
                <a:cs typeface="Arial" pitchFamily="34" charset="-120"/>
              </a:rPr>
              <a:t>xanhSM · AI Quality Intelligence Platform · AI20K Cohort 2 — Team 116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30101"/>
            <a:ext cx="8549640" cy="142875"/>
          </a:xfrm>
          <a:prstGeom prst="rect">
            <a:avLst/>
          </a:prstGeom>
          <a:noFill/>
          <a:ln/>
        </p:spPr>
        <p:txBody>
          <a:bodyPr wrap="square" lIns="0" tIns="0" rIns="0" bIns="0" rtlCol="0" anchor="t"/>
          <a:lstStyle/>
          <a:p>
            <a:pPr algn="l" indent="0" marL="0">
              <a:spcAft>
                <a:spcPts val="400"/>
              </a:spcAft>
              <a:buNone/>
            </a:pPr>
            <a:r>
              <a:rPr lang="en-US" sz="1000" b="1" dirty="0">
                <a:solidFill>
                  <a:srgbClr val="0E8C84"/>
                </a:solidFill>
                <a:latin typeface="Arial" pitchFamily="34" charset="0"/>
                <a:ea typeface="Arial" pitchFamily="34" charset="-122"/>
                <a:cs typeface="Arial" pitchFamily="34" charset="-120"/>
              </a:rPr>
              <a:t>LUỒNG VẬN HÀNH E2E</a:t>
            </a:r>
            <a:endParaRPr lang="en-US" sz="1000" dirty="0"/>
          </a:p>
        </p:txBody>
      </p:sp>
      <p:sp>
        <p:nvSpPr>
          <p:cNvPr id="3" name="Text 1"/>
          <p:cNvSpPr/>
          <p:nvPr/>
        </p:nvSpPr>
        <p:spPr>
          <a:xfrm>
            <a:off x="381000" y="523726"/>
            <a:ext cx="8549640" cy="342751"/>
          </a:xfrm>
          <a:prstGeom prst="rect">
            <a:avLst/>
          </a:prstGeom>
          <a:noFill/>
          <a:ln/>
        </p:spPr>
        <p:txBody>
          <a:bodyPr wrap="square" lIns="0" tIns="0" rIns="0" bIns="0" rtlCol="0" anchor="t"/>
          <a:lstStyle/>
          <a:p>
            <a:pPr algn="l" indent="0" marL="0">
              <a:lnSpc>
                <a:spcPts val="2700"/>
              </a:lnSpc>
              <a:buNone/>
            </a:pPr>
            <a:r>
              <a:rPr lang="en-US" sz="2500" b="1" dirty="0">
                <a:solidFill>
                  <a:srgbClr val="0B5E5C"/>
                </a:solidFill>
                <a:latin typeface="Arial" pitchFamily="34" charset="0"/>
                <a:ea typeface="Arial" pitchFamily="34" charset="-122"/>
                <a:cs typeface="Arial" pitchFamily="34" charset="-120"/>
              </a:rPr>
              <a:t>Từ review thô đến task được phê duyệt</a:t>
            </a:r>
            <a:endParaRPr lang="en-US" sz="2500" dirty="0"/>
          </a:p>
        </p:txBody>
      </p:sp>
      <p:sp>
        <p:nvSpPr>
          <p:cNvPr id="4" name="Text 2"/>
          <p:cNvSpPr/>
          <p:nvPr/>
        </p:nvSpPr>
        <p:spPr>
          <a:xfrm>
            <a:off x="381000" y="929878"/>
            <a:ext cx="8549640" cy="181570"/>
          </a:xfrm>
          <a:prstGeom prst="rect">
            <a:avLst/>
          </a:prstGeom>
          <a:noFill/>
          <a:ln/>
        </p:spPr>
        <p:txBody>
          <a:bodyPr wrap="square" lIns="0" tIns="0" rIns="0" bIns="0" rtlCol="0" anchor="t"/>
          <a:lstStyle/>
          <a:p>
            <a:pPr algn="l" indent="0" marL="0">
              <a:lnSpc>
                <a:spcPts val="1430"/>
              </a:lnSpc>
              <a:spcBef>
                <a:spcPts val="500"/>
              </a:spcBef>
              <a:buNone/>
            </a:pPr>
            <a:r>
              <a:rPr lang="en-US" sz="1100" dirty="0">
                <a:solidFill>
                  <a:srgbClr val="5C7470"/>
                </a:solidFill>
                <a:latin typeface="Arial" pitchFamily="34" charset="0"/>
                <a:ea typeface="Arial" pitchFamily="34" charset="-122"/>
                <a:cs typeface="Arial" pitchFamily="34" charset="-120"/>
              </a:rPr>
              <a:t>Mỗi bước có sản phẩm rõ ràng và có thể kiểm chứng — máy làm phần nặng, con người giữ quyết định quan trọng.</a:t>
            </a:r>
            <a:endParaRPr lang="en-US" sz="1100" dirty="0"/>
          </a:p>
        </p:txBody>
      </p:sp>
      <p:sp>
        <p:nvSpPr>
          <p:cNvPr id="5" name="Text 3"/>
          <p:cNvSpPr/>
          <p:nvPr/>
        </p:nvSpPr>
        <p:spPr>
          <a:xfrm>
            <a:off x="634305" y="1441549"/>
            <a:ext cx="330101" cy="330101"/>
          </a:xfrm>
          <a:prstGeom prst="roundRect">
            <a:avLst>
              <a:gd name="adj" fmla="val 277006"/>
            </a:avLst>
          </a:prstGeom>
          <a:solidFill>
            <a:srgbClr val="0E8C84"/>
          </a:solidFill>
          <a:ln/>
        </p:spPr>
        <p:txBody>
          <a:bodyPr wrap="square" rtlCol="0" anchor="ctr"/>
          <a:lstStyle/>
          <a:p>
            <a:pPr indent="0" marL="0">
              <a:buNone/>
            </a:pPr>
            <a:endParaRPr lang="en-US" dirty="0"/>
          </a:p>
        </p:txBody>
      </p:sp>
      <p:sp>
        <p:nvSpPr>
          <p:cNvPr id="6" name="Text 4"/>
          <p:cNvSpPr/>
          <p:nvPr/>
        </p:nvSpPr>
        <p:spPr>
          <a:xfrm>
            <a:off x="759735" y="1530400"/>
            <a:ext cx="79242" cy="152400"/>
          </a:xfrm>
          <a:prstGeom prst="rect">
            <a:avLst/>
          </a:prstGeom>
          <a:noFill/>
          <a:ln/>
        </p:spPr>
        <p:txBody>
          <a:bodyPr wrap="square" lIns="0" tIns="0" rIns="0" bIns="0" rtlCol="0" anchor="t"/>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7" name="Text 5"/>
          <p:cNvSpPr/>
          <p:nvPr/>
        </p:nvSpPr>
        <p:spPr>
          <a:xfrm>
            <a:off x="372631" y="1835051"/>
            <a:ext cx="853598" cy="285750"/>
          </a:xfrm>
          <a:prstGeom prst="rect">
            <a:avLst/>
          </a:prstGeom>
          <a:noFill/>
          <a:ln/>
        </p:spPr>
        <p:txBody>
          <a:bodyPr wrap="square" lIns="0" tIns="0" rIns="0" bIns="0" rtlCol="0" anchor="t"/>
          <a:lstStyle/>
          <a:p>
            <a:pPr algn="ctr" indent="0" marL="0">
              <a:lnSpc>
                <a:spcPts val="1125"/>
              </a:lnSpc>
              <a:spcBef>
                <a:spcPts val="500"/>
              </a:spcBef>
              <a:buNone/>
            </a:pPr>
            <a:r>
              <a:rPr lang="en-US" sz="900" dirty="0">
                <a:solidFill>
                  <a:srgbClr val="0E2B29"/>
                </a:solidFill>
                <a:latin typeface="Arial" pitchFamily="34" charset="0"/>
                <a:ea typeface="Arial" pitchFamily="34" charset="-122"/>
                <a:cs typeface="Arial" pitchFamily="34" charset="-120"/>
              </a:rPr>
              <a:t>Review thô đa kênh</a:t>
            </a:r>
            <a:endParaRPr lang="en-US" sz="900" dirty="0"/>
          </a:p>
        </p:txBody>
      </p:sp>
      <p:sp>
        <p:nvSpPr>
          <p:cNvPr id="8" name="Text 6"/>
          <p:cNvSpPr/>
          <p:nvPr/>
        </p:nvSpPr>
        <p:spPr>
          <a:xfrm>
            <a:off x="1243161" y="1671638"/>
            <a:ext cx="194310" cy="219075"/>
          </a:xfrm>
          <a:prstGeom prst="rect">
            <a:avLst/>
          </a:prstGeom>
          <a:noFill/>
          <a:ln/>
        </p:spPr>
        <p:txBody>
          <a:bodyPr wrap="square" lIns="0" tIns="0" rIns="0" bIns="0" rtlCol="0" anchor="t"/>
          <a:lstStyle/>
          <a:p>
            <a:pPr algn="l" indent="0" marL="0">
              <a:buNone/>
            </a:pPr>
            <a:r>
              <a:rPr lang="en-US" sz="1500" b="1" dirty="0">
                <a:solidFill>
                  <a:srgbClr val="34D399"/>
                </a:solidFill>
                <a:latin typeface="Arial" pitchFamily="34" charset="0"/>
                <a:ea typeface="Arial" pitchFamily="34" charset="-122"/>
                <a:cs typeface="Arial" pitchFamily="34" charset="-120"/>
              </a:rPr>
              <a:t>→</a:t>
            </a:r>
            <a:endParaRPr lang="en-US" sz="1500" dirty="0"/>
          </a:p>
        </p:txBody>
      </p:sp>
      <p:sp>
        <p:nvSpPr>
          <p:cNvPr id="9" name="Text 7"/>
          <p:cNvSpPr/>
          <p:nvPr/>
        </p:nvSpPr>
        <p:spPr>
          <a:xfrm>
            <a:off x="1712268" y="1441549"/>
            <a:ext cx="330101" cy="330101"/>
          </a:xfrm>
          <a:prstGeom prst="roundRect">
            <a:avLst>
              <a:gd name="adj" fmla="val 277006"/>
            </a:avLst>
          </a:prstGeom>
          <a:solidFill>
            <a:srgbClr val="0E8C84"/>
          </a:solidFill>
          <a:ln/>
        </p:spPr>
        <p:txBody>
          <a:bodyPr wrap="square" rtlCol="0" anchor="ctr"/>
          <a:lstStyle/>
          <a:p>
            <a:pPr indent="0" marL="0">
              <a:buNone/>
            </a:pPr>
            <a:endParaRPr lang="en-US" dirty="0"/>
          </a:p>
        </p:txBody>
      </p:sp>
      <p:sp>
        <p:nvSpPr>
          <p:cNvPr id="10" name="Text 8"/>
          <p:cNvSpPr/>
          <p:nvPr/>
        </p:nvSpPr>
        <p:spPr>
          <a:xfrm>
            <a:off x="1837697" y="1530400"/>
            <a:ext cx="79242" cy="152400"/>
          </a:xfrm>
          <a:prstGeom prst="rect">
            <a:avLst/>
          </a:prstGeom>
          <a:noFill/>
          <a:ln/>
        </p:spPr>
        <p:txBody>
          <a:bodyPr wrap="square" lIns="0" tIns="0" rIns="0" bIns="0" rtlCol="0" anchor="t"/>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1" name="Text 9"/>
          <p:cNvSpPr/>
          <p:nvPr/>
        </p:nvSpPr>
        <p:spPr>
          <a:xfrm>
            <a:off x="1465624" y="1835051"/>
            <a:ext cx="823389" cy="142875"/>
          </a:xfrm>
          <a:prstGeom prst="rect">
            <a:avLst/>
          </a:prstGeom>
          <a:noFill/>
          <a:ln/>
        </p:spPr>
        <p:txBody>
          <a:bodyPr wrap="square" lIns="0" tIns="0" rIns="0" bIns="0" rtlCol="0" anchor="t"/>
          <a:lstStyle/>
          <a:p>
            <a:pPr algn="ctr" indent="0" marL="0">
              <a:lnSpc>
                <a:spcPts val="1125"/>
              </a:lnSpc>
              <a:spcBef>
                <a:spcPts val="500"/>
              </a:spcBef>
              <a:buNone/>
            </a:pPr>
            <a:r>
              <a:rPr lang="en-US" sz="900" dirty="0">
                <a:solidFill>
                  <a:srgbClr val="0E2B29"/>
                </a:solidFill>
                <a:latin typeface="Arial" pitchFamily="34" charset="0"/>
                <a:ea typeface="Arial" pitchFamily="34" charset="-122"/>
                <a:cs typeface="Arial" pitchFamily="34" charset="-120"/>
              </a:rPr>
              <a:t>Che PII tự động</a:t>
            </a:r>
            <a:endParaRPr lang="en-US" sz="900" dirty="0"/>
          </a:p>
        </p:txBody>
      </p:sp>
      <p:sp>
        <p:nvSpPr>
          <p:cNvPr id="12" name="Text 10"/>
          <p:cNvSpPr/>
          <p:nvPr/>
        </p:nvSpPr>
        <p:spPr>
          <a:xfrm>
            <a:off x="2320975" y="1671638"/>
            <a:ext cx="194310" cy="219075"/>
          </a:xfrm>
          <a:prstGeom prst="rect">
            <a:avLst/>
          </a:prstGeom>
          <a:noFill/>
          <a:ln/>
        </p:spPr>
        <p:txBody>
          <a:bodyPr wrap="square" lIns="0" tIns="0" rIns="0" bIns="0" rtlCol="0" anchor="t"/>
          <a:lstStyle/>
          <a:p>
            <a:pPr algn="l" indent="0" marL="0">
              <a:buNone/>
            </a:pPr>
            <a:r>
              <a:rPr lang="en-US" sz="1500" b="1" dirty="0">
                <a:solidFill>
                  <a:srgbClr val="34D399"/>
                </a:solidFill>
                <a:latin typeface="Arial" pitchFamily="34" charset="0"/>
                <a:ea typeface="Arial" pitchFamily="34" charset="-122"/>
                <a:cs typeface="Arial" pitchFamily="34" charset="-120"/>
              </a:rPr>
              <a:t>→</a:t>
            </a:r>
            <a:endParaRPr lang="en-US" sz="1500" dirty="0"/>
          </a:p>
        </p:txBody>
      </p:sp>
      <p:sp>
        <p:nvSpPr>
          <p:cNvPr id="13" name="Text 11"/>
          <p:cNvSpPr/>
          <p:nvPr/>
        </p:nvSpPr>
        <p:spPr>
          <a:xfrm>
            <a:off x="2790081" y="1441549"/>
            <a:ext cx="330101" cy="330101"/>
          </a:xfrm>
          <a:prstGeom prst="roundRect">
            <a:avLst>
              <a:gd name="adj" fmla="val 277006"/>
            </a:avLst>
          </a:prstGeom>
          <a:solidFill>
            <a:srgbClr val="0E8C84"/>
          </a:solidFill>
          <a:ln/>
        </p:spPr>
        <p:txBody>
          <a:bodyPr wrap="square" rtlCol="0" anchor="ctr"/>
          <a:lstStyle/>
          <a:p>
            <a:pPr indent="0" marL="0">
              <a:buNone/>
            </a:pPr>
            <a:endParaRPr lang="en-US" dirty="0"/>
          </a:p>
        </p:txBody>
      </p:sp>
      <p:sp>
        <p:nvSpPr>
          <p:cNvPr id="14" name="Text 12"/>
          <p:cNvSpPr/>
          <p:nvPr/>
        </p:nvSpPr>
        <p:spPr>
          <a:xfrm>
            <a:off x="2915510" y="1530400"/>
            <a:ext cx="79242" cy="152400"/>
          </a:xfrm>
          <a:prstGeom prst="rect">
            <a:avLst/>
          </a:prstGeom>
          <a:noFill/>
          <a:ln/>
        </p:spPr>
        <p:txBody>
          <a:bodyPr wrap="square" lIns="0" tIns="0" rIns="0" bIns="0" rtlCol="0" anchor="t"/>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5" name="Text 13"/>
          <p:cNvSpPr/>
          <p:nvPr/>
        </p:nvSpPr>
        <p:spPr>
          <a:xfrm>
            <a:off x="2528407" y="1835051"/>
            <a:ext cx="853598" cy="285750"/>
          </a:xfrm>
          <a:prstGeom prst="rect">
            <a:avLst/>
          </a:prstGeom>
          <a:noFill/>
          <a:ln/>
        </p:spPr>
        <p:txBody>
          <a:bodyPr wrap="square" lIns="0" tIns="0" rIns="0" bIns="0" rtlCol="0" anchor="t"/>
          <a:lstStyle/>
          <a:p>
            <a:pPr algn="ctr" indent="0" marL="0">
              <a:lnSpc>
                <a:spcPts val="1125"/>
              </a:lnSpc>
              <a:spcBef>
                <a:spcPts val="500"/>
              </a:spcBef>
              <a:buNone/>
            </a:pPr>
            <a:r>
              <a:rPr lang="en-US" sz="900" dirty="0">
                <a:solidFill>
                  <a:srgbClr val="0E2B29"/>
                </a:solidFill>
                <a:latin typeface="Arial" pitchFamily="34" charset="0"/>
                <a:ea typeface="Arial" pitchFamily="34" charset="-122"/>
                <a:cs typeface="Arial" pitchFamily="34" charset="-120"/>
              </a:rPr>
              <a:t>ML phân loại + rule safety</a:t>
            </a:r>
            <a:endParaRPr lang="en-US" sz="900" dirty="0"/>
          </a:p>
        </p:txBody>
      </p:sp>
      <p:sp>
        <p:nvSpPr>
          <p:cNvPr id="16" name="Text 14"/>
          <p:cNvSpPr/>
          <p:nvPr/>
        </p:nvSpPr>
        <p:spPr>
          <a:xfrm>
            <a:off x="3398937" y="1671638"/>
            <a:ext cx="194310" cy="219075"/>
          </a:xfrm>
          <a:prstGeom prst="rect">
            <a:avLst/>
          </a:prstGeom>
          <a:noFill/>
          <a:ln/>
        </p:spPr>
        <p:txBody>
          <a:bodyPr wrap="square" lIns="0" tIns="0" rIns="0" bIns="0" rtlCol="0" anchor="t"/>
          <a:lstStyle/>
          <a:p>
            <a:pPr algn="l" indent="0" marL="0">
              <a:buNone/>
            </a:pPr>
            <a:r>
              <a:rPr lang="en-US" sz="1500" b="1" dirty="0">
                <a:solidFill>
                  <a:srgbClr val="34D399"/>
                </a:solidFill>
                <a:latin typeface="Arial" pitchFamily="34" charset="0"/>
                <a:ea typeface="Arial" pitchFamily="34" charset="-122"/>
                <a:cs typeface="Arial" pitchFamily="34" charset="-120"/>
              </a:rPr>
              <a:t>→</a:t>
            </a:r>
            <a:endParaRPr lang="en-US" sz="1500" dirty="0"/>
          </a:p>
        </p:txBody>
      </p:sp>
      <p:sp>
        <p:nvSpPr>
          <p:cNvPr id="17" name="Text 15"/>
          <p:cNvSpPr/>
          <p:nvPr/>
        </p:nvSpPr>
        <p:spPr>
          <a:xfrm>
            <a:off x="3868043" y="1441549"/>
            <a:ext cx="330101" cy="330101"/>
          </a:xfrm>
          <a:prstGeom prst="roundRect">
            <a:avLst>
              <a:gd name="adj" fmla="val 277006"/>
            </a:avLst>
          </a:prstGeom>
          <a:solidFill>
            <a:srgbClr val="0E8C84"/>
          </a:solidFill>
          <a:ln/>
        </p:spPr>
        <p:txBody>
          <a:bodyPr wrap="square" rtlCol="0" anchor="ctr"/>
          <a:lstStyle/>
          <a:p>
            <a:pPr indent="0" marL="0">
              <a:buNone/>
            </a:pPr>
            <a:endParaRPr lang="en-US" dirty="0"/>
          </a:p>
        </p:txBody>
      </p:sp>
      <p:sp>
        <p:nvSpPr>
          <p:cNvPr id="18" name="Text 16"/>
          <p:cNvSpPr/>
          <p:nvPr/>
        </p:nvSpPr>
        <p:spPr>
          <a:xfrm>
            <a:off x="3993472" y="1530400"/>
            <a:ext cx="79242" cy="152400"/>
          </a:xfrm>
          <a:prstGeom prst="rect">
            <a:avLst/>
          </a:prstGeom>
          <a:noFill/>
          <a:ln/>
        </p:spPr>
        <p:txBody>
          <a:bodyPr wrap="square" lIns="0" tIns="0" rIns="0" bIns="0" rtlCol="0" anchor="t"/>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19" name="Text 17"/>
          <p:cNvSpPr/>
          <p:nvPr/>
        </p:nvSpPr>
        <p:spPr>
          <a:xfrm>
            <a:off x="3634454" y="1835051"/>
            <a:ext cx="797278" cy="142875"/>
          </a:xfrm>
          <a:prstGeom prst="rect">
            <a:avLst/>
          </a:prstGeom>
          <a:noFill/>
          <a:ln/>
        </p:spPr>
        <p:txBody>
          <a:bodyPr wrap="square" lIns="0" tIns="0" rIns="0" bIns="0" rtlCol="0" anchor="t"/>
          <a:lstStyle/>
          <a:p>
            <a:pPr algn="ctr" indent="0" marL="0">
              <a:lnSpc>
                <a:spcPts val="1125"/>
              </a:lnSpc>
              <a:spcBef>
                <a:spcPts val="500"/>
              </a:spcBef>
              <a:buNone/>
            </a:pPr>
            <a:r>
              <a:rPr lang="en-US" sz="900" dirty="0">
                <a:solidFill>
                  <a:srgbClr val="0E2B29"/>
                </a:solidFill>
                <a:latin typeface="Arial" pitchFamily="34" charset="0"/>
                <a:ea typeface="Arial" pitchFamily="34" charset="-122"/>
                <a:cs typeface="Arial" pitchFamily="34" charset="-120"/>
              </a:rPr>
              <a:t>Phát hiện spike</a:t>
            </a:r>
            <a:endParaRPr lang="en-US" sz="900" dirty="0"/>
          </a:p>
        </p:txBody>
      </p:sp>
      <p:sp>
        <p:nvSpPr>
          <p:cNvPr id="20" name="Text 18"/>
          <p:cNvSpPr/>
          <p:nvPr/>
        </p:nvSpPr>
        <p:spPr>
          <a:xfrm>
            <a:off x="4476750" y="1671638"/>
            <a:ext cx="194310" cy="219075"/>
          </a:xfrm>
          <a:prstGeom prst="rect">
            <a:avLst/>
          </a:prstGeom>
          <a:noFill/>
          <a:ln/>
        </p:spPr>
        <p:txBody>
          <a:bodyPr wrap="square" lIns="0" tIns="0" rIns="0" bIns="0" rtlCol="0" anchor="t"/>
          <a:lstStyle/>
          <a:p>
            <a:pPr algn="l" indent="0" marL="0">
              <a:buNone/>
            </a:pPr>
            <a:r>
              <a:rPr lang="en-US" sz="1500" b="1" dirty="0">
                <a:solidFill>
                  <a:srgbClr val="34D399"/>
                </a:solidFill>
                <a:latin typeface="Arial" pitchFamily="34" charset="0"/>
                <a:ea typeface="Arial" pitchFamily="34" charset="-122"/>
                <a:cs typeface="Arial" pitchFamily="34" charset="-120"/>
              </a:rPr>
              <a:t>→</a:t>
            </a:r>
            <a:endParaRPr lang="en-US" sz="1500" dirty="0"/>
          </a:p>
        </p:txBody>
      </p:sp>
      <p:sp>
        <p:nvSpPr>
          <p:cNvPr id="21" name="Text 19"/>
          <p:cNvSpPr/>
          <p:nvPr/>
        </p:nvSpPr>
        <p:spPr>
          <a:xfrm>
            <a:off x="4945856" y="1441549"/>
            <a:ext cx="330101" cy="330101"/>
          </a:xfrm>
          <a:prstGeom prst="roundRect">
            <a:avLst>
              <a:gd name="adj" fmla="val 277006"/>
            </a:avLst>
          </a:prstGeom>
          <a:solidFill>
            <a:srgbClr val="0E8C84"/>
          </a:solidFill>
          <a:ln/>
        </p:spPr>
        <p:txBody>
          <a:bodyPr wrap="square" rtlCol="0" anchor="ctr"/>
          <a:lstStyle/>
          <a:p>
            <a:pPr indent="0" marL="0">
              <a:buNone/>
            </a:pPr>
            <a:endParaRPr lang="en-US" dirty="0"/>
          </a:p>
        </p:txBody>
      </p:sp>
      <p:sp>
        <p:nvSpPr>
          <p:cNvPr id="22" name="Text 20"/>
          <p:cNvSpPr/>
          <p:nvPr/>
        </p:nvSpPr>
        <p:spPr>
          <a:xfrm>
            <a:off x="5071286" y="1530400"/>
            <a:ext cx="79242" cy="152400"/>
          </a:xfrm>
          <a:prstGeom prst="rect">
            <a:avLst/>
          </a:prstGeom>
          <a:noFill/>
          <a:ln/>
        </p:spPr>
        <p:txBody>
          <a:bodyPr wrap="square" lIns="0" tIns="0" rIns="0" bIns="0" rtlCol="0" anchor="t"/>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23" name="Text 21"/>
          <p:cNvSpPr/>
          <p:nvPr/>
        </p:nvSpPr>
        <p:spPr>
          <a:xfrm>
            <a:off x="4684182" y="1835051"/>
            <a:ext cx="853598" cy="285750"/>
          </a:xfrm>
          <a:prstGeom prst="rect">
            <a:avLst/>
          </a:prstGeom>
          <a:noFill/>
          <a:ln/>
        </p:spPr>
        <p:txBody>
          <a:bodyPr wrap="square" lIns="0" tIns="0" rIns="0" bIns="0" rtlCol="0" anchor="t"/>
          <a:lstStyle/>
          <a:p>
            <a:pPr algn="ctr" indent="0" marL="0">
              <a:lnSpc>
                <a:spcPts val="1125"/>
              </a:lnSpc>
              <a:spcBef>
                <a:spcPts val="500"/>
              </a:spcBef>
              <a:buNone/>
            </a:pPr>
            <a:r>
              <a:rPr lang="en-US" sz="900" dirty="0">
                <a:solidFill>
                  <a:srgbClr val="0E2B29"/>
                </a:solidFill>
                <a:latin typeface="Arial" pitchFamily="34" charset="0"/>
                <a:ea typeface="Arial" pitchFamily="34" charset="-122"/>
                <a:cs typeface="Arial" pitchFamily="34" charset="-120"/>
              </a:rPr>
              <a:t>Alert / Ticket định tuyến</a:t>
            </a:r>
            <a:endParaRPr lang="en-US" sz="900" dirty="0"/>
          </a:p>
        </p:txBody>
      </p:sp>
      <p:sp>
        <p:nvSpPr>
          <p:cNvPr id="24" name="Text 22"/>
          <p:cNvSpPr/>
          <p:nvPr/>
        </p:nvSpPr>
        <p:spPr>
          <a:xfrm>
            <a:off x="5554712" y="1671638"/>
            <a:ext cx="194310" cy="219075"/>
          </a:xfrm>
          <a:prstGeom prst="rect">
            <a:avLst/>
          </a:prstGeom>
          <a:noFill/>
          <a:ln/>
        </p:spPr>
        <p:txBody>
          <a:bodyPr wrap="square" lIns="0" tIns="0" rIns="0" bIns="0" rtlCol="0" anchor="t"/>
          <a:lstStyle/>
          <a:p>
            <a:pPr algn="l" indent="0" marL="0">
              <a:buNone/>
            </a:pPr>
            <a:r>
              <a:rPr lang="en-US" sz="1500" b="1" dirty="0">
                <a:solidFill>
                  <a:srgbClr val="34D399"/>
                </a:solidFill>
                <a:latin typeface="Arial" pitchFamily="34" charset="0"/>
                <a:ea typeface="Arial" pitchFamily="34" charset="-122"/>
                <a:cs typeface="Arial" pitchFamily="34" charset="-120"/>
              </a:rPr>
              <a:t>→</a:t>
            </a:r>
            <a:endParaRPr lang="en-US" sz="1500" dirty="0"/>
          </a:p>
        </p:txBody>
      </p:sp>
      <p:sp>
        <p:nvSpPr>
          <p:cNvPr id="25" name="Text 23"/>
          <p:cNvSpPr/>
          <p:nvPr/>
        </p:nvSpPr>
        <p:spPr>
          <a:xfrm>
            <a:off x="6023818" y="1441549"/>
            <a:ext cx="330101" cy="330101"/>
          </a:xfrm>
          <a:prstGeom prst="roundRect">
            <a:avLst>
              <a:gd name="adj" fmla="val 277006"/>
            </a:avLst>
          </a:prstGeom>
          <a:solidFill>
            <a:srgbClr val="0E8C84"/>
          </a:solidFill>
          <a:ln/>
        </p:spPr>
        <p:txBody>
          <a:bodyPr wrap="square" rtlCol="0" anchor="ctr"/>
          <a:lstStyle/>
          <a:p>
            <a:pPr indent="0" marL="0">
              <a:buNone/>
            </a:pPr>
            <a:endParaRPr lang="en-US" dirty="0"/>
          </a:p>
        </p:txBody>
      </p:sp>
      <p:sp>
        <p:nvSpPr>
          <p:cNvPr id="26" name="Text 24"/>
          <p:cNvSpPr/>
          <p:nvPr/>
        </p:nvSpPr>
        <p:spPr>
          <a:xfrm>
            <a:off x="6149248" y="1530400"/>
            <a:ext cx="79242" cy="152400"/>
          </a:xfrm>
          <a:prstGeom prst="rect">
            <a:avLst/>
          </a:prstGeom>
          <a:noFill/>
          <a:ln/>
        </p:spPr>
        <p:txBody>
          <a:bodyPr wrap="square" lIns="0" tIns="0" rIns="0" bIns="0" rtlCol="0" anchor="t"/>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27" name="Text 25"/>
          <p:cNvSpPr/>
          <p:nvPr/>
        </p:nvSpPr>
        <p:spPr>
          <a:xfrm>
            <a:off x="5762146" y="1835051"/>
            <a:ext cx="853446" cy="285750"/>
          </a:xfrm>
          <a:prstGeom prst="rect">
            <a:avLst/>
          </a:prstGeom>
          <a:noFill/>
          <a:ln/>
        </p:spPr>
        <p:txBody>
          <a:bodyPr wrap="square" lIns="0" tIns="0" rIns="0" bIns="0" rtlCol="0" anchor="t"/>
          <a:lstStyle/>
          <a:p>
            <a:pPr algn="ctr" indent="0" marL="0">
              <a:lnSpc>
                <a:spcPts val="1125"/>
              </a:lnSpc>
              <a:spcBef>
                <a:spcPts val="500"/>
              </a:spcBef>
              <a:buNone/>
            </a:pPr>
            <a:r>
              <a:rPr lang="en-US" sz="900" dirty="0">
                <a:solidFill>
                  <a:srgbClr val="0E2B29"/>
                </a:solidFill>
                <a:latin typeface="Arial" pitchFamily="34" charset="0"/>
                <a:ea typeface="Arial" pitchFamily="34" charset="-122"/>
                <a:cs typeface="Arial" pitchFamily="34" charset="-120"/>
              </a:rPr>
              <a:t>Human-in-the-loop duyệt</a:t>
            </a:r>
            <a:endParaRPr lang="en-US" sz="900" dirty="0"/>
          </a:p>
        </p:txBody>
      </p:sp>
      <p:sp>
        <p:nvSpPr>
          <p:cNvPr id="28" name="Text 26"/>
          <p:cNvSpPr/>
          <p:nvPr/>
        </p:nvSpPr>
        <p:spPr>
          <a:xfrm>
            <a:off x="6632525" y="1671638"/>
            <a:ext cx="194310" cy="219075"/>
          </a:xfrm>
          <a:prstGeom prst="rect">
            <a:avLst/>
          </a:prstGeom>
          <a:noFill/>
          <a:ln/>
        </p:spPr>
        <p:txBody>
          <a:bodyPr wrap="square" lIns="0" tIns="0" rIns="0" bIns="0" rtlCol="0" anchor="t"/>
          <a:lstStyle/>
          <a:p>
            <a:pPr algn="l" indent="0" marL="0">
              <a:buNone/>
            </a:pPr>
            <a:r>
              <a:rPr lang="en-US" sz="1500" b="1" dirty="0">
                <a:solidFill>
                  <a:srgbClr val="34D399"/>
                </a:solidFill>
                <a:latin typeface="Arial" pitchFamily="34" charset="0"/>
                <a:ea typeface="Arial" pitchFamily="34" charset="-122"/>
                <a:cs typeface="Arial" pitchFamily="34" charset="-120"/>
              </a:rPr>
              <a:t>→</a:t>
            </a:r>
            <a:endParaRPr lang="en-US" sz="1500" dirty="0"/>
          </a:p>
        </p:txBody>
      </p:sp>
      <p:sp>
        <p:nvSpPr>
          <p:cNvPr id="29" name="Text 27"/>
          <p:cNvSpPr/>
          <p:nvPr/>
        </p:nvSpPr>
        <p:spPr>
          <a:xfrm>
            <a:off x="7101632" y="1441549"/>
            <a:ext cx="330101" cy="330101"/>
          </a:xfrm>
          <a:prstGeom prst="roundRect">
            <a:avLst>
              <a:gd name="adj" fmla="val 277006"/>
            </a:avLst>
          </a:prstGeom>
          <a:solidFill>
            <a:srgbClr val="0E8C84"/>
          </a:solidFill>
          <a:ln/>
        </p:spPr>
        <p:txBody>
          <a:bodyPr wrap="square" rtlCol="0" anchor="ctr"/>
          <a:lstStyle/>
          <a:p>
            <a:pPr indent="0" marL="0">
              <a:buNone/>
            </a:pPr>
            <a:endParaRPr lang="en-US" dirty="0"/>
          </a:p>
        </p:txBody>
      </p:sp>
      <p:sp>
        <p:nvSpPr>
          <p:cNvPr id="30" name="Text 28"/>
          <p:cNvSpPr/>
          <p:nvPr/>
        </p:nvSpPr>
        <p:spPr>
          <a:xfrm>
            <a:off x="7227061" y="1530400"/>
            <a:ext cx="79242" cy="152400"/>
          </a:xfrm>
          <a:prstGeom prst="rect">
            <a:avLst/>
          </a:prstGeom>
          <a:noFill/>
          <a:ln/>
        </p:spPr>
        <p:txBody>
          <a:bodyPr wrap="square" lIns="0" tIns="0" rIns="0" bIns="0" rtlCol="0" anchor="t"/>
          <a:lstStyle/>
          <a:p>
            <a:pPr algn="ctr" indent="0" marL="0">
              <a:buNone/>
            </a:pPr>
            <a:r>
              <a:rPr lang="en-US" sz="1100" b="1" dirty="0">
                <a:solidFill>
                  <a:srgbClr val="FFFFFF"/>
                </a:solidFill>
                <a:latin typeface="Arial" pitchFamily="34" charset="0"/>
                <a:ea typeface="Arial" pitchFamily="34" charset="-122"/>
                <a:cs typeface="Arial" pitchFamily="34" charset="-120"/>
              </a:rPr>
              <a:t>7</a:t>
            </a:r>
            <a:endParaRPr lang="en-US" sz="1100" dirty="0"/>
          </a:p>
        </p:txBody>
      </p:sp>
      <p:sp>
        <p:nvSpPr>
          <p:cNvPr id="31" name="Text 29"/>
          <p:cNvSpPr/>
          <p:nvPr/>
        </p:nvSpPr>
        <p:spPr>
          <a:xfrm>
            <a:off x="6839958" y="1835051"/>
            <a:ext cx="853598" cy="285750"/>
          </a:xfrm>
          <a:prstGeom prst="rect">
            <a:avLst/>
          </a:prstGeom>
          <a:noFill/>
          <a:ln/>
        </p:spPr>
        <p:txBody>
          <a:bodyPr wrap="square" lIns="0" tIns="0" rIns="0" bIns="0" rtlCol="0" anchor="t"/>
          <a:lstStyle/>
          <a:p>
            <a:pPr algn="ctr" indent="0" marL="0">
              <a:lnSpc>
                <a:spcPts val="1125"/>
              </a:lnSpc>
              <a:spcBef>
                <a:spcPts val="500"/>
              </a:spcBef>
              <a:buNone/>
            </a:pPr>
            <a:r>
              <a:rPr lang="en-US" sz="900" dirty="0">
                <a:solidFill>
                  <a:srgbClr val="0E2B29"/>
                </a:solidFill>
                <a:latin typeface="Arial" pitchFamily="34" charset="0"/>
                <a:ea typeface="Arial" pitchFamily="34" charset="-122"/>
                <a:cs typeface="Arial" pitchFamily="34" charset="-120"/>
              </a:rPr>
              <a:t>Báo cáo AI theo phòng</a:t>
            </a:r>
            <a:endParaRPr lang="en-US" sz="900" dirty="0"/>
          </a:p>
        </p:txBody>
      </p:sp>
      <p:sp>
        <p:nvSpPr>
          <p:cNvPr id="32" name="Text 30"/>
          <p:cNvSpPr/>
          <p:nvPr/>
        </p:nvSpPr>
        <p:spPr>
          <a:xfrm>
            <a:off x="7710487" y="1671638"/>
            <a:ext cx="194310" cy="219075"/>
          </a:xfrm>
          <a:prstGeom prst="rect">
            <a:avLst/>
          </a:prstGeom>
          <a:noFill/>
          <a:ln/>
        </p:spPr>
        <p:txBody>
          <a:bodyPr wrap="square" lIns="0" tIns="0" rIns="0" bIns="0" rtlCol="0" anchor="t"/>
          <a:lstStyle/>
          <a:p>
            <a:pPr algn="l" indent="0" marL="0">
              <a:buNone/>
            </a:pPr>
            <a:r>
              <a:rPr lang="en-US" sz="1500" b="1" dirty="0">
                <a:solidFill>
                  <a:srgbClr val="34D399"/>
                </a:solidFill>
                <a:latin typeface="Arial" pitchFamily="34" charset="0"/>
                <a:ea typeface="Arial" pitchFamily="34" charset="-122"/>
                <a:cs typeface="Arial" pitchFamily="34" charset="-120"/>
              </a:rPr>
              <a:t>→</a:t>
            </a:r>
            <a:endParaRPr lang="en-US" sz="1500" dirty="0"/>
          </a:p>
        </p:txBody>
      </p:sp>
      <p:sp>
        <p:nvSpPr>
          <p:cNvPr id="33" name="Text 31"/>
          <p:cNvSpPr/>
          <p:nvPr/>
        </p:nvSpPr>
        <p:spPr>
          <a:xfrm>
            <a:off x="8179594" y="1441549"/>
            <a:ext cx="330101" cy="330101"/>
          </a:xfrm>
          <a:prstGeom prst="roundRect">
            <a:avLst>
              <a:gd name="adj" fmla="val 277006"/>
            </a:avLst>
          </a:prstGeom>
          <a:solidFill>
            <a:srgbClr val="0E8C84"/>
          </a:solidFill>
          <a:ln/>
        </p:spPr>
        <p:txBody>
          <a:bodyPr wrap="square" rtlCol="0" anchor="ctr"/>
          <a:lstStyle/>
          <a:p>
            <a:pPr indent="0" marL="0">
              <a:buNone/>
            </a:pPr>
            <a:endParaRPr lang="en-US" dirty="0"/>
          </a:p>
        </p:txBody>
      </p:sp>
      <p:sp>
        <p:nvSpPr>
          <p:cNvPr id="34" name="Text 32"/>
          <p:cNvSpPr/>
          <p:nvPr/>
        </p:nvSpPr>
        <p:spPr>
          <a:xfrm>
            <a:off x="8305023" y="1530400"/>
            <a:ext cx="79242" cy="152400"/>
          </a:xfrm>
          <a:prstGeom prst="rect">
            <a:avLst/>
          </a:prstGeom>
          <a:noFill/>
          <a:ln/>
        </p:spPr>
        <p:txBody>
          <a:bodyPr wrap="square" lIns="0" tIns="0" rIns="0" bIns="0" rtlCol="0" anchor="t"/>
          <a:lstStyle/>
          <a:p>
            <a:pPr algn="ctr" indent="0" marL="0">
              <a:buNone/>
            </a:pPr>
            <a:r>
              <a:rPr lang="en-US" sz="1100" b="1" dirty="0">
                <a:solidFill>
                  <a:srgbClr val="FFFFFF"/>
                </a:solidFill>
                <a:latin typeface="Arial" pitchFamily="34" charset="0"/>
                <a:ea typeface="Arial" pitchFamily="34" charset="-122"/>
                <a:cs typeface="Arial" pitchFamily="34" charset="-120"/>
              </a:rPr>
              <a:t>8</a:t>
            </a:r>
            <a:endParaRPr lang="en-US" sz="1100" dirty="0"/>
          </a:p>
        </p:txBody>
      </p:sp>
      <p:sp>
        <p:nvSpPr>
          <p:cNvPr id="35" name="Text 33"/>
          <p:cNvSpPr/>
          <p:nvPr/>
        </p:nvSpPr>
        <p:spPr>
          <a:xfrm>
            <a:off x="7917921" y="1835051"/>
            <a:ext cx="853446" cy="285750"/>
          </a:xfrm>
          <a:prstGeom prst="rect">
            <a:avLst/>
          </a:prstGeom>
          <a:noFill/>
          <a:ln/>
        </p:spPr>
        <p:txBody>
          <a:bodyPr wrap="square" lIns="0" tIns="0" rIns="0" bIns="0" rtlCol="0" anchor="t"/>
          <a:lstStyle/>
          <a:p>
            <a:pPr algn="ctr" indent="0" marL="0">
              <a:lnSpc>
                <a:spcPts val="1125"/>
              </a:lnSpc>
              <a:spcBef>
                <a:spcPts val="500"/>
              </a:spcBef>
              <a:buNone/>
            </a:pPr>
            <a:r>
              <a:rPr lang="en-US" sz="900" dirty="0">
                <a:solidFill>
                  <a:srgbClr val="0E2B29"/>
                </a:solidFill>
                <a:latin typeface="Arial" pitchFamily="34" charset="0"/>
                <a:ea typeface="Arial" pitchFamily="34" charset="-122"/>
                <a:cs typeface="Arial" pitchFamily="34" charset="-120"/>
              </a:rPr>
              <a:t>Khép kín → Task</a:t>
            </a:r>
            <a:endParaRPr lang="en-US" sz="900" dirty="0"/>
          </a:p>
        </p:txBody>
      </p:sp>
      <p:sp>
        <p:nvSpPr>
          <p:cNvPr id="36" name="Text 34"/>
          <p:cNvSpPr/>
          <p:nvPr/>
        </p:nvSpPr>
        <p:spPr>
          <a:xfrm>
            <a:off x="381000" y="2450902"/>
            <a:ext cx="8382000" cy="714970"/>
          </a:xfrm>
          <a:prstGeom prst="roundRect">
            <a:avLst>
              <a:gd name="adj" fmla="val 17763"/>
            </a:avLst>
          </a:prstGeom>
          <a:solidFill>
            <a:srgbClr val="FFFFFF"/>
          </a:solidFill>
          <a:ln/>
        </p:spPr>
        <p:txBody>
          <a:bodyPr wrap="square" rtlCol="0" anchor="ctr"/>
          <a:lstStyle/>
          <a:p>
            <a:pPr indent="0" marL="0">
              <a:buNone/>
            </a:pPr>
            <a:endParaRPr lang="en-US" dirty="0"/>
          </a:p>
        </p:txBody>
      </p:sp>
      <p:sp>
        <p:nvSpPr>
          <p:cNvPr id="37" name="Shape 35"/>
          <p:cNvSpPr/>
          <p:nvPr/>
        </p:nvSpPr>
        <p:spPr>
          <a:xfrm>
            <a:off x="381000" y="2455664"/>
            <a:ext cx="8382000" cy="0"/>
          </a:xfrm>
          <a:prstGeom prst="line">
            <a:avLst/>
          </a:prstGeom>
          <a:noFill/>
          <a:ln w="9525">
            <a:solidFill>
              <a:srgbClr val="D9E8E4"/>
            </a:solidFill>
            <a:prstDash val="solid"/>
          </a:ln>
        </p:spPr>
      </p:sp>
      <p:sp>
        <p:nvSpPr>
          <p:cNvPr id="38" name="Shape 36"/>
          <p:cNvSpPr/>
          <p:nvPr/>
        </p:nvSpPr>
        <p:spPr>
          <a:xfrm>
            <a:off x="8758237" y="2450902"/>
            <a:ext cx="0" cy="714970"/>
          </a:xfrm>
          <a:prstGeom prst="line">
            <a:avLst/>
          </a:prstGeom>
          <a:noFill/>
          <a:ln w="9525">
            <a:solidFill>
              <a:srgbClr val="D9E8E4"/>
            </a:solidFill>
            <a:prstDash val="solid"/>
          </a:ln>
        </p:spPr>
      </p:sp>
      <p:sp>
        <p:nvSpPr>
          <p:cNvPr id="39" name="Shape 37"/>
          <p:cNvSpPr/>
          <p:nvPr/>
        </p:nvSpPr>
        <p:spPr>
          <a:xfrm>
            <a:off x="381000" y="3161109"/>
            <a:ext cx="8382000" cy="0"/>
          </a:xfrm>
          <a:prstGeom prst="line">
            <a:avLst/>
          </a:prstGeom>
          <a:noFill/>
          <a:ln w="9525">
            <a:solidFill>
              <a:srgbClr val="D9E8E4"/>
            </a:solidFill>
            <a:prstDash val="solid"/>
          </a:ln>
        </p:spPr>
      </p:sp>
      <p:sp>
        <p:nvSpPr>
          <p:cNvPr id="40" name="Shape 38"/>
          <p:cNvSpPr/>
          <p:nvPr/>
        </p:nvSpPr>
        <p:spPr>
          <a:xfrm>
            <a:off x="409575" y="2450902"/>
            <a:ext cx="0" cy="714970"/>
          </a:xfrm>
          <a:prstGeom prst="line">
            <a:avLst/>
          </a:prstGeom>
          <a:noFill/>
          <a:ln w="57150">
            <a:solidFill>
              <a:srgbClr val="34D399"/>
            </a:solidFill>
            <a:prstDash val="solid"/>
          </a:ln>
        </p:spPr>
      </p:sp>
      <p:sp>
        <p:nvSpPr>
          <p:cNvPr id="41" name="Text 39"/>
          <p:cNvSpPr/>
          <p:nvPr/>
        </p:nvSpPr>
        <p:spPr>
          <a:xfrm>
            <a:off x="590550" y="2612827"/>
            <a:ext cx="8170736" cy="391120"/>
          </a:xfrm>
          <a:prstGeom prst="rect">
            <a:avLst/>
          </a:prstGeom>
          <a:noFill/>
          <a:ln/>
        </p:spPr>
        <p:txBody>
          <a:bodyPr wrap="square" lIns="0" tIns="0" rIns="0" bIns="0" rtlCol="0" anchor="t"/>
          <a:lstStyle/>
          <a:p>
            <a:pPr algn="l" indent="0" marL="0">
              <a:lnSpc>
                <a:spcPts val="1540"/>
              </a:lnSpc>
              <a:buNone/>
            </a:pPr>
            <a:r>
              <a:rPr lang="en-US" sz="1100" b="1" dirty="0">
                <a:solidFill>
                  <a:srgbClr val="0E2B29"/>
                </a:solidFill>
                <a:latin typeface="Arial" pitchFamily="34" charset="0"/>
                <a:ea typeface="Arial" pitchFamily="34" charset="-122"/>
                <a:cs typeface="Arial" pitchFamily="34" charset="-120"/>
              </a:rPr>
              <a:t>Nguyên tắc xuyên suốt:</a:t>
            </a:r>
            <a:pPr algn="l" indent="0" marL="0">
              <a:lnSpc>
                <a:spcPts val="1540"/>
              </a:lnSpc>
              <a:buNone/>
            </a:pPr>
            <a:r>
              <a:rPr lang="en-US" sz="1100" dirty="0">
                <a:solidFill>
                  <a:srgbClr val="0E2B29"/>
                </a:solidFill>
                <a:latin typeface="Arial" pitchFamily="34" charset="0"/>
                <a:ea typeface="Arial" pitchFamily="34" charset="-122"/>
                <a:cs typeface="Arial" pitchFamily="34" charset="-120"/>
              </a:rPr>
              <a:t> an toàn ép mức P5 dù model nghĩ khác; ca không chắc/safety tự vào hàng đợi duyệt; mọi chỉnh sửa được ghi log phục vụ audit và retrain.</a:t>
            </a:r>
            <a:endParaRPr lang="en-US" sz="1100" dirty="0"/>
          </a:p>
        </p:txBody>
      </p:sp>
      <p:sp>
        <p:nvSpPr>
          <p:cNvPr id="42" name="Text 40"/>
          <p:cNvSpPr/>
          <p:nvPr/>
        </p:nvSpPr>
        <p:spPr>
          <a:xfrm>
            <a:off x="381000" y="4673798"/>
            <a:ext cx="8549640" cy="114300"/>
          </a:xfrm>
          <a:prstGeom prst="rect">
            <a:avLst/>
          </a:prstGeom>
          <a:noFill/>
          <a:ln/>
        </p:spPr>
        <p:txBody>
          <a:bodyPr wrap="square" lIns="0" tIns="0" rIns="0" bIns="0" rtlCol="0" anchor="t"/>
          <a:lstStyle/>
          <a:p>
            <a:pPr algn="l" indent="0" marL="0">
              <a:spcBef>
                <a:spcPts val="11873"/>
              </a:spcBef>
              <a:spcAft>
                <a:spcPts val="800"/>
              </a:spcAft>
              <a:buNone/>
            </a:pPr>
            <a:r>
              <a:rPr lang="en-US" sz="800" dirty="0">
                <a:solidFill>
                  <a:srgbClr val="5C7470"/>
                </a:solidFill>
                <a:latin typeface="Arial" pitchFamily="34" charset="0"/>
                <a:ea typeface="Arial" pitchFamily="34" charset="-122"/>
                <a:cs typeface="Arial" pitchFamily="34" charset="-120"/>
              </a:rPr>
              <a:t>xanhSM · AI Quality Intelligence Platform · AI20K Cohort 2 — Team 116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30101"/>
            <a:ext cx="8549640" cy="200025"/>
          </a:xfrm>
          <a:prstGeom prst="rect">
            <a:avLst/>
          </a:prstGeom>
          <a:noFill/>
          <a:ln/>
        </p:spPr>
        <p:txBody>
          <a:bodyPr wrap="square" lIns="0" tIns="0" rIns="0" bIns="0" rtlCol="0" anchor="t"/>
          <a:lstStyle/>
          <a:p>
            <a:pPr algn="l" indent="0" marL="0">
              <a:spcAft>
                <a:spcPts val="400"/>
              </a:spcAft>
              <a:buNone/>
            </a:pPr>
            <a:r>
              <a:rPr lang="en-US" sz="1000" b="1" dirty="0">
                <a:solidFill>
                  <a:srgbClr val="0E8C84"/>
                </a:solidFill>
                <a:latin typeface="Arial" pitchFamily="34" charset="0"/>
                <a:ea typeface="Arial" pitchFamily="34" charset="-122"/>
                <a:cs typeface="Arial" pitchFamily="34" charset="-120"/>
              </a:rPr>
              <a:t>CÁCH HOẠT ĐỘNG ①</a:t>
            </a:r>
            <a:endParaRPr lang="en-US" sz="1000" dirty="0"/>
          </a:p>
        </p:txBody>
      </p:sp>
      <p:sp>
        <p:nvSpPr>
          <p:cNvPr id="3" name="Text 1"/>
          <p:cNvSpPr/>
          <p:nvPr/>
        </p:nvSpPr>
        <p:spPr>
          <a:xfrm>
            <a:off x="381000" y="580876"/>
            <a:ext cx="8549640" cy="342751"/>
          </a:xfrm>
          <a:prstGeom prst="rect">
            <a:avLst/>
          </a:prstGeom>
          <a:noFill/>
          <a:ln/>
        </p:spPr>
        <p:txBody>
          <a:bodyPr wrap="square" lIns="0" tIns="0" rIns="0" bIns="0" rtlCol="0" anchor="t"/>
          <a:lstStyle/>
          <a:p>
            <a:pPr algn="l" indent="0" marL="0">
              <a:lnSpc>
                <a:spcPts val="2700"/>
              </a:lnSpc>
              <a:buNone/>
            </a:pPr>
            <a:r>
              <a:rPr lang="en-US" sz="2500" b="1" dirty="0">
                <a:solidFill>
                  <a:srgbClr val="0B5E5C"/>
                </a:solidFill>
                <a:latin typeface="Arial" pitchFamily="34" charset="0"/>
                <a:ea typeface="Arial" pitchFamily="34" charset="-122"/>
                <a:cs typeface="Arial" pitchFamily="34" charset="-120"/>
              </a:rPr>
              <a:t>Thu nhận, che PII &amp; phân loại tự động</a:t>
            </a:r>
            <a:endParaRPr lang="en-US" sz="2500" dirty="0"/>
          </a:p>
        </p:txBody>
      </p:sp>
      <p:sp>
        <p:nvSpPr>
          <p:cNvPr id="4" name="Text 2"/>
          <p:cNvSpPr/>
          <p:nvPr/>
        </p:nvSpPr>
        <p:spPr>
          <a:xfrm>
            <a:off x="381000" y="1152227"/>
            <a:ext cx="3048149" cy="1946672"/>
          </a:xfrm>
          <a:prstGeom prst="rect">
            <a:avLst/>
          </a:prstGeom>
          <a:noFill/>
          <a:ln/>
        </p:spPr>
        <p:txBody>
          <a:bodyPr wrap="square" lIns="88900" tIns="0" rIns="0" bIns="0" rtlCol="0" anchor="t"/>
          <a:lstStyle/>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Người gửi chỉ nhập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nội dung + kênh + khu vực</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 không khai nhãn.</a:t>
            </a:r>
            <a:endParaRPr lang="en-US" sz="1150" dirty="0"/>
          </a:p>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Mask tự động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SĐT, email, biển số</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trước khi lưu.</a:t>
            </a:r>
            <a:endParaRPr lang="en-US" sz="1150" dirty="0"/>
          </a:p>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ML TF-IDF/LinearSVC tự gán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topic · cảm xúc · severity + confidence</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a:t>
            </a:r>
            <a:endParaRPr lang="en-US" sz="1150" dirty="0"/>
          </a:p>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Luật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safety tiếng Việt</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ép P5 cho tai nạn/quấy rối — không nhường xác suất.</a:t>
            </a:r>
            <a:endParaRPr lang="en-US" sz="1150" dirty="0"/>
          </a:p>
        </p:txBody>
      </p:sp>
      <p:sp>
        <p:nvSpPr>
          <p:cNvPr id="5" name="Text 3"/>
          <p:cNvSpPr/>
          <p:nvPr/>
        </p:nvSpPr>
        <p:spPr>
          <a:xfrm>
            <a:off x="3632299" y="1076027"/>
            <a:ext cx="5130701" cy="3262759"/>
          </a:xfrm>
          <a:prstGeom prst="roundRect">
            <a:avLst>
              <a:gd name="adj" fmla="val 3892"/>
            </a:avLst>
          </a:prstGeom>
          <a:solidFill>
            <a:srgbClr val="FFFFFF"/>
          </a:solidFill>
          <a:ln w="9525">
            <a:solidFill>
              <a:srgbClr val="D9E8E4"/>
            </a:solidFill>
          </a:ln>
          <a:effectLst>
            <a:outerShdw sx="100000" sy="100000" kx="0" ky="0" algn="bl" rotWithShape="0" blurRad="133350" dist="47625" dir="3180000">
              <a:srgbClr val="0b5e5c">
                <a:alpha val="22000"/>
              </a:srgbClr>
            </a:outerShdw>
          </a:effectLst>
        </p:spPr>
        <p:txBody>
          <a:bodyPr wrap="square" rtlCol="0" anchor="ctr"/>
          <a:lstStyle/>
          <a:p>
            <a:pPr indent="0" marL="0">
              <a:buNone/>
            </a:pPr>
            <a:endParaRPr lang="en-US" dirty="0"/>
          </a:p>
        </p:txBody>
      </p:sp>
      <p:pic>
        <p:nvPicPr>
          <p:cNvPr id="6" name="Image 0" descr="/private/tmp/claude-501/-Users-kenz-de-projects-C2-App-116/3d8df5ac-6b2b-4cce-a997-fe0b4573b465/scratchpad/build/assets/feedback.png">    </p:cNvPr>
          <p:cNvPicPr>
            <a:picLocks noChangeAspect="1"/>
          </p:cNvPicPr>
          <p:nvPr/>
        </p:nvPicPr>
        <p:blipFill>
          <a:blip r:embed="rId1"/>
          <a:stretch>
            <a:fillRect/>
          </a:stretch>
        </p:blipFill>
        <p:spPr>
          <a:xfrm>
            <a:off x="3705225" y="1148953"/>
            <a:ext cx="4984849" cy="3116907"/>
          </a:xfrm>
          <a:prstGeom prst="rect">
            <a:avLst/>
          </a:prstGeom>
        </p:spPr>
      </p:pic>
      <p:sp>
        <p:nvSpPr>
          <p:cNvPr id="7" name="Text 4"/>
          <p:cNvSpPr/>
          <p:nvPr/>
        </p:nvSpPr>
        <p:spPr>
          <a:xfrm>
            <a:off x="381000" y="4673798"/>
            <a:ext cx="8549640" cy="114300"/>
          </a:xfrm>
          <a:prstGeom prst="rect">
            <a:avLst/>
          </a:prstGeom>
          <a:noFill/>
          <a:ln/>
        </p:spPr>
        <p:txBody>
          <a:bodyPr wrap="square" lIns="0" tIns="0" rIns="0" bIns="0" rtlCol="0" anchor="t"/>
          <a:lstStyle/>
          <a:p>
            <a:pPr algn="l" indent="0" marL="0">
              <a:spcAft>
                <a:spcPts val="800"/>
              </a:spcAft>
              <a:buNone/>
            </a:pPr>
            <a:r>
              <a:rPr lang="en-US" sz="800" dirty="0">
                <a:solidFill>
                  <a:srgbClr val="5C7470"/>
                </a:solidFill>
                <a:latin typeface="Arial" pitchFamily="34" charset="0"/>
                <a:ea typeface="Arial" pitchFamily="34" charset="-122"/>
                <a:cs typeface="Arial" pitchFamily="34" charset="-120"/>
              </a:rPr>
              <a:t>xanhSM · AI Quality Intelligence Platform · AI20K Cohort 2 — Team 116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30101"/>
            <a:ext cx="8549640" cy="200025"/>
          </a:xfrm>
          <a:prstGeom prst="rect">
            <a:avLst/>
          </a:prstGeom>
          <a:noFill/>
          <a:ln/>
        </p:spPr>
        <p:txBody>
          <a:bodyPr wrap="square" lIns="0" tIns="0" rIns="0" bIns="0" rtlCol="0" anchor="t"/>
          <a:lstStyle/>
          <a:p>
            <a:pPr algn="l" indent="0" marL="0">
              <a:spcAft>
                <a:spcPts val="400"/>
              </a:spcAft>
              <a:buNone/>
            </a:pPr>
            <a:r>
              <a:rPr lang="en-US" sz="1000" b="1" dirty="0">
                <a:solidFill>
                  <a:srgbClr val="0E8C84"/>
                </a:solidFill>
                <a:latin typeface="Arial" pitchFamily="34" charset="0"/>
                <a:ea typeface="Arial" pitchFamily="34" charset="-122"/>
                <a:cs typeface="Arial" pitchFamily="34" charset="-120"/>
              </a:rPr>
              <a:t>CÁCH HOẠT ĐỘNG ②</a:t>
            </a:r>
            <a:endParaRPr lang="en-US" sz="1000" dirty="0"/>
          </a:p>
        </p:txBody>
      </p:sp>
      <p:sp>
        <p:nvSpPr>
          <p:cNvPr id="3" name="Text 1"/>
          <p:cNvSpPr/>
          <p:nvPr/>
        </p:nvSpPr>
        <p:spPr>
          <a:xfrm>
            <a:off x="381000" y="580876"/>
            <a:ext cx="8549640" cy="342751"/>
          </a:xfrm>
          <a:prstGeom prst="rect">
            <a:avLst/>
          </a:prstGeom>
          <a:noFill/>
          <a:ln/>
        </p:spPr>
        <p:txBody>
          <a:bodyPr wrap="square" lIns="0" tIns="0" rIns="0" bIns="0" rtlCol="0" anchor="t"/>
          <a:lstStyle/>
          <a:p>
            <a:pPr algn="l" indent="0" marL="0">
              <a:lnSpc>
                <a:spcPts val="2700"/>
              </a:lnSpc>
              <a:buNone/>
            </a:pPr>
            <a:r>
              <a:rPr lang="en-US" sz="2500" b="1" dirty="0">
                <a:solidFill>
                  <a:srgbClr val="0B5E5C"/>
                </a:solidFill>
                <a:latin typeface="Arial" pitchFamily="34" charset="0"/>
                <a:ea typeface="Arial" pitchFamily="34" charset="-122"/>
                <a:cs typeface="Arial" pitchFamily="34" charset="-120"/>
              </a:rPr>
              <a:t>Spike → Alert → Ticket định tuyến 6 phòng</a:t>
            </a:r>
            <a:endParaRPr lang="en-US" sz="2500" dirty="0"/>
          </a:p>
        </p:txBody>
      </p:sp>
      <p:sp>
        <p:nvSpPr>
          <p:cNvPr id="4" name="Text 2"/>
          <p:cNvSpPr/>
          <p:nvPr/>
        </p:nvSpPr>
        <p:spPr>
          <a:xfrm>
            <a:off x="381000" y="1152227"/>
            <a:ext cx="3048149" cy="2158305"/>
          </a:xfrm>
          <a:prstGeom prst="rect">
            <a:avLst/>
          </a:prstGeom>
          <a:noFill/>
          <a:ln/>
        </p:spPr>
        <p:txBody>
          <a:bodyPr wrap="square" lIns="88900" tIns="0" rIns="0" bIns="0" rtlCol="0" anchor="t"/>
          <a:lstStyle/>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Spike detector bắt vùng dồn P4/P5 vượt ngưỡng.</a:t>
            </a:r>
            <a:endParaRPr lang="en-US" sz="1150" dirty="0"/>
          </a:p>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LLM phân tích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nguyên nhân gốc rễ + hành động đề xuất</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a:t>
            </a:r>
            <a:endParaRPr lang="en-US" sz="1150" dirty="0"/>
          </a:p>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Giao đúng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1 trong 6 phòng</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IT · CSKH · Vận hành · Tài chính · Sản phẩm · Rủi ro &amp; Gian lận.</a:t>
            </a:r>
            <a:endParaRPr lang="en-US" sz="1150" dirty="0"/>
          </a:p>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Ticket tự chuyển trạng thái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open → in_progress → resolved</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theo SLA.</a:t>
            </a:r>
            <a:endParaRPr lang="en-US" sz="1150" dirty="0"/>
          </a:p>
        </p:txBody>
      </p:sp>
      <p:sp>
        <p:nvSpPr>
          <p:cNvPr id="5" name="Text 3"/>
          <p:cNvSpPr/>
          <p:nvPr/>
        </p:nvSpPr>
        <p:spPr>
          <a:xfrm>
            <a:off x="3632299" y="1076027"/>
            <a:ext cx="5130701" cy="3262759"/>
          </a:xfrm>
          <a:prstGeom prst="roundRect">
            <a:avLst>
              <a:gd name="adj" fmla="val 3892"/>
            </a:avLst>
          </a:prstGeom>
          <a:solidFill>
            <a:srgbClr val="FFFFFF"/>
          </a:solidFill>
          <a:ln w="9525">
            <a:solidFill>
              <a:srgbClr val="D9E8E4"/>
            </a:solidFill>
          </a:ln>
          <a:effectLst>
            <a:outerShdw sx="100000" sy="100000" kx="0" ky="0" algn="bl" rotWithShape="0" blurRad="133350" dist="47625" dir="3180000">
              <a:srgbClr val="0b5e5c">
                <a:alpha val="22000"/>
              </a:srgbClr>
            </a:outerShdw>
          </a:effectLst>
        </p:spPr>
        <p:txBody>
          <a:bodyPr wrap="square" rtlCol="0" anchor="ctr"/>
          <a:lstStyle/>
          <a:p>
            <a:pPr indent="0" marL="0">
              <a:buNone/>
            </a:pPr>
            <a:endParaRPr lang="en-US" dirty="0"/>
          </a:p>
        </p:txBody>
      </p:sp>
      <p:pic>
        <p:nvPicPr>
          <p:cNvPr id="6" name="Image 0" descr="/private/tmp/claude-501/-Users-kenz-de-projects-C2-App-116/3d8df5ac-6b2b-4cce-a997-fe0b4573b465/scratchpad/build/assets/alerts.png">    </p:cNvPr>
          <p:cNvPicPr>
            <a:picLocks noChangeAspect="1"/>
          </p:cNvPicPr>
          <p:nvPr/>
        </p:nvPicPr>
        <p:blipFill>
          <a:blip r:embed="rId1"/>
          <a:stretch>
            <a:fillRect/>
          </a:stretch>
        </p:blipFill>
        <p:spPr>
          <a:xfrm>
            <a:off x="3705225" y="1148953"/>
            <a:ext cx="4984849" cy="3116907"/>
          </a:xfrm>
          <a:prstGeom prst="rect">
            <a:avLst/>
          </a:prstGeom>
        </p:spPr>
      </p:pic>
      <p:sp>
        <p:nvSpPr>
          <p:cNvPr id="7" name="Text 4"/>
          <p:cNvSpPr/>
          <p:nvPr/>
        </p:nvSpPr>
        <p:spPr>
          <a:xfrm>
            <a:off x="381000" y="4673798"/>
            <a:ext cx="8549640" cy="114300"/>
          </a:xfrm>
          <a:prstGeom prst="rect">
            <a:avLst/>
          </a:prstGeom>
          <a:noFill/>
          <a:ln/>
        </p:spPr>
        <p:txBody>
          <a:bodyPr wrap="square" lIns="0" tIns="0" rIns="0" bIns="0" rtlCol="0" anchor="t"/>
          <a:lstStyle/>
          <a:p>
            <a:pPr algn="l" indent="0" marL="0">
              <a:spcAft>
                <a:spcPts val="800"/>
              </a:spcAft>
              <a:buNone/>
            </a:pPr>
            <a:r>
              <a:rPr lang="en-US" sz="800" dirty="0">
                <a:solidFill>
                  <a:srgbClr val="5C7470"/>
                </a:solidFill>
                <a:latin typeface="Arial" pitchFamily="34" charset="0"/>
                <a:ea typeface="Arial" pitchFamily="34" charset="-122"/>
                <a:cs typeface="Arial" pitchFamily="34" charset="-120"/>
              </a:rPr>
              <a:t>xanhSM · AI Quality Intelligence Platform · AI20K Cohort 2 — Team 116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30101"/>
            <a:ext cx="8549640" cy="200025"/>
          </a:xfrm>
          <a:prstGeom prst="rect">
            <a:avLst/>
          </a:prstGeom>
          <a:noFill/>
          <a:ln/>
        </p:spPr>
        <p:txBody>
          <a:bodyPr wrap="square" lIns="0" tIns="0" rIns="0" bIns="0" rtlCol="0" anchor="t"/>
          <a:lstStyle/>
          <a:p>
            <a:pPr algn="l" indent="0" marL="0">
              <a:spcAft>
                <a:spcPts val="400"/>
              </a:spcAft>
              <a:buNone/>
            </a:pPr>
            <a:r>
              <a:rPr lang="en-US" sz="1000" b="1" dirty="0">
                <a:solidFill>
                  <a:srgbClr val="0E8C84"/>
                </a:solidFill>
                <a:latin typeface="Arial" pitchFamily="34" charset="0"/>
                <a:ea typeface="Arial" pitchFamily="34" charset="-122"/>
                <a:cs typeface="Arial" pitchFamily="34" charset="-120"/>
              </a:rPr>
              <a:t>CÁCH HOẠT ĐỘNG ③</a:t>
            </a:r>
            <a:endParaRPr lang="en-US" sz="1000" dirty="0"/>
          </a:p>
        </p:txBody>
      </p:sp>
      <p:sp>
        <p:nvSpPr>
          <p:cNvPr id="3" name="Text 1"/>
          <p:cNvSpPr/>
          <p:nvPr/>
        </p:nvSpPr>
        <p:spPr>
          <a:xfrm>
            <a:off x="381000" y="580876"/>
            <a:ext cx="8549640" cy="342751"/>
          </a:xfrm>
          <a:prstGeom prst="rect">
            <a:avLst/>
          </a:prstGeom>
          <a:noFill/>
          <a:ln/>
        </p:spPr>
        <p:txBody>
          <a:bodyPr wrap="square" lIns="0" tIns="0" rIns="0" bIns="0" rtlCol="0" anchor="t"/>
          <a:lstStyle/>
          <a:p>
            <a:pPr algn="l" indent="0" marL="0">
              <a:lnSpc>
                <a:spcPts val="2700"/>
              </a:lnSpc>
              <a:buNone/>
            </a:pPr>
            <a:r>
              <a:rPr lang="en-US" sz="2500" b="1" dirty="0">
                <a:solidFill>
                  <a:srgbClr val="0B5E5C"/>
                </a:solidFill>
                <a:latin typeface="Arial" pitchFamily="34" charset="0"/>
                <a:ea typeface="Arial" pitchFamily="34" charset="-122"/>
                <a:cs typeface="Arial" pitchFamily="34" charset="-120"/>
              </a:rPr>
              <a:t>Human-in-the-Loop: con người giữ quyết định</a:t>
            </a:r>
            <a:endParaRPr lang="en-US" sz="2500" dirty="0"/>
          </a:p>
        </p:txBody>
      </p:sp>
      <p:sp>
        <p:nvSpPr>
          <p:cNvPr id="4" name="Text 2"/>
          <p:cNvSpPr/>
          <p:nvPr/>
        </p:nvSpPr>
        <p:spPr>
          <a:xfrm>
            <a:off x="381000" y="1152227"/>
            <a:ext cx="3048149" cy="1946672"/>
          </a:xfrm>
          <a:prstGeom prst="rect">
            <a:avLst/>
          </a:prstGeom>
          <a:noFill/>
          <a:ln/>
        </p:spPr>
        <p:txBody>
          <a:bodyPr wrap="square" lIns="88900" tIns="0" rIns="0" bIns="0" rtlCol="0" anchor="t"/>
          <a:lstStyle/>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Hàng đợi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Cần duyệt</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gom ca P5 / safety / confidence thấp.</a:t>
            </a:r>
            <a:endParaRPr lang="en-US" sz="1150" dirty="0"/>
          </a:p>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Badge nêu rõ lý do — ví dụ phát hiện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từ khoá an toàn "cướp"</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a:t>
            </a:r>
            <a:endParaRPr lang="en-US" sz="1150" dirty="0"/>
          </a:p>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Nhân viên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sửa nhãn</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hoặc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duyệt</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chỉ trong vài giây.</a:t>
            </a:r>
            <a:endParaRPr lang="en-US" sz="1150" dirty="0"/>
          </a:p>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Mọi sửa đổi ghi vào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correction_logs</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 audit + dữ liệu retrain.</a:t>
            </a:r>
            <a:endParaRPr lang="en-US" sz="1150" dirty="0"/>
          </a:p>
        </p:txBody>
      </p:sp>
      <p:sp>
        <p:nvSpPr>
          <p:cNvPr id="5" name="Text 3"/>
          <p:cNvSpPr/>
          <p:nvPr/>
        </p:nvSpPr>
        <p:spPr>
          <a:xfrm>
            <a:off x="3632299" y="1076027"/>
            <a:ext cx="5130701" cy="3262759"/>
          </a:xfrm>
          <a:prstGeom prst="roundRect">
            <a:avLst>
              <a:gd name="adj" fmla="val 3892"/>
            </a:avLst>
          </a:prstGeom>
          <a:solidFill>
            <a:srgbClr val="FFFFFF"/>
          </a:solidFill>
          <a:ln w="9525">
            <a:solidFill>
              <a:srgbClr val="D9E8E4"/>
            </a:solidFill>
          </a:ln>
          <a:effectLst>
            <a:outerShdw sx="100000" sy="100000" kx="0" ky="0" algn="bl" rotWithShape="0" blurRad="133350" dist="47625" dir="3180000">
              <a:srgbClr val="0b5e5c">
                <a:alpha val="22000"/>
              </a:srgbClr>
            </a:outerShdw>
          </a:effectLst>
        </p:spPr>
        <p:txBody>
          <a:bodyPr wrap="square" rtlCol="0" anchor="ctr"/>
          <a:lstStyle/>
          <a:p>
            <a:pPr indent="0" marL="0">
              <a:buNone/>
            </a:pPr>
            <a:endParaRPr lang="en-US" dirty="0"/>
          </a:p>
        </p:txBody>
      </p:sp>
      <p:pic>
        <p:nvPicPr>
          <p:cNvPr id="6" name="Image 0" descr="/private/tmp/claude-501/-Users-kenz-de-projects-C2-App-116/3d8df5ac-6b2b-4cce-a997-fe0b4573b465/scratchpad/build/assets/feedback.png">    </p:cNvPr>
          <p:cNvPicPr>
            <a:picLocks noChangeAspect="1"/>
          </p:cNvPicPr>
          <p:nvPr/>
        </p:nvPicPr>
        <p:blipFill>
          <a:blip r:embed="rId1"/>
          <a:stretch>
            <a:fillRect/>
          </a:stretch>
        </p:blipFill>
        <p:spPr>
          <a:xfrm>
            <a:off x="3705225" y="1148953"/>
            <a:ext cx="4984849" cy="3116907"/>
          </a:xfrm>
          <a:prstGeom prst="rect">
            <a:avLst/>
          </a:prstGeom>
        </p:spPr>
      </p:pic>
      <p:sp>
        <p:nvSpPr>
          <p:cNvPr id="7" name="Text 4"/>
          <p:cNvSpPr/>
          <p:nvPr/>
        </p:nvSpPr>
        <p:spPr>
          <a:xfrm>
            <a:off x="381000" y="4673798"/>
            <a:ext cx="8549640" cy="114300"/>
          </a:xfrm>
          <a:prstGeom prst="rect">
            <a:avLst/>
          </a:prstGeom>
          <a:noFill/>
          <a:ln/>
        </p:spPr>
        <p:txBody>
          <a:bodyPr wrap="square" lIns="0" tIns="0" rIns="0" bIns="0" rtlCol="0" anchor="t"/>
          <a:lstStyle/>
          <a:p>
            <a:pPr algn="l" indent="0" marL="0">
              <a:spcAft>
                <a:spcPts val="800"/>
              </a:spcAft>
              <a:buNone/>
            </a:pPr>
            <a:r>
              <a:rPr lang="en-US" sz="800" dirty="0">
                <a:solidFill>
                  <a:srgbClr val="5C7470"/>
                </a:solidFill>
                <a:latin typeface="Arial" pitchFamily="34" charset="0"/>
                <a:ea typeface="Arial" pitchFamily="34" charset="-122"/>
                <a:cs typeface="Arial" pitchFamily="34" charset="-120"/>
              </a:rPr>
              <a:t>xanhSM · AI Quality Intelligence Platform · AI20K Cohort 2 — Team 116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30101"/>
            <a:ext cx="8549640" cy="200025"/>
          </a:xfrm>
          <a:prstGeom prst="rect">
            <a:avLst/>
          </a:prstGeom>
          <a:noFill/>
          <a:ln/>
        </p:spPr>
        <p:txBody>
          <a:bodyPr wrap="square" lIns="0" tIns="0" rIns="0" bIns="0" rtlCol="0" anchor="t"/>
          <a:lstStyle/>
          <a:p>
            <a:pPr algn="l" indent="0" marL="0">
              <a:spcAft>
                <a:spcPts val="400"/>
              </a:spcAft>
              <a:buNone/>
            </a:pPr>
            <a:r>
              <a:rPr lang="en-US" sz="1000" b="1" dirty="0">
                <a:solidFill>
                  <a:srgbClr val="0E8C84"/>
                </a:solidFill>
                <a:latin typeface="Arial" pitchFamily="34" charset="0"/>
                <a:ea typeface="Arial" pitchFamily="34" charset="-122"/>
                <a:cs typeface="Arial" pitchFamily="34" charset="-120"/>
              </a:rPr>
              <a:t>CÁCH HOẠT ĐỘNG ④</a:t>
            </a:r>
            <a:endParaRPr lang="en-US" sz="1000" dirty="0"/>
          </a:p>
        </p:txBody>
      </p:sp>
      <p:sp>
        <p:nvSpPr>
          <p:cNvPr id="3" name="Text 1"/>
          <p:cNvSpPr/>
          <p:nvPr/>
        </p:nvSpPr>
        <p:spPr>
          <a:xfrm>
            <a:off x="381000" y="580876"/>
            <a:ext cx="8549640" cy="342751"/>
          </a:xfrm>
          <a:prstGeom prst="rect">
            <a:avLst/>
          </a:prstGeom>
          <a:noFill/>
          <a:ln/>
        </p:spPr>
        <p:txBody>
          <a:bodyPr wrap="square" lIns="0" tIns="0" rIns="0" bIns="0" rtlCol="0" anchor="t"/>
          <a:lstStyle/>
          <a:p>
            <a:pPr algn="l" indent="0" marL="0">
              <a:lnSpc>
                <a:spcPts val="2700"/>
              </a:lnSpc>
              <a:buNone/>
            </a:pPr>
            <a:r>
              <a:rPr lang="en-US" sz="2500" b="1" dirty="0">
                <a:solidFill>
                  <a:srgbClr val="0B5E5C"/>
                </a:solidFill>
                <a:latin typeface="Arial" pitchFamily="34" charset="0"/>
                <a:ea typeface="Arial" pitchFamily="34" charset="-122"/>
                <a:cs typeface="Arial" pitchFamily="34" charset="-120"/>
              </a:rPr>
              <a:t>Multi-agent &amp; Báo cáo AI theo phòng ban</a:t>
            </a:r>
            <a:endParaRPr lang="en-US" sz="2500" dirty="0"/>
          </a:p>
        </p:txBody>
      </p:sp>
      <p:sp>
        <p:nvSpPr>
          <p:cNvPr id="4" name="Text 2"/>
          <p:cNvSpPr/>
          <p:nvPr/>
        </p:nvSpPr>
        <p:spPr>
          <a:xfrm>
            <a:off x="381000" y="1152227"/>
            <a:ext cx="3048149" cy="1946672"/>
          </a:xfrm>
          <a:prstGeom prst="rect">
            <a:avLst/>
          </a:prstGeom>
          <a:noFill/>
          <a:ln/>
        </p:spPr>
        <p:txBody>
          <a:bodyPr wrap="square" lIns="88900" tIns="0" rIns="0" bIns="0" rtlCol="0" anchor="t"/>
          <a:lstStyle/>
          <a:p>
            <a:pPr algn="l" marL="88900" indent="-88900">
              <a:lnSpc>
                <a:spcPts val="1667"/>
              </a:lnSpc>
              <a:spcAft>
                <a:spcPts val="500"/>
              </a:spcAft>
              <a:buSzPct val="100000"/>
              <a:buChar char="•"/>
            </a:pPr>
            <a:r>
              <a:rPr lang="en-US" sz="1150" b="1" dirty="0">
                <a:solidFill>
                  <a:srgbClr val="0E2B29"/>
                </a:solidFill>
                <a:latin typeface="Arial" pitchFamily="34" charset="0"/>
                <a:ea typeface="Arial" pitchFamily="34" charset="-122"/>
                <a:cs typeface="Arial" pitchFamily="34" charset="-120"/>
              </a:rPr>
              <a:t>8 agent nghiệp vụ + orchestrator</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chạy theo lịch (09:00 &amp; 14:00).</a:t>
            </a:r>
            <a:endParaRPr lang="en-US" sz="1150" dirty="0"/>
          </a:p>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Mỗi phòng có "trợ lý AI" tổng hợp tình hình riêng.</a:t>
            </a:r>
            <a:endParaRPr lang="en-US" sz="1150" dirty="0"/>
          </a:p>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Báo cáo cấu trúc 3 khối: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Vấn đề → Phân tích → Đề xuất</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a:t>
            </a:r>
            <a:endParaRPr lang="en-US" sz="1150" dirty="0"/>
          </a:p>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Kèm tóm tắt điều hành, mức rủi ro và cảnh báo SLA.</a:t>
            </a:r>
            <a:endParaRPr lang="en-US" sz="1150" dirty="0"/>
          </a:p>
        </p:txBody>
      </p:sp>
      <p:sp>
        <p:nvSpPr>
          <p:cNvPr id="5" name="Text 3"/>
          <p:cNvSpPr/>
          <p:nvPr/>
        </p:nvSpPr>
        <p:spPr>
          <a:xfrm>
            <a:off x="3632299" y="1076027"/>
            <a:ext cx="5130701" cy="3262759"/>
          </a:xfrm>
          <a:prstGeom prst="roundRect">
            <a:avLst>
              <a:gd name="adj" fmla="val 3892"/>
            </a:avLst>
          </a:prstGeom>
          <a:solidFill>
            <a:srgbClr val="FFFFFF"/>
          </a:solidFill>
          <a:ln w="9525">
            <a:solidFill>
              <a:srgbClr val="D9E8E4"/>
            </a:solidFill>
          </a:ln>
          <a:effectLst>
            <a:outerShdw sx="100000" sy="100000" kx="0" ky="0" algn="bl" rotWithShape="0" blurRad="133350" dist="47625" dir="3180000">
              <a:srgbClr val="0b5e5c">
                <a:alpha val="22000"/>
              </a:srgbClr>
            </a:outerShdw>
          </a:effectLst>
        </p:spPr>
        <p:txBody>
          <a:bodyPr wrap="square" rtlCol="0" anchor="ctr"/>
          <a:lstStyle/>
          <a:p>
            <a:pPr indent="0" marL="0">
              <a:buNone/>
            </a:pPr>
            <a:endParaRPr lang="en-US" dirty="0"/>
          </a:p>
        </p:txBody>
      </p:sp>
      <p:pic>
        <p:nvPicPr>
          <p:cNvPr id="6" name="Image 0" descr="/private/tmp/claude-501/-Users-kenz-de-projects-C2-App-116/3d8df5ac-6b2b-4cce-a997-fe0b4573b465/scratchpad/build/assets/reports.png">    </p:cNvPr>
          <p:cNvPicPr>
            <a:picLocks noChangeAspect="1"/>
          </p:cNvPicPr>
          <p:nvPr/>
        </p:nvPicPr>
        <p:blipFill>
          <a:blip r:embed="rId1"/>
          <a:stretch>
            <a:fillRect/>
          </a:stretch>
        </p:blipFill>
        <p:spPr>
          <a:xfrm>
            <a:off x="3705225" y="1148953"/>
            <a:ext cx="4984849" cy="3116907"/>
          </a:xfrm>
          <a:prstGeom prst="rect">
            <a:avLst/>
          </a:prstGeom>
        </p:spPr>
      </p:pic>
      <p:sp>
        <p:nvSpPr>
          <p:cNvPr id="7" name="Text 4"/>
          <p:cNvSpPr/>
          <p:nvPr/>
        </p:nvSpPr>
        <p:spPr>
          <a:xfrm>
            <a:off x="381000" y="4673798"/>
            <a:ext cx="8549640" cy="114300"/>
          </a:xfrm>
          <a:prstGeom prst="rect">
            <a:avLst/>
          </a:prstGeom>
          <a:noFill/>
          <a:ln/>
        </p:spPr>
        <p:txBody>
          <a:bodyPr wrap="square" lIns="0" tIns="0" rIns="0" bIns="0" rtlCol="0" anchor="t"/>
          <a:lstStyle/>
          <a:p>
            <a:pPr algn="l" indent="0" marL="0">
              <a:spcAft>
                <a:spcPts val="800"/>
              </a:spcAft>
              <a:buNone/>
            </a:pPr>
            <a:r>
              <a:rPr lang="en-US" sz="800" dirty="0">
                <a:solidFill>
                  <a:srgbClr val="5C7470"/>
                </a:solidFill>
                <a:latin typeface="Arial" pitchFamily="34" charset="0"/>
                <a:ea typeface="Arial" pitchFamily="34" charset="-122"/>
                <a:cs typeface="Arial" pitchFamily="34" charset="-120"/>
              </a:rPr>
              <a:t>xanhSM · AI Quality Intelligence Platform · AI20K Cohort 2 — Team 116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30101"/>
            <a:ext cx="8549640" cy="200025"/>
          </a:xfrm>
          <a:prstGeom prst="rect">
            <a:avLst/>
          </a:prstGeom>
          <a:noFill/>
          <a:ln/>
        </p:spPr>
        <p:txBody>
          <a:bodyPr wrap="square" lIns="0" tIns="0" rIns="0" bIns="0" rtlCol="0" anchor="t"/>
          <a:lstStyle/>
          <a:p>
            <a:pPr algn="l" indent="0" marL="0">
              <a:spcAft>
                <a:spcPts val="400"/>
              </a:spcAft>
              <a:buNone/>
            </a:pPr>
            <a:r>
              <a:rPr lang="en-US" sz="1000" b="1" dirty="0">
                <a:solidFill>
                  <a:srgbClr val="0E8C84"/>
                </a:solidFill>
                <a:latin typeface="Arial" pitchFamily="34" charset="0"/>
                <a:ea typeface="Arial" pitchFamily="34" charset="-122"/>
                <a:cs typeface="Arial" pitchFamily="34" charset="-120"/>
              </a:rPr>
              <a:t>CÁCH HOẠT ĐỘNG ⑤</a:t>
            </a:r>
            <a:endParaRPr lang="en-US" sz="1000" dirty="0"/>
          </a:p>
        </p:txBody>
      </p:sp>
      <p:sp>
        <p:nvSpPr>
          <p:cNvPr id="3" name="Text 1"/>
          <p:cNvSpPr/>
          <p:nvPr/>
        </p:nvSpPr>
        <p:spPr>
          <a:xfrm>
            <a:off x="381000" y="580876"/>
            <a:ext cx="8549640" cy="342751"/>
          </a:xfrm>
          <a:prstGeom prst="rect">
            <a:avLst/>
          </a:prstGeom>
          <a:noFill/>
          <a:ln/>
        </p:spPr>
        <p:txBody>
          <a:bodyPr wrap="square" lIns="0" tIns="0" rIns="0" bIns="0" rtlCol="0" anchor="t"/>
          <a:lstStyle/>
          <a:p>
            <a:pPr algn="l" indent="0" marL="0">
              <a:lnSpc>
                <a:spcPts val="2700"/>
              </a:lnSpc>
              <a:buNone/>
            </a:pPr>
            <a:r>
              <a:rPr lang="en-US" sz="2500" b="1" dirty="0">
                <a:solidFill>
                  <a:srgbClr val="0B5E5C"/>
                </a:solidFill>
                <a:latin typeface="Arial" pitchFamily="34" charset="0"/>
                <a:ea typeface="Arial" pitchFamily="34" charset="-122"/>
                <a:cs typeface="Arial" pitchFamily="34" charset="-120"/>
              </a:rPr>
              <a:t>Khép kín: từ Báo cáo AI tới Task chính thức</a:t>
            </a:r>
            <a:endParaRPr lang="en-US" sz="2500" dirty="0"/>
          </a:p>
        </p:txBody>
      </p:sp>
      <p:sp>
        <p:nvSpPr>
          <p:cNvPr id="4" name="Text 2"/>
          <p:cNvSpPr/>
          <p:nvPr/>
        </p:nvSpPr>
        <p:spPr>
          <a:xfrm>
            <a:off x="381000" y="1152227"/>
            <a:ext cx="3048149" cy="1946672"/>
          </a:xfrm>
          <a:prstGeom prst="rect">
            <a:avLst/>
          </a:prstGeom>
          <a:noFill/>
          <a:ln/>
        </p:spPr>
        <p:txBody>
          <a:bodyPr wrap="square" lIns="88900" tIns="0" rIns="0" bIns="0" rtlCol="0" anchor="t"/>
          <a:lstStyle/>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Manager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biên tập draft task</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từ đề xuất của báo cáo (phạm vi, ưu tiên).</a:t>
            </a:r>
            <a:endParaRPr lang="en-US" sz="1150" dirty="0"/>
          </a:p>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Duyệt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một nút</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 tạo task chính thức trên Task Board.</a:t>
            </a:r>
            <a:endParaRPr lang="en-US" sz="1150" dirty="0"/>
          </a:p>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Task mang badge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"Từ báo cáo"</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liên kết ngược</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báo cáo gốc.</a:t>
            </a:r>
            <a:endParaRPr lang="en-US" sz="1150" dirty="0"/>
          </a:p>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Phân bổ &amp; theo dõi task theo từng phòng ban.</a:t>
            </a:r>
            <a:endParaRPr lang="en-US" sz="1150" dirty="0"/>
          </a:p>
        </p:txBody>
      </p:sp>
      <p:sp>
        <p:nvSpPr>
          <p:cNvPr id="5" name="Text 3"/>
          <p:cNvSpPr/>
          <p:nvPr/>
        </p:nvSpPr>
        <p:spPr>
          <a:xfrm>
            <a:off x="3632299" y="1076027"/>
            <a:ext cx="5130701" cy="3262759"/>
          </a:xfrm>
          <a:prstGeom prst="roundRect">
            <a:avLst>
              <a:gd name="adj" fmla="val 3892"/>
            </a:avLst>
          </a:prstGeom>
          <a:solidFill>
            <a:srgbClr val="FFFFFF"/>
          </a:solidFill>
          <a:ln w="9525">
            <a:solidFill>
              <a:srgbClr val="D9E8E4"/>
            </a:solidFill>
          </a:ln>
          <a:effectLst>
            <a:outerShdw sx="100000" sy="100000" kx="0" ky="0" algn="bl" rotWithShape="0" blurRad="133350" dist="47625" dir="3180000">
              <a:srgbClr val="0b5e5c">
                <a:alpha val="22000"/>
              </a:srgbClr>
            </a:outerShdw>
          </a:effectLst>
        </p:spPr>
        <p:txBody>
          <a:bodyPr wrap="square" rtlCol="0" anchor="ctr"/>
          <a:lstStyle/>
          <a:p>
            <a:pPr indent="0" marL="0">
              <a:buNone/>
            </a:pPr>
            <a:endParaRPr lang="en-US" dirty="0"/>
          </a:p>
        </p:txBody>
      </p:sp>
      <p:pic>
        <p:nvPicPr>
          <p:cNvPr id="6" name="Image 0" descr="/private/tmp/claude-501/-Users-kenz-de-projects-C2-App-116/3d8df5ac-6b2b-4cce-a997-fe0b4573b465/scratchpad/build/assets/tasks.png">    </p:cNvPr>
          <p:cNvPicPr>
            <a:picLocks noChangeAspect="1"/>
          </p:cNvPicPr>
          <p:nvPr/>
        </p:nvPicPr>
        <p:blipFill>
          <a:blip r:embed="rId1"/>
          <a:stretch>
            <a:fillRect/>
          </a:stretch>
        </p:blipFill>
        <p:spPr>
          <a:xfrm>
            <a:off x="3705225" y="1148953"/>
            <a:ext cx="4984849" cy="3116907"/>
          </a:xfrm>
          <a:prstGeom prst="rect">
            <a:avLst/>
          </a:prstGeom>
        </p:spPr>
      </p:pic>
      <p:sp>
        <p:nvSpPr>
          <p:cNvPr id="7" name="Text 4"/>
          <p:cNvSpPr/>
          <p:nvPr/>
        </p:nvSpPr>
        <p:spPr>
          <a:xfrm>
            <a:off x="381000" y="4673798"/>
            <a:ext cx="8549640" cy="114300"/>
          </a:xfrm>
          <a:prstGeom prst="rect">
            <a:avLst/>
          </a:prstGeom>
          <a:noFill/>
          <a:ln/>
        </p:spPr>
        <p:txBody>
          <a:bodyPr wrap="square" lIns="0" tIns="0" rIns="0" bIns="0" rtlCol="0" anchor="t"/>
          <a:lstStyle/>
          <a:p>
            <a:pPr algn="l" indent="0" marL="0">
              <a:spcAft>
                <a:spcPts val="800"/>
              </a:spcAft>
              <a:buNone/>
            </a:pPr>
            <a:r>
              <a:rPr lang="en-US" sz="800" dirty="0">
                <a:solidFill>
                  <a:srgbClr val="5C7470"/>
                </a:solidFill>
                <a:latin typeface="Arial" pitchFamily="34" charset="0"/>
                <a:ea typeface="Arial" pitchFamily="34" charset="-122"/>
                <a:cs typeface="Arial" pitchFamily="34" charset="-120"/>
              </a:rPr>
              <a:t>xanhSM · AI Quality Intelligence Platform · AI20K Cohort 2 — Team 116</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30101"/>
            <a:ext cx="8549640" cy="142875"/>
          </a:xfrm>
          <a:prstGeom prst="rect">
            <a:avLst/>
          </a:prstGeom>
          <a:noFill/>
          <a:ln/>
        </p:spPr>
        <p:txBody>
          <a:bodyPr wrap="square" lIns="0" tIns="0" rIns="0" bIns="0" rtlCol="0" anchor="t"/>
          <a:lstStyle/>
          <a:p>
            <a:pPr algn="l" indent="0" marL="0">
              <a:spcAft>
                <a:spcPts val="400"/>
              </a:spcAft>
              <a:buNone/>
            </a:pPr>
            <a:r>
              <a:rPr lang="en-US" sz="1000" b="1" dirty="0">
                <a:solidFill>
                  <a:srgbClr val="0E8C84"/>
                </a:solidFill>
                <a:latin typeface="Arial" pitchFamily="34" charset="0"/>
                <a:ea typeface="Arial" pitchFamily="34" charset="-122"/>
                <a:cs typeface="Arial" pitchFamily="34" charset="-120"/>
              </a:rPr>
              <a:t>VẬN HÀNH · VÒNG ĐỜI TASK</a:t>
            </a:r>
            <a:endParaRPr lang="en-US" sz="1000" dirty="0"/>
          </a:p>
        </p:txBody>
      </p:sp>
      <p:sp>
        <p:nvSpPr>
          <p:cNvPr id="3" name="Text 1"/>
          <p:cNvSpPr/>
          <p:nvPr/>
        </p:nvSpPr>
        <p:spPr>
          <a:xfrm>
            <a:off x="381000" y="523726"/>
            <a:ext cx="8549640" cy="342751"/>
          </a:xfrm>
          <a:prstGeom prst="rect">
            <a:avLst/>
          </a:prstGeom>
          <a:noFill/>
          <a:ln/>
        </p:spPr>
        <p:txBody>
          <a:bodyPr wrap="square" lIns="0" tIns="0" rIns="0" bIns="0" rtlCol="0" anchor="t"/>
          <a:lstStyle/>
          <a:p>
            <a:pPr algn="l" indent="0" marL="0">
              <a:lnSpc>
                <a:spcPts val="2700"/>
              </a:lnSpc>
              <a:buNone/>
            </a:pPr>
            <a:r>
              <a:rPr lang="en-US" sz="2500" b="1" dirty="0">
                <a:solidFill>
                  <a:srgbClr val="0B5E5C"/>
                </a:solidFill>
                <a:latin typeface="Arial" pitchFamily="34" charset="0"/>
                <a:ea typeface="Arial" pitchFamily="34" charset="-122"/>
                <a:cs typeface="Arial" pitchFamily="34" charset="-120"/>
              </a:rPr>
              <a:t>Năm trạng thái, rõ ai làm gì ở mỗi bước</a:t>
            </a:r>
            <a:endParaRPr lang="en-US" sz="2500" dirty="0"/>
          </a:p>
        </p:txBody>
      </p:sp>
      <p:sp>
        <p:nvSpPr>
          <p:cNvPr id="4" name="Text 2"/>
          <p:cNvSpPr/>
          <p:nvPr/>
        </p:nvSpPr>
        <p:spPr>
          <a:xfrm>
            <a:off x="381000" y="929878"/>
            <a:ext cx="8549640" cy="181570"/>
          </a:xfrm>
          <a:prstGeom prst="rect">
            <a:avLst/>
          </a:prstGeom>
          <a:noFill/>
          <a:ln/>
        </p:spPr>
        <p:txBody>
          <a:bodyPr wrap="square" lIns="0" tIns="0" rIns="0" bIns="0" rtlCol="0" anchor="t"/>
          <a:lstStyle/>
          <a:p>
            <a:pPr algn="l" indent="0" marL="0">
              <a:lnSpc>
                <a:spcPts val="1430"/>
              </a:lnSpc>
              <a:spcBef>
                <a:spcPts val="500"/>
              </a:spcBef>
              <a:buNone/>
            </a:pPr>
            <a:r>
              <a:rPr lang="en-US" sz="1100" dirty="0">
                <a:solidFill>
                  <a:srgbClr val="5C7470"/>
                </a:solidFill>
                <a:latin typeface="Arial" pitchFamily="34" charset="0"/>
                <a:ea typeface="Arial" pitchFamily="34" charset="-122"/>
                <a:cs typeface="Arial" pitchFamily="34" charset="-120"/>
              </a:rPr>
              <a:t>Mỗi task đi qua một vòng đời thống nhất — máy tạo việc, manager giao &amp; duyệt, nhân viên xử lý &amp; báo cáo.</a:t>
            </a:r>
            <a:endParaRPr lang="en-US" sz="1100" dirty="0"/>
          </a:p>
        </p:txBody>
      </p:sp>
      <p:sp>
        <p:nvSpPr>
          <p:cNvPr id="5" name="Text 3"/>
          <p:cNvSpPr/>
          <p:nvPr/>
        </p:nvSpPr>
        <p:spPr>
          <a:xfrm>
            <a:off x="381000" y="1416248"/>
            <a:ext cx="1351359" cy="1122908"/>
          </a:xfrm>
          <a:prstGeom prst="roundRect">
            <a:avLst>
              <a:gd name="adj" fmla="val 11310"/>
            </a:avLst>
          </a:prstGeom>
          <a:solidFill>
            <a:srgbClr val="FFFFFF"/>
          </a:solidFill>
          <a:ln/>
        </p:spPr>
        <p:txBody>
          <a:bodyPr wrap="square" rtlCol="0" anchor="ctr"/>
          <a:lstStyle/>
          <a:p>
            <a:pPr indent="0" marL="0">
              <a:buNone/>
            </a:pPr>
            <a:endParaRPr lang="en-US" dirty="0"/>
          </a:p>
        </p:txBody>
      </p:sp>
      <p:sp>
        <p:nvSpPr>
          <p:cNvPr id="6" name="Shape 4"/>
          <p:cNvSpPr/>
          <p:nvPr/>
        </p:nvSpPr>
        <p:spPr>
          <a:xfrm>
            <a:off x="381000" y="1444823"/>
            <a:ext cx="1351359" cy="0"/>
          </a:xfrm>
          <a:prstGeom prst="line">
            <a:avLst/>
          </a:prstGeom>
          <a:noFill/>
          <a:ln w="57150">
            <a:solidFill>
              <a:srgbClr val="E0892F"/>
            </a:solidFill>
            <a:prstDash val="solid"/>
          </a:ln>
        </p:spPr>
      </p:sp>
      <p:sp>
        <p:nvSpPr>
          <p:cNvPr id="7" name="Shape 5"/>
          <p:cNvSpPr/>
          <p:nvPr/>
        </p:nvSpPr>
        <p:spPr>
          <a:xfrm>
            <a:off x="1727597" y="1416248"/>
            <a:ext cx="0" cy="1122908"/>
          </a:xfrm>
          <a:prstGeom prst="line">
            <a:avLst/>
          </a:prstGeom>
          <a:noFill/>
          <a:ln w="9525">
            <a:solidFill>
              <a:srgbClr val="D9E8E4"/>
            </a:solidFill>
            <a:prstDash val="solid"/>
          </a:ln>
        </p:spPr>
      </p:sp>
      <p:sp>
        <p:nvSpPr>
          <p:cNvPr id="8" name="Shape 6"/>
          <p:cNvSpPr/>
          <p:nvPr/>
        </p:nvSpPr>
        <p:spPr>
          <a:xfrm>
            <a:off x="381000" y="2534394"/>
            <a:ext cx="1351359" cy="0"/>
          </a:xfrm>
          <a:prstGeom prst="line">
            <a:avLst/>
          </a:prstGeom>
          <a:noFill/>
          <a:ln w="9525">
            <a:solidFill>
              <a:srgbClr val="D9E8E4"/>
            </a:solidFill>
            <a:prstDash val="solid"/>
          </a:ln>
        </p:spPr>
      </p:sp>
      <p:sp>
        <p:nvSpPr>
          <p:cNvPr id="9" name="Shape 7"/>
          <p:cNvSpPr/>
          <p:nvPr/>
        </p:nvSpPr>
        <p:spPr>
          <a:xfrm>
            <a:off x="385763" y="1416248"/>
            <a:ext cx="0" cy="1122908"/>
          </a:xfrm>
          <a:prstGeom prst="line">
            <a:avLst/>
          </a:prstGeom>
          <a:noFill/>
          <a:ln w="9525">
            <a:solidFill>
              <a:srgbClr val="D9E8E4"/>
            </a:solidFill>
            <a:prstDash val="solid"/>
          </a:ln>
        </p:spPr>
      </p:sp>
      <p:sp>
        <p:nvSpPr>
          <p:cNvPr id="10" name="Text 8"/>
          <p:cNvSpPr/>
          <p:nvPr/>
        </p:nvSpPr>
        <p:spPr>
          <a:xfrm>
            <a:off x="493788" y="1625798"/>
            <a:ext cx="1125784" cy="181421"/>
          </a:xfrm>
          <a:prstGeom prst="rect">
            <a:avLst/>
          </a:prstGeom>
          <a:noFill/>
          <a:ln/>
        </p:spPr>
        <p:txBody>
          <a:bodyPr wrap="square" lIns="0" tIns="0" rIns="0" bIns="0" rtlCol="0" anchor="t"/>
          <a:lstStyle/>
          <a:p>
            <a:pPr algn="ctr" indent="0" marL="0">
              <a:lnSpc>
                <a:spcPts val="1430"/>
              </a:lnSpc>
              <a:buNone/>
            </a:pPr>
            <a:r>
              <a:rPr lang="en-US" sz="1300" b="1" dirty="0">
                <a:solidFill>
                  <a:srgbClr val="E0892F"/>
                </a:solidFill>
                <a:latin typeface="Arial" pitchFamily="34" charset="0"/>
                <a:ea typeface="Arial" pitchFamily="34" charset="-122"/>
                <a:cs typeface="Arial" pitchFamily="34" charset="-120"/>
              </a:rPr>
              <a:t>Đang mở</a:t>
            </a:r>
            <a:endParaRPr lang="en-US" sz="1300" dirty="0"/>
          </a:p>
        </p:txBody>
      </p:sp>
      <p:sp>
        <p:nvSpPr>
          <p:cNvPr id="11" name="Text 9"/>
          <p:cNvSpPr/>
          <p:nvPr/>
        </p:nvSpPr>
        <p:spPr>
          <a:xfrm>
            <a:off x="493788" y="1896070"/>
            <a:ext cx="1125784" cy="133350"/>
          </a:xfrm>
          <a:prstGeom prst="rect">
            <a:avLst/>
          </a:prstGeom>
          <a:noFill/>
          <a:ln/>
        </p:spPr>
        <p:txBody>
          <a:bodyPr wrap="square" lIns="0" tIns="0" rIns="0" bIns="0" rtlCol="0" anchor="t"/>
          <a:lstStyle/>
          <a:p>
            <a:pPr algn="ctr" indent="0" marL="0">
              <a:spcBef>
                <a:spcPts val="700"/>
              </a:spcBef>
              <a:buNone/>
            </a:pPr>
            <a:r>
              <a:rPr lang="en-US" sz="900" b="1" dirty="0">
                <a:solidFill>
                  <a:srgbClr val="5C7470"/>
                </a:solidFill>
                <a:latin typeface="Arial" pitchFamily="34" charset="0"/>
                <a:ea typeface="Arial" pitchFamily="34" charset="-122"/>
                <a:cs typeface="Arial" pitchFamily="34" charset="-120"/>
              </a:rPr>
              <a:t>Hệ thống</a:t>
            </a:r>
            <a:endParaRPr lang="en-US" sz="900" dirty="0"/>
          </a:p>
        </p:txBody>
      </p:sp>
      <p:sp>
        <p:nvSpPr>
          <p:cNvPr id="12" name="Text 10"/>
          <p:cNvSpPr/>
          <p:nvPr/>
        </p:nvSpPr>
        <p:spPr>
          <a:xfrm>
            <a:off x="493788" y="2080171"/>
            <a:ext cx="1125784" cy="148530"/>
          </a:xfrm>
          <a:prstGeom prst="rect">
            <a:avLst/>
          </a:prstGeom>
          <a:noFill/>
          <a:ln/>
        </p:spPr>
        <p:txBody>
          <a:bodyPr wrap="square" lIns="0" tIns="0" rIns="0" bIns="0" rtlCol="0" anchor="t"/>
          <a:lstStyle/>
          <a:p>
            <a:pPr algn="ctr" indent="0" marL="0">
              <a:lnSpc>
                <a:spcPts val="1170"/>
              </a:lnSpc>
              <a:spcBef>
                <a:spcPts val="400"/>
              </a:spcBef>
              <a:buNone/>
            </a:pPr>
            <a:r>
              <a:rPr lang="en-US" sz="900" dirty="0">
                <a:solidFill>
                  <a:srgbClr val="5C7470"/>
                </a:solidFill>
                <a:latin typeface="Arial" pitchFamily="34" charset="0"/>
                <a:ea typeface="Arial" pitchFamily="34" charset="-122"/>
                <a:cs typeface="Arial" pitchFamily="34" charset="-120"/>
              </a:rPr>
              <a:t>Tạo từ ticket/báo cáo</a:t>
            </a:r>
            <a:endParaRPr lang="en-US" sz="900" dirty="0"/>
          </a:p>
        </p:txBody>
      </p:sp>
      <p:sp>
        <p:nvSpPr>
          <p:cNvPr id="13" name="Text 11"/>
          <p:cNvSpPr/>
          <p:nvPr/>
        </p:nvSpPr>
        <p:spPr>
          <a:xfrm>
            <a:off x="1783110" y="1801416"/>
            <a:ext cx="310896" cy="352425"/>
          </a:xfrm>
          <a:prstGeom prst="rect">
            <a:avLst/>
          </a:prstGeom>
          <a:noFill/>
          <a:ln/>
        </p:spPr>
        <p:txBody>
          <a:bodyPr wrap="square" lIns="0" tIns="0" rIns="0" bIns="0" rtlCol="0" anchor="t"/>
          <a:lstStyle/>
          <a:p>
            <a:pPr algn="l" indent="0" marL="0">
              <a:buNone/>
            </a:pPr>
            <a:r>
              <a:rPr lang="en-US" sz="2400" b="1" dirty="0">
                <a:solidFill>
                  <a:srgbClr val="34D399"/>
                </a:solidFill>
                <a:latin typeface="Arial" pitchFamily="34" charset="0"/>
                <a:ea typeface="Arial" pitchFamily="34" charset="-122"/>
                <a:cs typeface="Arial" pitchFamily="34" charset="-120"/>
              </a:rPr>
              <a:t>→</a:t>
            </a:r>
            <a:endParaRPr lang="en-US" sz="2400" dirty="0"/>
          </a:p>
        </p:txBody>
      </p:sp>
      <p:sp>
        <p:nvSpPr>
          <p:cNvPr id="14" name="Text 12"/>
          <p:cNvSpPr/>
          <p:nvPr/>
        </p:nvSpPr>
        <p:spPr>
          <a:xfrm>
            <a:off x="2138660" y="1416248"/>
            <a:ext cx="1351359" cy="1122908"/>
          </a:xfrm>
          <a:prstGeom prst="roundRect">
            <a:avLst>
              <a:gd name="adj" fmla="val 11310"/>
            </a:avLst>
          </a:prstGeom>
          <a:solidFill>
            <a:srgbClr val="FFFFFF"/>
          </a:solidFill>
          <a:ln/>
        </p:spPr>
        <p:txBody>
          <a:bodyPr wrap="square" rtlCol="0" anchor="ctr"/>
          <a:lstStyle/>
          <a:p>
            <a:pPr indent="0" marL="0">
              <a:buNone/>
            </a:pPr>
            <a:endParaRPr lang="en-US" dirty="0"/>
          </a:p>
        </p:txBody>
      </p:sp>
      <p:sp>
        <p:nvSpPr>
          <p:cNvPr id="15" name="Shape 13"/>
          <p:cNvSpPr/>
          <p:nvPr/>
        </p:nvSpPr>
        <p:spPr>
          <a:xfrm>
            <a:off x="2138660" y="1444823"/>
            <a:ext cx="1351359" cy="0"/>
          </a:xfrm>
          <a:prstGeom prst="line">
            <a:avLst/>
          </a:prstGeom>
          <a:noFill/>
          <a:ln w="57150">
            <a:solidFill>
              <a:srgbClr val="5B6CE0"/>
            </a:solidFill>
            <a:prstDash val="solid"/>
          </a:ln>
        </p:spPr>
      </p:sp>
      <p:sp>
        <p:nvSpPr>
          <p:cNvPr id="16" name="Shape 14"/>
          <p:cNvSpPr/>
          <p:nvPr/>
        </p:nvSpPr>
        <p:spPr>
          <a:xfrm>
            <a:off x="3485257" y="1416248"/>
            <a:ext cx="0" cy="1122908"/>
          </a:xfrm>
          <a:prstGeom prst="line">
            <a:avLst/>
          </a:prstGeom>
          <a:noFill/>
          <a:ln w="9525">
            <a:solidFill>
              <a:srgbClr val="D9E8E4"/>
            </a:solidFill>
            <a:prstDash val="solid"/>
          </a:ln>
        </p:spPr>
      </p:sp>
      <p:sp>
        <p:nvSpPr>
          <p:cNvPr id="17" name="Shape 15"/>
          <p:cNvSpPr/>
          <p:nvPr/>
        </p:nvSpPr>
        <p:spPr>
          <a:xfrm>
            <a:off x="2138660" y="2534394"/>
            <a:ext cx="1351359" cy="0"/>
          </a:xfrm>
          <a:prstGeom prst="line">
            <a:avLst/>
          </a:prstGeom>
          <a:noFill/>
          <a:ln w="9525">
            <a:solidFill>
              <a:srgbClr val="D9E8E4"/>
            </a:solidFill>
            <a:prstDash val="solid"/>
          </a:ln>
        </p:spPr>
      </p:sp>
      <p:sp>
        <p:nvSpPr>
          <p:cNvPr id="18" name="Shape 16"/>
          <p:cNvSpPr/>
          <p:nvPr/>
        </p:nvSpPr>
        <p:spPr>
          <a:xfrm>
            <a:off x="2143423" y="1416248"/>
            <a:ext cx="0" cy="1122908"/>
          </a:xfrm>
          <a:prstGeom prst="line">
            <a:avLst/>
          </a:prstGeom>
          <a:noFill/>
          <a:ln w="9525">
            <a:solidFill>
              <a:srgbClr val="D9E8E4"/>
            </a:solidFill>
            <a:prstDash val="solid"/>
          </a:ln>
        </p:spPr>
      </p:sp>
      <p:sp>
        <p:nvSpPr>
          <p:cNvPr id="19" name="Text 17"/>
          <p:cNvSpPr/>
          <p:nvPr/>
        </p:nvSpPr>
        <p:spPr>
          <a:xfrm>
            <a:off x="2251448" y="1625798"/>
            <a:ext cx="1125784" cy="181421"/>
          </a:xfrm>
          <a:prstGeom prst="rect">
            <a:avLst/>
          </a:prstGeom>
          <a:noFill/>
          <a:ln/>
        </p:spPr>
        <p:txBody>
          <a:bodyPr wrap="square" lIns="0" tIns="0" rIns="0" bIns="0" rtlCol="0" anchor="t"/>
          <a:lstStyle/>
          <a:p>
            <a:pPr algn="ctr" indent="0" marL="0">
              <a:lnSpc>
                <a:spcPts val="1430"/>
              </a:lnSpc>
              <a:buNone/>
            </a:pPr>
            <a:r>
              <a:rPr lang="en-US" sz="1300" b="1" dirty="0">
                <a:solidFill>
                  <a:srgbClr val="5B6CE0"/>
                </a:solidFill>
                <a:latin typeface="Arial" pitchFamily="34" charset="0"/>
                <a:ea typeface="Arial" pitchFamily="34" charset="-122"/>
                <a:cs typeface="Arial" pitchFamily="34" charset="-120"/>
              </a:rPr>
              <a:t>Đã giao</a:t>
            </a:r>
            <a:endParaRPr lang="en-US" sz="1300" dirty="0"/>
          </a:p>
        </p:txBody>
      </p:sp>
      <p:sp>
        <p:nvSpPr>
          <p:cNvPr id="20" name="Text 18"/>
          <p:cNvSpPr/>
          <p:nvPr/>
        </p:nvSpPr>
        <p:spPr>
          <a:xfrm>
            <a:off x="2251448" y="1896070"/>
            <a:ext cx="1125784" cy="133350"/>
          </a:xfrm>
          <a:prstGeom prst="rect">
            <a:avLst/>
          </a:prstGeom>
          <a:noFill/>
          <a:ln/>
        </p:spPr>
        <p:txBody>
          <a:bodyPr wrap="square" lIns="0" tIns="0" rIns="0" bIns="0" rtlCol="0" anchor="t"/>
          <a:lstStyle/>
          <a:p>
            <a:pPr algn="ctr" indent="0" marL="0">
              <a:spcBef>
                <a:spcPts val="700"/>
              </a:spcBef>
              <a:buNone/>
            </a:pPr>
            <a:r>
              <a:rPr lang="en-US" sz="900" b="1" dirty="0">
                <a:solidFill>
                  <a:srgbClr val="0E8C84"/>
                </a:solidFill>
                <a:latin typeface="Arial" pitchFamily="34" charset="0"/>
                <a:ea typeface="Arial" pitchFamily="34" charset="-122"/>
                <a:cs typeface="Arial" pitchFamily="34" charset="-120"/>
              </a:rPr>
              <a:t>Manager</a:t>
            </a:r>
            <a:endParaRPr lang="en-US" sz="900" dirty="0"/>
          </a:p>
        </p:txBody>
      </p:sp>
      <p:sp>
        <p:nvSpPr>
          <p:cNvPr id="21" name="Text 19"/>
          <p:cNvSpPr/>
          <p:nvPr/>
        </p:nvSpPr>
        <p:spPr>
          <a:xfrm>
            <a:off x="2251448" y="2080171"/>
            <a:ext cx="1125784" cy="297061"/>
          </a:xfrm>
          <a:prstGeom prst="rect">
            <a:avLst/>
          </a:prstGeom>
          <a:noFill/>
          <a:ln/>
        </p:spPr>
        <p:txBody>
          <a:bodyPr wrap="square" lIns="0" tIns="0" rIns="0" bIns="0" rtlCol="0" anchor="t"/>
          <a:lstStyle/>
          <a:p>
            <a:pPr algn="ctr" indent="0" marL="0">
              <a:lnSpc>
                <a:spcPts val="1170"/>
              </a:lnSpc>
              <a:spcBef>
                <a:spcPts val="400"/>
              </a:spcBef>
              <a:buNone/>
            </a:pPr>
            <a:r>
              <a:rPr lang="en-US" sz="900" dirty="0">
                <a:solidFill>
                  <a:srgbClr val="5C7470"/>
                </a:solidFill>
                <a:latin typeface="Arial" pitchFamily="34" charset="0"/>
                <a:ea typeface="Arial" pitchFamily="34" charset="-122"/>
                <a:cs typeface="Arial" pitchFamily="34" charset="-120"/>
              </a:rPr>
              <a:t>Gán người nhận + đặt hạn</a:t>
            </a:r>
            <a:endParaRPr lang="en-US" sz="900" dirty="0"/>
          </a:p>
        </p:txBody>
      </p:sp>
      <p:sp>
        <p:nvSpPr>
          <p:cNvPr id="22" name="Text 20"/>
          <p:cNvSpPr/>
          <p:nvPr/>
        </p:nvSpPr>
        <p:spPr>
          <a:xfrm>
            <a:off x="3540770" y="1801416"/>
            <a:ext cx="310896" cy="352425"/>
          </a:xfrm>
          <a:prstGeom prst="rect">
            <a:avLst/>
          </a:prstGeom>
          <a:noFill/>
          <a:ln/>
        </p:spPr>
        <p:txBody>
          <a:bodyPr wrap="square" lIns="0" tIns="0" rIns="0" bIns="0" rtlCol="0" anchor="t"/>
          <a:lstStyle/>
          <a:p>
            <a:pPr algn="l" indent="0" marL="0">
              <a:buNone/>
            </a:pPr>
            <a:r>
              <a:rPr lang="en-US" sz="2400" b="1" dirty="0">
                <a:solidFill>
                  <a:srgbClr val="34D399"/>
                </a:solidFill>
                <a:latin typeface="Arial" pitchFamily="34" charset="0"/>
                <a:ea typeface="Arial" pitchFamily="34" charset="-122"/>
                <a:cs typeface="Arial" pitchFamily="34" charset="-120"/>
              </a:rPr>
              <a:t>→</a:t>
            </a:r>
            <a:endParaRPr lang="en-US" sz="2400" dirty="0"/>
          </a:p>
        </p:txBody>
      </p:sp>
      <p:sp>
        <p:nvSpPr>
          <p:cNvPr id="23" name="Text 21"/>
          <p:cNvSpPr/>
          <p:nvPr/>
        </p:nvSpPr>
        <p:spPr>
          <a:xfrm>
            <a:off x="3896320" y="1416248"/>
            <a:ext cx="1351359" cy="1122908"/>
          </a:xfrm>
          <a:prstGeom prst="roundRect">
            <a:avLst>
              <a:gd name="adj" fmla="val 11310"/>
            </a:avLst>
          </a:prstGeom>
          <a:solidFill>
            <a:srgbClr val="FFFFFF"/>
          </a:solidFill>
          <a:ln/>
        </p:spPr>
        <p:txBody>
          <a:bodyPr wrap="square" rtlCol="0" anchor="ctr"/>
          <a:lstStyle/>
          <a:p>
            <a:pPr indent="0" marL="0">
              <a:buNone/>
            </a:pPr>
            <a:endParaRPr lang="en-US" dirty="0"/>
          </a:p>
        </p:txBody>
      </p:sp>
      <p:sp>
        <p:nvSpPr>
          <p:cNvPr id="24" name="Shape 22"/>
          <p:cNvSpPr/>
          <p:nvPr/>
        </p:nvSpPr>
        <p:spPr>
          <a:xfrm>
            <a:off x="3896320" y="1444823"/>
            <a:ext cx="1351359" cy="0"/>
          </a:xfrm>
          <a:prstGeom prst="line">
            <a:avLst/>
          </a:prstGeom>
          <a:noFill/>
          <a:ln w="57150">
            <a:solidFill>
              <a:srgbClr val="2E8BD0"/>
            </a:solidFill>
            <a:prstDash val="solid"/>
          </a:ln>
        </p:spPr>
      </p:sp>
      <p:sp>
        <p:nvSpPr>
          <p:cNvPr id="25" name="Shape 23"/>
          <p:cNvSpPr/>
          <p:nvPr/>
        </p:nvSpPr>
        <p:spPr>
          <a:xfrm>
            <a:off x="5242917" y="1416248"/>
            <a:ext cx="0" cy="1122908"/>
          </a:xfrm>
          <a:prstGeom prst="line">
            <a:avLst/>
          </a:prstGeom>
          <a:noFill/>
          <a:ln w="9525">
            <a:solidFill>
              <a:srgbClr val="D9E8E4"/>
            </a:solidFill>
            <a:prstDash val="solid"/>
          </a:ln>
        </p:spPr>
      </p:sp>
      <p:sp>
        <p:nvSpPr>
          <p:cNvPr id="26" name="Shape 24"/>
          <p:cNvSpPr/>
          <p:nvPr/>
        </p:nvSpPr>
        <p:spPr>
          <a:xfrm>
            <a:off x="3896320" y="2534394"/>
            <a:ext cx="1351359" cy="0"/>
          </a:xfrm>
          <a:prstGeom prst="line">
            <a:avLst/>
          </a:prstGeom>
          <a:noFill/>
          <a:ln w="9525">
            <a:solidFill>
              <a:srgbClr val="D9E8E4"/>
            </a:solidFill>
            <a:prstDash val="solid"/>
          </a:ln>
        </p:spPr>
      </p:sp>
      <p:sp>
        <p:nvSpPr>
          <p:cNvPr id="27" name="Shape 25"/>
          <p:cNvSpPr/>
          <p:nvPr/>
        </p:nvSpPr>
        <p:spPr>
          <a:xfrm>
            <a:off x="3901083" y="1416248"/>
            <a:ext cx="0" cy="1122908"/>
          </a:xfrm>
          <a:prstGeom prst="line">
            <a:avLst/>
          </a:prstGeom>
          <a:noFill/>
          <a:ln w="9525">
            <a:solidFill>
              <a:srgbClr val="D9E8E4"/>
            </a:solidFill>
            <a:prstDash val="solid"/>
          </a:ln>
        </p:spPr>
      </p:sp>
      <p:sp>
        <p:nvSpPr>
          <p:cNvPr id="28" name="Text 26"/>
          <p:cNvSpPr/>
          <p:nvPr/>
        </p:nvSpPr>
        <p:spPr>
          <a:xfrm>
            <a:off x="4009108" y="1625798"/>
            <a:ext cx="1125784" cy="181421"/>
          </a:xfrm>
          <a:prstGeom prst="rect">
            <a:avLst/>
          </a:prstGeom>
          <a:noFill/>
          <a:ln/>
        </p:spPr>
        <p:txBody>
          <a:bodyPr wrap="square" lIns="0" tIns="0" rIns="0" bIns="0" rtlCol="0" anchor="t"/>
          <a:lstStyle/>
          <a:p>
            <a:pPr algn="ctr" indent="0" marL="0">
              <a:lnSpc>
                <a:spcPts val="1430"/>
              </a:lnSpc>
              <a:buNone/>
            </a:pPr>
            <a:r>
              <a:rPr lang="en-US" sz="1300" b="1" dirty="0">
                <a:solidFill>
                  <a:srgbClr val="2E8BD0"/>
                </a:solidFill>
                <a:latin typeface="Arial" pitchFamily="34" charset="0"/>
                <a:ea typeface="Arial" pitchFamily="34" charset="-122"/>
                <a:cs typeface="Arial" pitchFamily="34" charset="-120"/>
              </a:rPr>
              <a:t>Đang xử lý</a:t>
            </a:r>
            <a:endParaRPr lang="en-US" sz="1300" dirty="0"/>
          </a:p>
        </p:txBody>
      </p:sp>
      <p:sp>
        <p:nvSpPr>
          <p:cNvPr id="29" name="Text 27"/>
          <p:cNvSpPr/>
          <p:nvPr/>
        </p:nvSpPr>
        <p:spPr>
          <a:xfrm>
            <a:off x="4009108" y="1896070"/>
            <a:ext cx="1125784" cy="133350"/>
          </a:xfrm>
          <a:prstGeom prst="rect">
            <a:avLst/>
          </a:prstGeom>
          <a:noFill/>
          <a:ln/>
        </p:spPr>
        <p:txBody>
          <a:bodyPr wrap="square" lIns="0" tIns="0" rIns="0" bIns="0" rtlCol="0" anchor="t"/>
          <a:lstStyle/>
          <a:p>
            <a:pPr algn="ctr" indent="0" marL="0">
              <a:spcBef>
                <a:spcPts val="700"/>
              </a:spcBef>
              <a:buNone/>
            </a:pPr>
            <a:r>
              <a:rPr lang="en-US" sz="900" b="1" dirty="0">
                <a:solidFill>
                  <a:srgbClr val="2E8BD0"/>
                </a:solidFill>
                <a:latin typeface="Arial" pitchFamily="34" charset="0"/>
                <a:ea typeface="Arial" pitchFamily="34" charset="-122"/>
                <a:cs typeface="Arial" pitchFamily="34" charset="-120"/>
              </a:rPr>
              <a:t>Nhân viên</a:t>
            </a:r>
            <a:endParaRPr lang="en-US" sz="900" dirty="0"/>
          </a:p>
        </p:txBody>
      </p:sp>
      <p:sp>
        <p:nvSpPr>
          <p:cNvPr id="30" name="Text 28"/>
          <p:cNvSpPr/>
          <p:nvPr/>
        </p:nvSpPr>
        <p:spPr>
          <a:xfrm>
            <a:off x="4009108" y="2080171"/>
            <a:ext cx="1125784" cy="148530"/>
          </a:xfrm>
          <a:prstGeom prst="rect">
            <a:avLst/>
          </a:prstGeom>
          <a:noFill/>
          <a:ln/>
        </p:spPr>
        <p:txBody>
          <a:bodyPr wrap="square" lIns="0" tIns="0" rIns="0" bIns="0" rtlCol="0" anchor="t"/>
          <a:lstStyle/>
          <a:p>
            <a:pPr algn="ctr" indent="0" marL="0">
              <a:lnSpc>
                <a:spcPts val="1170"/>
              </a:lnSpc>
              <a:spcBef>
                <a:spcPts val="400"/>
              </a:spcBef>
              <a:buNone/>
            </a:pPr>
            <a:r>
              <a:rPr lang="en-US" sz="900" dirty="0">
                <a:solidFill>
                  <a:srgbClr val="5C7470"/>
                </a:solidFill>
                <a:latin typeface="Arial" pitchFamily="34" charset="0"/>
                <a:ea typeface="Arial" pitchFamily="34" charset="-122"/>
                <a:cs typeface="Arial" pitchFamily="34" charset="-120"/>
              </a:rPr>
              <a:t>Bấm "Nhận việc"</a:t>
            </a:r>
            <a:endParaRPr lang="en-US" sz="900" dirty="0"/>
          </a:p>
        </p:txBody>
      </p:sp>
      <p:sp>
        <p:nvSpPr>
          <p:cNvPr id="31" name="Text 29"/>
          <p:cNvSpPr/>
          <p:nvPr/>
        </p:nvSpPr>
        <p:spPr>
          <a:xfrm>
            <a:off x="5298430" y="1801416"/>
            <a:ext cx="310896" cy="352425"/>
          </a:xfrm>
          <a:prstGeom prst="rect">
            <a:avLst/>
          </a:prstGeom>
          <a:noFill/>
          <a:ln/>
        </p:spPr>
        <p:txBody>
          <a:bodyPr wrap="square" lIns="0" tIns="0" rIns="0" bIns="0" rtlCol="0" anchor="t"/>
          <a:lstStyle/>
          <a:p>
            <a:pPr algn="l" indent="0" marL="0">
              <a:buNone/>
            </a:pPr>
            <a:r>
              <a:rPr lang="en-US" sz="2400" b="1" dirty="0">
                <a:solidFill>
                  <a:srgbClr val="34D399"/>
                </a:solidFill>
                <a:latin typeface="Arial" pitchFamily="34" charset="0"/>
                <a:ea typeface="Arial" pitchFamily="34" charset="-122"/>
                <a:cs typeface="Arial" pitchFamily="34" charset="-120"/>
              </a:rPr>
              <a:t>→</a:t>
            </a:r>
            <a:endParaRPr lang="en-US" sz="2400" dirty="0"/>
          </a:p>
        </p:txBody>
      </p:sp>
      <p:sp>
        <p:nvSpPr>
          <p:cNvPr id="32" name="Text 30"/>
          <p:cNvSpPr/>
          <p:nvPr/>
        </p:nvSpPr>
        <p:spPr>
          <a:xfrm>
            <a:off x="5653980" y="1416248"/>
            <a:ext cx="1351359" cy="1122908"/>
          </a:xfrm>
          <a:prstGeom prst="roundRect">
            <a:avLst>
              <a:gd name="adj" fmla="val 11310"/>
            </a:avLst>
          </a:prstGeom>
          <a:solidFill>
            <a:srgbClr val="FFFFFF"/>
          </a:solidFill>
          <a:ln/>
        </p:spPr>
        <p:txBody>
          <a:bodyPr wrap="square" rtlCol="0" anchor="ctr"/>
          <a:lstStyle/>
          <a:p>
            <a:pPr indent="0" marL="0">
              <a:buNone/>
            </a:pPr>
            <a:endParaRPr lang="en-US" dirty="0"/>
          </a:p>
        </p:txBody>
      </p:sp>
      <p:sp>
        <p:nvSpPr>
          <p:cNvPr id="33" name="Shape 31"/>
          <p:cNvSpPr/>
          <p:nvPr/>
        </p:nvSpPr>
        <p:spPr>
          <a:xfrm>
            <a:off x="5653980" y="1444823"/>
            <a:ext cx="1351359" cy="0"/>
          </a:xfrm>
          <a:prstGeom prst="line">
            <a:avLst/>
          </a:prstGeom>
          <a:noFill/>
          <a:ln w="57150">
            <a:solidFill>
              <a:srgbClr val="7A5AF8"/>
            </a:solidFill>
            <a:prstDash val="solid"/>
          </a:ln>
        </p:spPr>
      </p:sp>
      <p:sp>
        <p:nvSpPr>
          <p:cNvPr id="34" name="Shape 32"/>
          <p:cNvSpPr/>
          <p:nvPr/>
        </p:nvSpPr>
        <p:spPr>
          <a:xfrm>
            <a:off x="7000577" y="1416248"/>
            <a:ext cx="0" cy="1122908"/>
          </a:xfrm>
          <a:prstGeom prst="line">
            <a:avLst/>
          </a:prstGeom>
          <a:noFill/>
          <a:ln w="9525">
            <a:solidFill>
              <a:srgbClr val="D9E8E4"/>
            </a:solidFill>
            <a:prstDash val="solid"/>
          </a:ln>
        </p:spPr>
      </p:sp>
      <p:sp>
        <p:nvSpPr>
          <p:cNvPr id="35" name="Shape 33"/>
          <p:cNvSpPr/>
          <p:nvPr/>
        </p:nvSpPr>
        <p:spPr>
          <a:xfrm>
            <a:off x="5653980" y="2534394"/>
            <a:ext cx="1351359" cy="0"/>
          </a:xfrm>
          <a:prstGeom prst="line">
            <a:avLst/>
          </a:prstGeom>
          <a:noFill/>
          <a:ln w="9525">
            <a:solidFill>
              <a:srgbClr val="D9E8E4"/>
            </a:solidFill>
            <a:prstDash val="solid"/>
          </a:ln>
        </p:spPr>
      </p:sp>
      <p:sp>
        <p:nvSpPr>
          <p:cNvPr id="36" name="Shape 34"/>
          <p:cNvSpPr/>
          <p:nvPr/>
        </p:nvSpPr>
        <p:spPr>
          <a:xfrm>
            <a:off x="5658743" y="1416248"/>
            <a:ext cx="0" cy="1122908"/>
          </a:xfrm>
          <a:prstGeom prst="line">
            <a:avLst/>
          </a:prstGeom>
          <a:noFill/>
          <a:ln w="9525">
            <a:solidFill>
              <a:srgbClr val="D9E8E4"/>
            </a:solidFill>
            <a:prstDash val="solid"/>
          </a:ln>
        </p:spPr>
      </p:sp>
      <p:sp>
        <p:nvSpPr>
          <p:cNvPr id="37" name="Text 35"/>
          <p:cNvSpPr/>
          <p:nvPr/>
        </p:nvSpPr>
        <p:spPr>
          <a:xfrm>
            <a:off x="5766768" y="1625798"/>
            <a:ext cx="1125784" cy="181421"/>
          </a:xfrm>
          <a:prstGeom prst="rect">
            <a:avLst/>
          </a:prstGeom>
          <a:noFill/>
          <a:ln/>
        </p:spPr>
        <p:txBody>
          <a:bodyPr wrap="square" lIns="0" tIns="0" rIns="0" bIns="0" rtlCol="0" anchor="t"/>
          <a:lstStyle/>
          <a:p>
            <a:pPr algn="ctr" indent="0" marL="0">
              <a:lnSpc>
                <a:spcPts val="1430"/>
              </a:lnSpc>
              <a:buNone/>
            </a:pPr>
            <a:r>
              <a:rPr lang="en-US" sz="1300" b="1" dirty="0">
                <a:solidFill>
                  <a:srgbClr val="7A5AF8"/>
                </a:solidFill>
                <a:latin typeface="Arial" pitchFamily="34" charset="0"/>
                <a:ea typeface="Arial" pitchFamily="34" charset="-122"/>
                <a:cs typeface="Arial" pitchFamily="34" charset="-120"/>
              </a:rPr>
              <a:t>Chờ duyệt</a:t>
            </a:r>
            <a:endParaRPr lang="en-US" sz="1300" dirty="0"/>
          </a:p>
        </p:txBody>
      </p:sp>
      <p:sp>
        <p:nvSpPr>
          <p:cNvPr id="38" name="Text 36"/>
          <p:cNvSpPr/>
          <p:nvPr/>
        </p:nvSpPr>
        <p:spPr>
          <a:xfrm>
            <a:off x="5766768" y="1896070"/>
            <a:ext cx="1125784" cy="133350"/>
          </a:xfrm>
          <a:prstGeom prst="rect">
            <a:avLst/>
          </a:prstGeom>
          <a:noFill/>
          <a:ln/>
        </p:spPr>
        <p:txBody>
          <a:bodyPr wrap="square" lIns="0" tIns="0" rIns="0" bIns="0" rtlCol="0" anchor="t"/>
          <a:lstStyle/>
          <a:p>
            <a:pPr algn="ctr" indent="0" marL="0">
              <a:spcBef>
                <a:spcPts val="700"/>
              </a:spcBef>
              <a:buNone/>
            </a:pPr>
            <a:r>
              <a:rPr lang="en-US" sz="900" b="1" dirty="0">
                <a:solidFill>
                  <a:srgbClr val="2E8BD0"/>
                </a:solidFill>
                <a:latin typeface="Arial" pitchFamily="34" charset="0"/>
                <a:ea typeface="Arial" pitchFamily="34" charset="-122"/>
                <a:cs typeface="Arial" pitchFamily="34" charset="-120"/>
              </a:rPr>
              <a:t>Nhân viên</a:t>
            </a:r>
            <a:endParaRPr lang="en-US" sz="900" dirty="0"/>
          </a:p>
        </p:txBody>
      </p:sp>
      <p:sp>
        <p:nvSpPr>
          <p:cNvPr id="39" name="Text 37"/>
          <p:cNvSpPr/>
          <p:nvPr/>
        </p:nvSpPr>
        <p:spPr>
          <a:xfrm>
            <a:off x="5766768" y="2080171"/>
            <a:ext cx="1125784" cy="297061"/>
          </a:xfrm>
          <a:prstGeom prst="rect">
            <a:avLst/>
          </a:prstGeom>
          <a:noFill/>
          <a:ln/>
        </p:spPr>
        <p:txBody>
          <a:bodyPr wrap="square" lIns="0" tIns="0" rIns="0" bIns="0" rtlCol="0" anchor="t"/>
          <a:lstStyle/>
          <a:p>
            <a:pPr algn="ctr" indent="0" marL="0">
              <a:lnSpc>
                <a:spcPts val="1170"/>
              </a:lnSpc>
              <a:spcBef>
                <a:spcPts val="400"/>
              </a:spcBef>
              <a:buNone/>
            </a:pPr>
            <a:r>
              <a:rPr lang="en-US" sz="900" dirty="0">
                <a:solidFill>
                  <a:srgbClr val="5C7470"/>
                </a:solidFill>
                <a:latin typeface="Arial" pitchFamily="34" charset="0"/>
                <a:ea typeface="Arial" pitchFamily="34" charset="-122"/>
                <a:cs typeface="Arial" pitchFamily="34" charset="-120"/>
              </a:rPr>
              <a:t>Nộp báo cáo hoàn thành</a:t>
            </a:r>
            <a:endParaRPr lang="en-US" sz="900" dirty="0"/>
          </a:p>
        </p:txBody>
      </p:sp>
      <p:sp>
        <p:nvSpPr>
          <p:cNvPr id="40" name="Text 38"/>
          <p:cNvSpPr/>
          <p:nvPr/>
        </p:nvSpPr>
        <p:spPr>
          <a:xfrm>
            <a:off x="7056090" y="1801416"/>
            <a:ext cx="310896" cy="352425"/>
          </a:xfrm>
          <a:prstGeom prst="rect">
            <a:avLst/>
          </a:prstGeom>
          <a:noFill/>
          <a:ln/>
        </p:spPr>
        <p:txBody>
          <a:bodyPr wrap="square" lIns="0" tIns="0" rIns="0" bIns="0" rtlCol="0" anchor="t"/>
          <a:lstStyle/>
          <a:p>
            <a:pPr algn="l" indent="0" marL="0">
              <a:buNone/>
            </a:pPr>
            <a:r>
              <a:rPr lang="en-US" sz="2400" b="1" dirty="0">
                <a:solidFill>
                  <a:srgbClr val="34D399"/>
                </a:solidFill>
                <a:latin typeface="Arial" pitchFamily="34" charset="0"/>
                <a:ea typeface="Arial" pitchFamily="34" charset="-122"/>
                <a:cs typeface="Arial" pitchFamily="34" charset="-120"/>
              </a:rPr>
              <a:t>→</a:t>
            </a:r>
            <a:endParaRPr lang="en-US" sz="2400" dirty="0"/>
          </a:p>
        </p:txBody>
      </p:sp>
      <p:sp>
        <p:nvSpPr>
          <p:cNvPr id="41" name="Text 39"/>
          <p:cNvSpPr/>
          <p:nvPr/>
        </p:nvSpPr>
        <p:spPr>
          <a:xfrm>
            <a:off x="7411641" y="1416248"/>
            <a:ext cx="1351359" cy="1122908"/>
          </a:xfrm>
          <a:prstGeom prst="roundRect">
            <a:avLst>
              <a:gd name="adj" fmla="val 11310"/>
            </a:avLst>
          </a:prstGeom>
          <a:solidFill>
            <a:srgbClr val="FFFFFF"/>
          </a:solidFill>
          <a:ln/>
        </p:spPr>
        <p:txBody>
          <a:bodyPr wrap="square" rtlCol="0" anchor="ctr"/>
          <a:lstStyle/>
          <a:p>
            <a:pPr indent="0" marL="0">
              <a:buNone/>
            </a:pPr>
            <a:endParaRPr lang="en-US" dirty="0"/>
          </a:p>
        </p:txBody>
      </p:sp>
      <p:sp>
        <p:nvSpPr>
          <p:cNvPr id="42" name="Shape 40"/>
          <p:cNvSpPr/>
          <p:nvPr/>
        </p:nvSpPr>
        <p:spPr>
          <a:xfrm>
            <a:off x="7411641" y="1444823"/>
            <a:ext cx="1351359" cy="0"/>
          </a:xfrm>
          <a:prstGeom prst="line">
            <a:avLst/>
          </a:prstGeom>
          <a:noFill/>
          <a:ln w="57150">
            <a:solidFill>
              <a:srgbClr val="1FA97A"/>
            </a:solidFill>
            <a:prstDash val="solid"/>
          </a:ln>
        </p:spPr>
      </p:sp>
      <p:sp>
        <p:nvSpPr>
          <p:cNvPr id="43" name="Shape 41"/>
          <p:cNvSpPr/>
          <p:nvPr/>
        </p:nvSpPr>
        <p:spPr>
          <a:xfrm>
            <a:off x="8758238" y="1416248"/>
            <a:ext cx="0" cy="1122908"/>
          </a:xfrm>
          <a:prstGeom prst="line">
            <a:avLst/>
          </a:prstGeom>
          <a:noFill/>
          <a:ln w="9525">
            <a:solidFill>
              <a:srgbClr val="D9E8E4"/>
            </a:solidFill>
            <a:prstDash val="solid"/>
          </a:ln>
        </p:spPr>
      </p:sp>
      <p:sp>
        <p:nvSpPr>
          <p:cNvPr id="44" name="Shape 42"/>
          <p:cNvSpPr/>
          <p:nvPr/>
        </p:nvSpPr>
        <p:spPr>
          <a:xfrm>
            <a:off x="7411641" y="2534394"/>
            <a:ext cx="1351359" cy="0"/>
          </a:xfrm>
          <a:prstGeom prst="line">
            <a:avLst/>
          </a:prstGeom>
          <a:noFill/>
          <a:ln w="9525">
            <a:solidFill>
              <a:srgbClr val="D9E8E4"/>
            </a:solidFill>
            <a:prstDash val="solid"/>
          </a:ln>
        </p:spPr>
      </p:sp>
      <p:sp>
        <p:nvSpPr>
          <p:cNvPr id="45" name="Shape 43"/>
          <p:cNvSpPr/>
          <p:nvPr/>
        </p:nvSpPr>
        <p:spPr>
          <a:xfrm>
            <a:off x="7416403" y="1416248"/>
            <a:ext cx="0" cy="1122908"/>
          </a:xfrm>
          <a:prstGeom prst="line">
            <a:avLst/>
          </a:prstGeom>
          <a:noFill/>
          <a:ln w="9525">
            <a:solidFill>
              <a:srgbClr val="D9E8E4"/>
            </a:solidFill>
            <a:prstDash val="solid"/>
          </a:ln>
        </p:spPr>
      </p:sp>
      <p:sp>
        <p:nvSpPr>
          <p:cNvPr id="46" name="Text 44"/>
          <p:cNvSpPr/>
          <p:nvPr/>
        </p:nvSpPr>
        <p:spPr>
          <a:xfrm>
            <a:off x="7524429" y="1625798"/>
            <a:ext cx="1125784" cy="181421"/>
          </a:xfrm>
          <a:prstGeom prst="rect">
            <a:avLst/>
          </a:prstGeom>
          <a:noFill/>
          <a:ln/>
        </p:spPr>
        <p:txBody>
          <a:bodyPr wrap="square" lIns="0" tIns="0" rIns="0" bIns="0" rtlCol="0" anchor="t"/>
          <a:lstStyle/>
          <a:p>
            <a:pPr algn="ctr" indent="0" marL="0">
              <a:lnSpc>
                <a:spcPts val="1430"/>
              </a:lnSpc>
              <a:buNone/>
            </a:pPr>
            <a:r>
              <a:rPr lang="en-US" sz="1300" b="1" dirty="0">
                <a:solidFill>
                  <a:srgbClr val="1FA97A"/>
                </a:solidFill>
                <a:latin typeface="Arial" pitchFamily="34" charset="0"/>
                <a:ea typeface="Arial" pitchFamily="34" charset="-122"/>
                <a:cs typeface="Arial" pitchFamily="34" charset="-120"/>
              </a:rPr>
              <a:t>Đã xong</a:t>
            </a:r>
            <a:endParaRPr lang="en-US" sz="1300" dirty="0"/>
          </a:p>
        </p:txBody>
      </p:sp>
      <p:sp>
        <p:nvSpPr>
          <p:cNvPr id="47" name="Text 45"/>
          <p:cNvSpPr/>
          <p:nvPr/>
        </p:nvSpPr>
        <p:spPr>
          <a:xfrm>
            <a:off x="7524429" y="1896070"/>
            <a:ext cx="1125784" cy="133350"/>
          </a:xfrm>
          <a:prstGeom prst="rect">
            <a:avLst/>
          </a:prstGeom>
          <a:noFill/>
          <a:ln/>
        </p:spPr>
        <p:txBody>
          <a:bodyPr wrap="square" lIns="0" tIns="0" rIns="0" bIns="0" rtlCol="0" anchor="t"/>
          <a:lstStyle/>
          <a:p>
            <a:pPr algn="ctr" indent="0" marL="0">
              <a:spcBef>
                <a:spcPts val="700"/>
              </a:spcBef>
              <a:buNone/>
            </a:pPr>
            <a:r>
              <a:rPr lang="en-US" sz="900" b="1" dirty="0">
                <a:solidFill>
                  <a:srgbClr val="0E8C84"/>
                </a:solidFill>
                <a:latin typeface="Arial" pitchFamily="34" charset="0"/>
                <a:ea typeface="Arial" pitchFamily="34" charset="-122"/>
                <a:cs typeface="Arial" pitchFamily="34" charset="-120"/>
              </a:rPr>
              <a:t>Manager</a:t>
            </a:r>
            <a:endParaRPr lang="en-US" sz="900" dirty="0"/>
          </a:p>
        </p:txBody>
      </p:sp>
      <p:sp>
        <p:nvSpPr>
          <p:cNvPr id="48" name="Text 46"/>
          <p:cNvSpPr/>
          <p:nvPr/>
        </p:nvSpPr>
        <p:spPr>
          <a:xfrm>
            <a:off x="7524429" y="2080171"/>
            <a:ext cx="1125784" cy="297061"/>
          </a:xfrm>
          <a:prstGeom prst="rect">
            <a:avLst/>
          </a:prstGeom>
          <a:noFill/>
          <a:ln/>
        </p:spPr>
        <p:txBody>
          <a:bodyPr wrap="square" lIns="0" tIns="0" rIns="0" bIns="0" rtlCol="0" anchor="t"/>
          <a:lstStyle/>
          <a:p>
            <a:pPr algn="ctr" indent="0" marL="0">
              <a:lnSpc>
                <a:spcPts val="1170"/>
              </a:lnSpc>
              <a:spcBef>
                <a:spcPts val="400"/>
              </a:spcBef>
              <a:buNone/>
            </a:pPr>
            <a:r>
              <a:rPr lang="en-US" sz="900" dirty="0">
                <a:solidFill>
                  <a:srgbClr val="5C7470"/>
                </a:solidFill>
                <a:latin typeface="Arial" pitchFamily="34" charset="0"/>
                <a:ea typeface="Arial" pitchFamily="34" charset="-122"/>
                <a:cs typeface="Arial" pitchFamily="34" charset="-120"/>
              </a:rPr>
              <a:t>Manager duyệt, khép vòng</a:t>
            </a:r>
            <a:endParaRPr lang="en-US" sz="900" dirty="0"/>
          </a:p>
        </p:txBody>
      </p:sp>
      <p:sp>
        <p:nvSpPr>
          <p:cNvPr id="49" name="Text 47"/>
          <p:cNvSpPr/>
          <p:nvPr/>
        </p:nvSpPr>
        <p:spPr>
          <a:xfrm>
            <a:off x="381000" y="2818507"/>
            <a:ext cx="8382000" cy="728960"/>
          </a:xfrm>
          <a:prstGeom prst="roundRect">
            <a:avLst>
              <a:gd name="adj" fmla="val 17422"/>
            </a:avLst>
          </a:prstGeom>
          <a:solidFill>
            <a:srgbClr val="FFFFFF"/>
          </a:solidFill>
          <a:ln/>
        </p:spPr>
        <p:txBody>
          <a:bodyPr wrap="square" rtlCol="0" anchor="ctr"/>
          <a:lstStyle/>
          <a:p>
            <a:pPr indent="0" marL="0">
              <a:buNone/>
            </a:pPr>
            <a:endParaRPr lang="en-US" dirty="0"/>
          </a:p>
        </p:txBody>
      </p:sp>
      <p:sp>
        <p:nvSpPr>
          <p:cNvPr id="50" name="Shape 48"/>
          <p:cNvSpPr/>
          <p:nvPr/>
        </p:nvSpPr>
        <p:spPr>
          <a:xfrm>
            <a:off x="381000" y="2823270"/>
            <a:ext cx="8382000" cy="0"/>
          </a:xfrm>
          <a:prstGeom prst="line">
            <a:avLst/>
          </a:prstGeom>
          <a:noFill/>
          <a:ln w="9525">
            <a:solidFill>
              <a:srgbClr val="D9E8E4"/>
            </a:solidFill>
            <a:prstDash val="solid"/>
          </a:ln>
        </p:spPr>
      </p:sp>
      <p:sp>
        <p:nvSpPr>
          <p:cNvPr id="51" name="Shape 49"/>
          <p:cNvSpPr/>
          <p:nvPr/>
        </p:nvSpPr>
        <p:spPr>
          <a:xfrm>
            <a:off x="8758237" y="2818507"/>
            <a:ext cx="0" cy="728960"/>
          </a:xfrm>
          <a:prstGeom prst="line">
            <a:avLst/>
          </a:prstGeom>
          <a:noFill/>
          <a:ln w="9525">
            <a:solidFill>
              <a:srgbClr val="D9E8E4"/>
            </a:solidFill>
            <a:prstDash val="solid"/>
          </a:ln>
        </p:spPr>
      </p:sp>
      <p:sp>
        <p:nvSpPr>
          <p:cNvPr id="52" name="Shape 50"/>
          <p:cNvSpPr/>
          <p:nvPr/>
        </p:nvSpPr>
        <p:spPr>
          <a:xfrm>
            <a:off x="381000" y="3542705"/>
            <a:ext cx="8382000" cy="0"/>
          </a:xfrm>
          <a:prstGeom prst="line">
            <a:avLst/>
          </a:prstGeom>
          <a:noFill/>
          <a:ln w="9525">
            <a:solidFill>
              <a:srgbClr val="D9E8E4"/>
            </a:solidFill>
            <a:prstDash val="solid"/>
          </a:ln>
        </p:spPr>
      </p:sp>
      <p:sp>
        <p:nvSpPr>
          <p:cNvPr id="53" name="Shape 51"/>
          <p:cNvSpPr/>
          <p:nvPr/>
        </p:nvSpPr>
        <p:spPr>
          <a:xfrm>
            <a:off x="409575" y="2818507"/>
            <a:ext cx="0" cy="728960"/>
          </a:xfrm>
          <a:prstGeom prst="line">
            <a:avLst/>
          </a:prstGeom>
          <a:noFill/>
          <a:ln w="57150">
            <a:solidFill>
              <a:srgbClr val="34D399"/>
            </a:solidFill>
            <a:prstDash val="solid"/>
          </a:ln>
        </p:spPr>
      </p:sp>
      <p:sp>
        <p:nvSpPr>
          <p:cNvPr id="54" name="Text 52"/>
          <p:cNvSpPr/>
          <p:nvPr/>
        </p:nvSpPr>
        <p:spPr>
          <a:xfrm>
            <a:off x="590550" y="2980432"/>
            <a:ext cx="8170736" cy="405110"/>
          </a:xfrm>
          <a:prstGeom prst="rect">
            <a:avLst/>
          </a:prstGeom>
          <a:noFill/>
          <a:ln/>
        </p:spPr>
        <p:txBody>
          <a:bodyPr wrap="square" lIns="0" tIns="0" rIns="0" bIns="0" rtlCol="0" anchor="t"/>
          <a:lstStyle/>
          <a:p>
            <a:pPr algn="l" indent="0" marL="0">
              <a:lnSpc>
                <a:spcPts val="1595"/>
              </a:lnSpc>
              <a:buNone/>
            </a:pPr>
            <a:r>
              <a:rPr lang="en-US" sz="1100" dirty="0">
                <a:solidFill>
                  <a:srgbClr val="0E2B29"/>
                </a:solidFill>
                <a:latin typeface="Arial" pitchFamily="34" charset="0"/>
                <a:ea typeface="Arial" pitchFamily="34" charset="-122"/>
                <a:cs typeface="Arial" pitchFamily="34" charset="-120"/>
              </a:rPr>
              <a:t>Mỗi lần chuyển trạng thái đều </a:t>
            </a:r>
            <a:pPr algn="l" indent="0" marL="0">
              <a:lnSpc>
                <a:spcPts val="1595"/>
              </a:lnSpc>
              <a:buNone/>
            </a:pPr>
            <a:r>
              <a:rPr lang="en-US" sz="1100" b="1" dirty="0">
                <a:solidFill>
                  <a:srgbClr val="0E2B29"/>
                </a:solidFill>
                <a:latin typeface="Arial" pitchFamily="34" charset="0"/>
                <a:ea typeface="Arial" pitchFamily="34" charset="-122"/>
                <a:cs typeface="Arial" pitchFamily="34" charset="-120"/>
              </a:rPr>
              <a:t>ghi log</a:t>
            </a:r>
            <a:pPr algn="l" indent="0" marL="0">
              <a:lnSpc>
                <a:spcPts val="1595"/>
              </a:lnSpc>
              <a:buNone/>
            </a:pPr>
            <a:r>
              <a:rPr lang="en-US" sz="1100" dirty="0">
                <a:solidFill>
                  <a:srgbClr val="0E2B29"/>
                </a:solidFill>
                <a:latin typeface="Arial" pitchFamily="34" charset="0"/>
                <a:ea typeface="Arial" pitchFamily="34" charset="-122"/>
                <a:cs typeface="Arial" pitchFamily="34" charset="-120"/>
              </a:rPr>
              <a:t> phục vụ audit; task </a:t>
            </a:r>
            <a:pPr algn="l" indent="0" marL="0">
              <a:lnSpc>
                <a:spcPts val="1595"/>
              </a:lnSpc>
              <a:buNone/>
            </a:pPr>
            <a:r>
              <a:rPr lang="en-US" sz="1100" b="1" dirty="0">
                <a:solidFill>
                  <a:srgbClr val="0E2B29"/>
                </a:solidFill>
                <a:latin typeface="Arial" pitchFamily="34" charset="0"/>
                <a:ea typeface="Arial" pitchFamily="34" charset="-122"/>
                <a:cs typeface="Arial" pitchFamily="34" charset="-120"/>
              </a:rPr>
              <a:t>quá hạn</a:t>
            </a:r>
            <a:pPr algn="l" indent="0" marL="0">
              <a:lnSpc>
                <a:spcPts val="1595"/>
              </a:lnSpc>
              <a:buNone/>
            </a:pPr>
            <a:r>
              <a:rPr lang="en-US" sz="1100" dirty="0">
                <a:solidFill>
                  <a:srgbClr val="0E2B29"/>
                </a:solidFill>
                <a:latin typeface="Arial" pitchFamily="34" charset="0"/>
                <a:ea typeface="Arial" pitchFamily="34" charset="-122"/>
                <a:cs typeface="Arial" pitchFamily="34" charset="-120"/>
              </a:rPr>
              <a:t> được tự đánh dấu để manager theo dõi. Quyền thao tác được kiểm ở backend theo vai trò &amp; phòng ban.</a:t>
            </a:r>
            <a:endParaRPr lang="en-US" sz="1100" dirty="0"/>
          </a:p>
        </p:txBody>
      </p:sp>
      <p:sp>
        <p:nvSpPr>
          <p:cNvPr id="55" name="Text 53"/>
          <p:cNvSpPr/>
          <p:nvPr/>
        </p:nvSpPr>
        <p:spPr>
          <a:xfrm>
            <a:off x="381000" y="4673798"/>
            <a:ext cx="8549640" cy="114300"/>
          </a:xfrm>
          <a:prstGeom prst="rect">
            <a:avLst/>
          </a:prstGeom>
          <a:noFill/>
          <a:ln/>
        </p:spPr>
        <p:txBody>
          <a:bodyPr wrap="square" lIns="0" tIns="0" rIns="0" bIns="0" rtlCol="0" anchor="t"/>
          <a:lstStyle/>
          <a:p>
            <a:pPr algn="l" indent="0" marL="0">
              <a:spcBef>
                <a:spcPts val="8869"/>
              </a:spcBef>
              <a:spcAft>
                <a:spcPts val="800"/>
              </a:spcAft>
              <a:buNone/>
            </a:pPr>
            <a:r>
              <a:rPr lang="en-US" sz="800" dirty="0">
                <a:solidFill>
                  <a:srgbClr val="5C7470"/>
                </a:solidFill>
                <a:latin typeface="Arial" pitchFamily="34" charset="0"/>
                <a:ea typeface="Arial" pitchFamily="34" charset="-122"/>
                <a:cs typeface="Arial" pitchFamily="34" charset="-120"/>
              </a:rPr>
              <a:t>xanhSM · AI Quality Intelligence Platform · AI20K Cohort 2 — Team 116</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30101"/>
            <a:ext cx="8549640" cy="142875"/>
          </a:xfrm>
          <a:prstGeom prst="rect">
            <a:avLst/>
          </a:prstGeom>
          <a:noFill/>
          <a:ln/>
        </p:spPr>
        <p:txBody>
          <a:bodyPr wrap="square" lIns="0" tIns="0" rIns="0" bIns="0" rtlCol="0" anchor="t"/>
          <a:lstStyle/>
          <a:p>
            <a:pPr algn="l" indent="0" marL="0">
              <a:spcAft>
                <a:spcPts val="400"/>
              </a:spcAft>
              <a:buNone/>
            </a:pPr>
            <a:r>
              <a:rPr lang="en-US" sz="1000" b="1" dirty="0">
                <a:solidFill>
                  <a:srgbClr val="0E8C84"/>
                </a:solidFill>
                <a:latin typeface="Arial" pitchFamily="34" charset="0"/>
                <a:ea typeface="Arial" pitchFamily="34" charset="-122"/>
                <a:cs typeface="Arial" pitchFamily="34" charset="-120"/>
              </a:rPr>
              <a:t>VẬN HÀNH · GIAO VIỆC</a:t>
            </a:r>
            <a:endParaRPr lang="en-US" sz="1000" dirty="0"/>
          </a:p>
        </p:txBody>
      </p:sp>
      <p:sp>
        <p:nvSpPr>
          <p:cNvPr id="3" name="Text 1"/>
          <p:cNvSpPr/>
          <p:nvPr/>
        </p:nvSpPr>
        <p:spPr>
          <a:xfrm>
            <a:off x="381000" y="523726"/>
            <a:ext cx="8549640" cy="342751"/>
          </a:xfrm>
          <a:prstGeom prst="rect">
            <a:avLst/>
          </a:prstGeom>
          <a:noFill/>
          <a:ln/>
        </p:spPr>
        <p:txBody>
          <a:bodyPr wrap="square" lIns="0" tIns="0" rIns="0" bIns="0" rtlCol="0" anchor="t"/>
          <a:lstStyle/>
          <a:p>
            <a:pPr algn="l" indent="0" marL="0">
              <a:lnSpc>
                <a:spcPts val="2700"/>
              </a:lnSpc>
              <a:buNone/>
            </a:pPr>
            <a:r>
              <a:rPr lang="en-US" sz="2500" b="1" dirty="0">
                <a:solidFill>
                  <a:srgbClr val="0B5E5C"/>
                </a:solidFill>
                <a:latin typeface="Arial" pitchFamily="34" charset="0"/>
                <a:ea typeface="Arial" pitchFamily="34" charset="-122"/>
                <a:cs typeface="Arial" pitchFamily="34" charset="-120"/>
              </a:rPr>
              <a:t>Manager phân chia &amp; giao việc cho nhân viên</a:t>
            </a:r>
            <a:endParaRPr lang="en-US" sz="2500" dirty="0"/>
          </a:p>
        </p:txBody>
      </p:sp>
      <p:sp>
        <p:nvSpPr>
          <p:cNvPr id="4" name="Text 2"/>
          <p:cNvSpPr/>
          <p:nvPr/>
        </p:nvSpPr>
        <p:spPr>
          <a:xfrm>
            <a:off x="381000" y="1095077"/>
            <a:ext cx="3048149" cy="1946672"/>
          </a:xfrm>
          <a:prstGeom prst="rect">
            <a:avLst/>
          </a:prstGeom>
          <a:noFill/>
          <a:ln/>
        </p:spPr>
        <p:txBody>
          <a:bodyPr wrap="square" lIns="88900" tIns="0" rIns="0" bIns="0" rtlCol="0" anchor="t"/>
          <a:lstStyle/>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Task gom từ ticket/báo cáo,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gắn sẵn phòng ban</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phụ trách.</a:t>
            </a:r>
            <a:endParaRPr lang="en-US" sz="1150" dirty="0"/>
          </a:p>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Mở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"Gán task"</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 AI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gợi ý người nhận</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cân bằng tải trong phòng.</a:t>
            </a:r>
            <a:endParaRPr lang="en-US" sz="1150" dirty="0"/>
          </a:p>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Chọn nhân viên + đặt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hạn hoàn thành</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 bấm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Gán</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a:t>
            </a:r>
            <a:endParaRPr lang="en-US" sz="1150" dirty="0"/>
          </a:p>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Vòng đời: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Đang mở → Đã giao → Đang xử lý → Chờ duyệt → Đã xong</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a:t>
            </a:r>
            <a:endParaRPr lang="en-US" sz="1150" dirty="0"/>
          </a:p>
        </p:txBody>
      </p:sp>
      <p:sp>
        <p:nvSpPr>
          <p:cNvPr id="5" name="Text 3"/>
          <p:cNvSpPr/>
          <p:nvPr/>
        </p:nvSpPr>
        <p:spPr>
          <a:xfrm>
            <a:off x="3632299" y="1018877"/>
            <a:ext cx="5130701" cy="3262759"/>
          </a:xfrm>
          <a:prstGeom prst="roundRect">
            <a:avLst>
              <a:gd name="adj" fmla="val 3892"/>
            </a:avLst>
          </a:prstGeom>
          <a:solidFill>
            <a:srgbClr val="FFFFFF"/>
          </a:solidFill>
          <a:ln w="9525">
            <a:solidFill>
              <a:srgbClr val="D9E8E4"/>
            </a:solidFill>
          </a:ln>
          <a:effectLst>
            <a:outerShdw sx="100000" sy="100000" kx="0" ky="0" algn="bl" rotWithShape="0" blurRad="133350" dist="47625" dir="3180000">
              <a:srgbClr val="0b5e5c">
                <a:alpha val="22000"/>
              </a:srgbClr>
            </a:outerShdw>
          </a:effectLst>
        </p:spPr>
        <p:txBody>
          <a:bodyPr wrap="square" rtlCol="0" anchor="ctr"/>
          <a:lstStyle/>
          <a:p>
            <a:pPr indent="0" marL="0">
              <a:buNone/>
            </a:pPr>
            <a:endParaRPr lang="en-US" dirty="0"/>
          </a:p>
        </p:txBody>
      </p:sp>
      <p:pic>
        <p:nvPicPr>
          <p:cNvPr id="6" name="Image 0" descr="/private/tmp/claude-501/-Users-kenz-de-projects-C2-App-116/3d8df5ac-6b2b-4cce-a997-fe0b4573b465/scratchpad/build/assets/manager.png">    </p:cNvPr>
          <p:cNvPicPr>
            <a:picLocks noChangeAspect="1"/>
          </p:cNvPicPr>
          <p:nvPr/>
        </p:nvPicPr>
        <p:blipFill>
          <a:blip r:embed="rId1"/>
          <a:stretch>
            <a:fillRect/>
          </a:stretch>
        </p:blipFill>
        <p:spPr>
          <a:xfrm>
            <a:off x="3705225" y="1091803"/>
            <a:ext cx="4984849" cy="3116907"/>
          </a:xfrm>
          <a:prstGeom prst="rect">
            <a:avLst/>
          </a:prstGeom>
        </p:spPr>
      </p:pic>
      <p:sp>
        <p:nvSpPr>
          <p:cNvPr id="7" name="Text 4"/>
          <p:cNvSpPr/>
          <p:nvPr/>
        </p:nvSpPr>
        <p:spPr>
          <a:xfrm>
            <a:off x="381000" y="4673798"/>
            <a:ext cx="8549640" cy="114300"/>
          </a:xfrm>
          <a:prstGeom prst="rect">
            <a:avLst/>
          </a:prstGeom>
          <a:noFill/>
          <a:ln/>
        </p:spPr>
        <p:txBody>
          <a:bodyPr wrap="square" lIns="0" tIns="0" rIns="0" bIns="0" rtlCol="0" anchor="t"/>
          <a:lstStyle/>
          <a:p>
            <a:pPr algn="l" indent="0" marL="0">
              <a:spcAft>
                <a:spcPts val="800"/>
              </a:spcAft>
              <a:buNone/>
            </a:pPr>
            <a:r>
              <a:rPr lang="en-US" sz="800" dirty="0">
                <a:solidFill>
                  <a:srgbClr val="5C7470"/>
                </a:solidFill>
                <a:latin typeface="Arial" pitchFamily="34" charset="0"/>
                <a:ea typeface="Arial" pitchFamily="34" charset="-122"/>
                <a:cs typeface="Arial" pitchFamily="34" charset="-120"/>
              </a:rPr>
              <a:t>xanhSM · AI Quality Intelligence Platform · AI20K Cohort 2 — Team 116</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30101"/>
            <a:ext cx="8549640" cy="142875"/>
          </a:xfrm>
          <a:prstGeom prst="rect">
            <a:avLst/>
          </a:prstGeom>
          <a:noFill/>
          <a:ln/>
        </p:spPr>
        <p:txBody>
          <a:bodyPr wrap="square" lIns="0" tIns="0" rIns="0" bIns="0" rtlCol="0" anchor="t"/>
          <a:lstStyle/>
          <a:p>
            <a:pPr algn="l" indent="0" marL="0">
              <a:spcAft>
                <a:spcPts val="400"/>
              </a:spcAft>
              <a:buNone/>
            </a:pPr>
            <a:r>
              <a:rPr lang="en-US" sz="1000" b="1" dirty="0">
                <a:solidFill>
                  <a:srgbClr val="0E8C84"/>
                </a:solidFill>
                <a:latin typeface="Arial" pitchFamily="34" charset="0"/>
                <a:ea typeface="Arial" pitchFamily="34" charset="-122"/>
                <a:cs typeface="Arial" pitchFamily="34" charset="-120"/>
              </a:rPr>
              <a:t>VẬN HÀNH · NHÂN VIÊN</a:t>
            </a:r>
            <a:endParaRPr lang="en-US" sz="1000" dirty="0"/>
          </a:p>
        </p:txBody>
      </p:sp>
      <p:sp>
        <p:nvSpPr>
          <p:cNvPr id="3" name="Text 1"/>
          <p:cNvSpPr/>
          <p:nvPr/>
        </p:nvSpPr>
        <p:spPr>
          <a:xfrm>
            <a:off x="381000" y="523726"/>
            <a:ext cx="8549640" cy="342751"/>
          </a:xfrm>
          <a:prstGeom prst="rect">
            <a:avLst/>
          </a:prstGeom>
          <a:noFill/>
          <a:ln/>
        </p:spPr>
        <p:txBody>
          <a:bodyPr wrap="square" lIns="0" tIns="0" rIns="0" bIns="0" rtlCol="0" anchor="t"/>
          <a:lstStyle/>
          <a:p>
            <a:pPr algn="l" indent="0" marL="0">
              <a:lnSpc>
                <a:spcPts val="2700"/>
              </a:lnSpc>
              <a:buNone/>
            </a:pPr>
            <a:r>
              <a:rPr lang="en-US" sz="2500" b="1" dirty="0">
                <a:solidFill>
                  <a:srgbClr val="0B5E5C"/>
                </a:solidFill>
                <a:latin typeface="Arial" pitchFamily="34" charset="0"/>
                <a:ea typeface="Arial" pitchFamily="34" charset="-122"/>
                <a:cs typeface="Arial" pitchFamily="34" charset="-120"/>
              </a:rPr>
              <a:t>Nhân viên nhận việc, xử lý &amp; báo cáo lên quản lý</a:t>
            </a:r>
            <a:endParaRPr lang="en-US" sz="2500" dirty="0"/>
          </a:p>
        </p:txBody>
      </p:sp>
      <p:sp>
        <p:nvSpPr>
          <p:cNvPr id="4" name="Text 2"/>
          <p:cNvSpPr/>
          <p:nvPr/>
        </p:nvSpPr>
        <p:spPr>
          <a:xfrm>
            <a:off x="381000" y="1095077"/>
            <a:ext cx="3048149" cy="1946672"/>
          </a:xfrm>
          <a:prstGeom prst="rect">
            <a:avLst/>
          </a:prstGeom>
          <a:noFill/>
          <a:ln/>
        </p:spPr>
        <p:txBody>
          <a:bodyPr wrap="square" lIns="88900" tIns="0" rIns="0" bIns="0" rtlCol="0" anchor="t"/>
          <a:lstStyle/>
          <a:p>
            <a:pPr algn="l" marL="88900" indent="-88900">
              <a:lnSpc>
                <a:spcPts val="1667"/>
              </a:lnSpc>
              <a:spcAft>
                <a:spcPts val="500"/>
              </a:spcAft>
              <a:buSzPct val="100000"/>
              <a:buChar char="•"/>
            </a:pPr>
            <a:r>
              <a:rPr lang="en-US" sz="1150" b="1" dirty="0">
                <a:solidFill>
                  <a:srgbClr val="0E2B29"/>
                </a:solidFill>
                <a:latin typeface="Arial" pitchFamily="34" charset="0"/>
                <a:ea typeface="Arial" pitchFamily="34" charset="-122"/>
                <a:cs typeface="Arial" pitchFamily="34" charset="-120"/>
              </a:rPr>
              <a:t>"Việc của tôi":</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chỉ thấy task được giao cho mình (lọc theo phòng + người nhận).</a:t>
            </a:r>
            <a:endParaRPr lang="en-US" sz="1150" dirty="0"/>
          </a:p>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Bấm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"Nhận việc"</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 task chuyển sang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Đang xử lý</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a:t>
            </a:r>
            <a:endParaRPr lang="en-US" sz="1150" dirty="0"/>
          </a:p>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Nộp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Báo cáo hoàn thành</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(Hoàn thành / Một phần / Bị chặn) → task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Chờ duyệt</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a:t>
            </a:r>
            <a:endParaRPr lang="en-US" sz="1150" dirty="0"/>
          </a:p>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Manager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duyệt</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để khép vòng; giao diện rút gọn đúng quyền (RBAC).</a:t>
            </a:r>
            <a:endParaRPr lang="en-US" sz="1150" dirty="0"/>
          </a:p>
        </p:txBody>
      </p:sp>
      <p:sp>
        <p:nvSpPr>
          <p:cNvPr id="5" name="Text 3"/>
          <p:cNvSpPr/>
          <p:nvPr/>
        </p:nvSpPr>
        <p:spPr>
          <a:xfrm>
            <a:off x="3632299" y="1018877"/>
            <a:ext cx="5130701" cy="3262759"/>
          </a:xfrm>
          <a:prstGeom prst="roundRect">
            <a:avLst>
              <a:gd name="adj" fmla="val 3892"/>
            </a:avLst>
          </a:prstGeom>
          <a:solidFill>
            <a:srgbClr val="FFFFFF"/>
          </a:solidFill>
          <a:ln w="9525">
            <a:solidFill>
              <a:srgbClr val="D9E8E4"/>
            </a:solidFill>
          </a:ln>
          <a:effectLst>
            <a:outerShdw sx="100000" sy="100000" kx="0" ky="0" algn="bl" rotWithShape="0" blurRad="133350" dist="47625" dir="3180000">
              <a:srgbClr val="0b5e5c">
                <a:alpha val="22000"/>
              </a:srgbClr>
            </a:outerShdw>
          </a:effectLst>
        </p:spPr>
        <p:txBody>
          <a:bodyPr wrap="square" rtlCol="0" anchor="ctr"/>
          <a:lstStyle/>
          <a:p>
            <a:pPr indent="0" marL="0">
              <a:buNone/>
            </a:pPr>
            <a:endParaRPr lang="en-US" dirty="0"/>
          </a:p>
        </p:txBody>
      </p:sp>
      <p:pic>
        <p:nvPicPr>
          <p:cNvPr id="6" name="Image 0" descr="/private/tmp/claude-501/-Users-kenz-de-projects-C2-App-116/3d8df5ac-6b2b-4cce-a997-fe0b4573b465/scratchpad/build/assets/staff.png">    </p:cNvPr>
          <p:cNvPicPr>
            <a:picLocks noChangeAspect="1"/>
          </p:cNvPicPr>
          <p:nvPr/>
        </p:nvPicPr>
        <p:blipFill>
          <a:blip r:embed="rId1"/>
          <a:stretch>
            <a:fillRect/>
          </a:stretch>
        </p:blipFill>
        <p:spPr>
          <a:xfrm>
            <a:off x="3705225" y="1091803"/>
            <a:ext cx="4984849" cy="3116907"/>
          </a:xfrm>
          <a:prstGeom prst="rect">
            <a:avLst/>
          </a:prstGeom>
        </p:spPr>
      </p:pic>
      <p:sp>
        <p:nvSpPr>
          <p:cNvPr id="7" name="Text 4"/>
          <p:cNvSpPr/>
          <p:nvPr/>
        </p:nvSpPr>
        <p:spPr>
          <a:xfrm>
            <a:off x="381000" y="4673798"/>
            <a:ext cx="8549640" cy="114300"/>
          </a:xfrm>
          <a:prstGeom prst="rect">
            <a:avLst/>
          </a:prstGeom>
          <a:noFill/>
          <a:ln/>
        </p:spPr>
        <p:txBody>
          <a:bodyPr wrap="square" lIns="0" tIns="0" rIns="0" bIns="0" rtlCol="0" anchor="t"/>
          <a:lstStyle/>
          <a:p>
            <a:pPr algn="l" indent="0" marL="0">
              <a:spcAft>
                <a:spcPts val="800"/>
              </a:spcAft>
              <a:buNone/>
            </a:pPr>
            <a:r>
              <a:rPr lang="en-US" sz="800" dirty="0">
                <a:solidFill>
                  <a:srgbClr val="5C7470"/>
                </a:solidFill>
                <a:latin typeface="Arial" pitchFamily="34" charset="0"/>
                <a:ea typeface="Arial" pitchFamily="34" charset="-122"/>
                <a:cs typeface="Arial" pitchFamily="34" charset="-120"/>
              </a:rPr>
              <a:t>xanhSM · AI Quality Intelligence Platform · AI20K Cohort 2 — Team 116</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30101"/>
            <a:ext cx="8549640" cy="200025"/>
          </a:xfrm>
          <a:prstGeom prst="rect">
            <a:avLst/>
          </a:prstGeom>
          <a:noFill/>
          <a:ln/>
        </p:spPr>
        <p:txBody>
          <a:bodyPr wrap="square" lIns="0" tIns="0" rIns="0" bIns="0" rtlCol="0" anchor="t"/>
          <a:lstStyle/>
          <a:p>
            <a:pPr algn="l" indent="0" marL="0">
              <a:spcAft>
                <a:spcPts val="400"/>
              </a:spcAft>
              <a:buNone/>
            </a:pPr>
            <a:r>
              <a:rPr lang="en-US" sz="1000" b="1" dirty="0">
                <a:solidFill>
                  <a:srgbClr val="0E8C84"/>
                </a:solidFill>
                <a:latin typeface="Arial" pitchFamily="34" charset="0"/>
                <a:ea typeface="Arial" pitchFamily="34" charset="-122"/>
                <a:cs typeface="Arial" pitchFamily="34" charset="-120"/>
              </a:rPr>
              <a:t>CÁCH HOẠT ĐỘNG ⑥</a:t>
            </a:r>
            <a:endParaRPr lang="en-US" sz="1000" dirty="0"/>
          </a:p>
        </p:txBody>
      </p:sp>
      <p:sp>
        <p:nvSpPr>
          <p:cNvPr id="3" name="Text 1"/>
          <p:cNvSpPr/>
          <p:nvPr/>
        </p:nvSpPr>
        <p:spPr>
          <a:xfrm>
            <a:off x="381000" y="580876"/>
            <a:ext cx="8549640" cy="342751"/>
          </a:xfrm>
          <a:prstGeom prst="rect">
            <a:avLst/>
          </a:prstGeom>
          <a:noFill/>
          <a:ln/>
        </p:spPr>
        <p:txBody>
          <a:bodyPr wrap="square" lIns="0" tIns="0" rIns="0" bIns="0" rtlCol="0" anchor="t"/>
          <a:lstStyle/>
          <a:p>
            <a:pPr algn="l" indent="0" marL="0">
              <a:lnSpc>
                <a:spcPts val="2700"/>
              </a:lnSpc>
              <a:buNone/>
            </a:pPr>
            <a:r>
              <a:rPr lang="en-US" sz="2500" b="1" dirty="0">
                <a:solidFill>
                  <a:srgbClr val="0B5E5C"/>
                </a:solidFill>
                <a:latin typeface="Arial" pitchFamily="34" charset="0"/>
                <a:ea typeface="Arial" pitchFamily="34" charset="-122"/>
                <a:cs typeface="Arial" pitchFamily="34" charset="-120"/>
              </a:rPr>
              <a:t>AI Chat + RAG Hybrid, phân quyền theo vai trò</a:t>
            </a:r>
            <a:endParaRPr lang="en-US" sz="2500" dirty="0"/>
          </a:p>
        </p:txBody>
      </p:sp>
      <p:sp>
        <p:nvSpPr>
          <p:cNvPr id="4" name="Text 2"/>
          <p:cNvSpPr/>
          <p:nvPr/>
        </p:nvSpPr>
        <p:spPr>
          <a:xfrm>
            <a:off x="381000" y="1152227"/>
            <a:ext cx="3048149" cy="1946672"/>
          </a:xfrm>
          <a:prstGeom prst="rect">
            <a:avLst/>
          </a:prstGeom>
          <a:noFill/>
          <a:ln/>
        </p:spPr>
        <p:txBody>
          <a:bodyPr wrap="square" lIns="88900" tIns="0" rIns="0" bIns="0" rtlCol="0" anchor="t"/>
          <a:lstStyle/>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Hybrid Search: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Cohere embed-multilingual-v3 + BM25-lite + RRF (k=60)</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a:t>
            </a:r>
            <a:endParaRPr lang="en-US" sz="1150" dirty="0"/>
          </a:p>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Trả lời có dẫn chứng — trích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SOP nội bộ</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và bảng dữ liệu thật.</a:t>
            </a:r>
            <a:endParaRPr lang="en-US" sz="1150" dirty="0"/>
          </a:p>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Phân quyền tự động: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Guest</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chỉ FAQ công khai, </a:t>
            </a:r>
            <a:pPr algn="l" indent="0" marL="0">
              <a:lnSpc>
                <a:spcPts val="1667"/>
              </a:lnSpc>
              <a:spcAft>
                <a:spcPts val="500"/>
              </a:spcAft>
              <a:buNone/>
            </a:pPr>
            <a:r>
              <a:rPr lang="en-US" sz="1150" b="1" dirty="0">
                <a:solidFill>
                  <a:srgbClr val="0E2B29"/>
                </a:solidFill>
                <a:latin typeface="Arial" pitchFamily="34" charset="0"/>
                <a:ea typeface="Arial" pitchFamily="34" charset="-122"/>
                <a:cs typeface="Arial" pitchFamily="34" charset="-120"/>
              </a:rPr>
              <a:t>Staff</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thấy nội bộ.</a:t>
            </a:r>
            <a:endParaRPr lang="en-US" sz="1150" dirty="0"/>
          </a:p>
          <a:p>
            <a:pPr algn="l" marL="88900" indent="-88900">
              <a:lnSpc>
                <a:spcPts val="1667"/>
              </a:lnSpc>
              <a:spcAft>
                <a:spcPts val="500"/>
              </a:spcAft>
              <a:buSzPct val="100000"/>
              <a:buChar char="•"/>
            </a:pPr>
            <a:r>
              <a:rPr lang="en-US" sz="1150" dirty="0">
                <a:solidFill>
                  <a:srgbClr val="0E2B29"/>
                </a:solidFill>
                <a:latin typeface="Arial" pitchFamily="34" charset="0"/>
                <a:ea typeface="Arial" pitchFamily="34" charset="-122"/>
                <a:cs typeface="Arial" pitchFamily="34" charset="-120"/>
              </a:rPr>
              <a:t>Cùng một giao diện chat — quyền truy cập đổi theo role.</a:t>
            </a:r>
            <a:endParaRPr lang="en-US" sz="1150" dirty="0"/>
          </a:p>
        </p:txBody>
      </p:sp>
      <p:sp>
        <p:nvSpPr>
          <p:cNvPr id="5" name="Text 3"/>
          <p:cNvSpPr/>
          <p:nvPr/>
        </p:nvSpPr>
        <p:spPr>
          <a:xfrm>
            <a:off x="3632299" y="1076027"/>
            <a:ext cx="5130701" cy="3262759"/>
          </a:xfrm>
          <a:prstGeom prst="roundRect">
            <a:avLst>
              <a:gd name="adj" fmla="val 3892"/>
            </a:avLst>
          </a:prstGeom>
          <a:solidFill>
            <a:srgbClr val="FFFFFF"/>
          </a:solidFill>
          <a:ln w="9525">
            <a:solidFill>
              <a:srgbClr val="D9E8E4"/>
            </a:solidFill>
          </a:ln>
          <a:effectLst>
            <a:outerShdw sx="100000" sy="100000" kx="0" ky="0" algn="bl" rotWithShape="0" blurRad="133350" dist="47625" dir="3180000">
              <a:srgbClr val="0b5e5c">
                <a:alpha val="22000"/>
              </a:srgbClr>
            </a:outerShdw>
          </a:effectLst>
        </p:spPr>
        <p:txBody>
          <a:bodyPr wrap="square" rtlCol="0" anchor="ctr"/>
          <a:lstStyle/>
          <a:p>
            <a:pPr indent="0" marL="0">
              <a:buNone/>
            </a:pPr>
            <a:endParaRPr lang="en-US" dirty="0"/>
          </a:p>
        </p:txBody>
      </p:sp>
      <p:pic>
        <p:nvPicPr>
          <p:cNvPr id="6" name="Image 0" descr="/private/tmp/claude-501/-Users-kenz-de-projects-C2-App-116/3d8df5ac-6b2b-4cce-a997-fe0b4573b465/scratchpad/build/assets/chat.png">    </p:cNvPr>
          <p:cNvPicPr>
            <a:picLocks noChangeAspect="1"/>
          </p:cNvPicPr>
          <p:nvPr/>
        </p:nvPicPr>
        <p:blipFill>
          <a:blip r:embed="rId1"/>
          <a:stretch>
            <a:fillRect/>
          </a:stretch>
        </p:blipFill>
        <p:spPr>
          <a:xfrm>
            <a:off x="3705225" y="1148953"/>
            <a:ext cx="4984849" cy="3116907"/>
          </a:xfrm>
          <a:prstGeom prst="rect">
            <a:avLst/>
          </a:prstGeom>
        </p:spPr>
      </p:pic>
      <p:sp>
        <p:nvSpPr>
          <p:cNvPr id="7" name="Text 4"/>
          <p:cNvSpPr/>
          <p:nvPr/>
        </p:nvSpPr>
        <p:spPr>
          <a:xfrm>
            <a:off x="381000" y="4673798"/>
            <a:ext cx="8549640" cy="114300"/>
          </a:xfrm>
          <a:prstGeom prst="rect">
            <a:avLst/>
          </a:prstGeom>
          <a:noFill/>
          <a:ln/>
        </p:spPr>
        <p:txBody>
          <a:bodyPr wrap="square" lIns="0" tIns="0" rIns="0" bIns="0" rtlCol="0" anchor="t"/>
          <a:lstStyle/>
          <a:p>
            <a:pPr algn="l" indent="0" marL="0">
              <a:spcAft>
                <a:spcPts val="800"/>
              </a:spcAft>
              <a:buNone/>
            </a:pPr>
            <a:r>
              <a:rPr lang="en-US" sz="800" dirty="0">
                <a:solidFill>
                  <a:srgbClr val="5C7470"/>
                </a:solidFill>
                <a:latin typeface="Arial" pitchFamily="34" charset="0"/>
                <a:ea typeface="Arial" pitchFamily="34" charset="-122"/>
                <a:cs typeface="Arial" pitchFamily="34" charset="-120"/>
              </a:rPr>
              <a:t>xanhSM · AI Quality Intelligence Platform · AI20K Cohort 2 — Team 116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30101"/>
            <a:ext cx="8549640" cy="142875"/>
          </a:xfrm>
          <a:prstGeom prst="rect">
            <a:avLst/>
          </a:prstGeom>
          <a:noFill/>
          <a:ln/>
        </p:spPr>
        <p:txBody>
          <a:bodyPr wrap="square" lIns="0" tIns="0" rIns="0" bIns="0" rtlCol="0" anchor="t"/>
          <a:lstStyle/>
          <a:p>
            <a:pPr algn="l" indent="0" marL="0">
              <a:spcAft>
                <a:spcPts val="400"/>
              </a:spcAft>
              <a:buNone/>
            </a:pPr>
            <a:r>
              <a:rPr lang="en-US" sz="1000" b="1" dirty="0">
                <a:solidFill>
                  <a:srgbClr val="0E8C84"/>
                </a:solidFill>
                <a:latin typeface="Arial" pitchFamily="34" charset="0"/>
                <a:ea typeface="Arial" pitchFamily="34" charset="-122"/>
                <a:cs typeface="Arial" pitchFamily="34" charset="-120"/>
              </a:rPr>
              <a:t>PHÂN QUYỀN · 4 VAI TRÒ</a:t>
            </a:r>
            <a:endParaRPr lang="en-US" sz="1000" dirty="0"/>
          </a:p>
        </p:txBody>
      </p:sp>
      <p:sp>
        <p:nvSpPr>
          <p:cNvPr id="3" name="Text 1"/>
          <p:cNvSpPr/>
          <p:nvPr/>
        </p:nvSpPr>
        <p:spPr>
          <a:xfrm>
            <a:off x="381000" y="523726"/>
            <a:ext cx="8549640" cy="342751"/>
          </a:xfrm>
          <a:prstGeom prst="rect">
            <a:avLst/>
          </a:prstGeom>
          <a:noFill/>
          <a:ln/>
        </p:spPr>
        <p:txBody>
          <a:bodyPr wrap="square" lIns="0" tIns="0" rIns="0" bIns="0" rtlCol="0" anchor="t"/>
          <a:lstStyle/>
          <a:p>
            <a:pPr algn="l" indent="0" marL="0">
              <a:lnSpc>
                <a:spcPts val="2700"/>
              </a:lnSpc>
              <a:buNone/>
            </a:pPr>
            <a:r>
              <a:rPr lang="en-US" sz="2500" b="1" dirty="0">
                <a:solidFill>
                  <a:srgbClr val="0B5E5C"/>
                </a:solidFill>
                <a:latin typeface="Arial" pitchFamily="34" charset="0"/>
                <a:ea typeface="Arial" pitchFamily="34" charset="-122"/>
                <a:cs typeface="Arial" pitchFamily="34" charset="-120"/>
              </a:rPr>
              <a:t>Khách · Nhân viên · Quản lý · Admin — quyền tăng dần</a:t>
            </a:r>
            <a:endParaRPr lang="en-US" sz="2500" dirty="0"/>
          </a:p>
        </p:txBody>
      </p:sp>
      <p:sp>
        <p:nvSpPr>
          <p:cNvPr id="4" name="Text 2"/>
          <p:cNvSpPr/>
          <p:nvPr/>
        </p:nvSpPr>
        <p:spPr>
          <a:xfrm>
            <a:off x="381000" y="929878"/>
            <a:ext cx="8549640" cy="363141"/>
          </a:xfrm>
          <a:prstGeom prst="rect">
            <a:avLst/>
          </a:prstGeom>
          <a:noFill/>
          <a:ln/>
        </p:spPr>
        <p:txBody>
          <a:bodyPr wrap="square" lIns="0" tIns="0" rIns="0" bIns="0" rtlCol="0" anchor="t"/>
          <a:lstStyle/>
          <a:p>
            <a:pPr algn="l" indent="0" marL="0">
              <a:lnSpc>
                <a:spcPts val="1430"/>
              </a:lnSpc>
              <a:spcBef>
                <a:spcPts val="500"/>
              </a:spcBef>
              <a:buNone/>
            </a:pPr>
            <a:r>
              <a:rPr lang="en-US" sz="1100" dirty="0">
                <a:solidFill>
                  <a:srgbClr val="5C7470"/>
                </a:solidFill>
                <a:latin typeface="Arial" pitchFamily="34" charset="0"/>
                <a:ea typeface="Arial" pitchFamily="34" charset="-122"/>
                <a:cs typeface="Arial" pitchFamily="34" charset="-120"/>
              </a:rPr>
              <a:t>Hai trục phân quyền: </a:t>
            </a:r>
            <a:pPr algn="l" indent="0" marL="0">
              <a:lnSpc>
                <a:spcPts val="1430"/>
              </a:lnSpc>
              <a:spcBef>
                <a:spcPts val="500"/>
              </a:spcBef>
              <a:buNone/>
            </a:pPr>
            <a:r>
              <a:rPr lang="en-US" sz="1100" b="1" dirty="0">
                <a:solidFill>
                  <a:srgbClr val="5C7470"/>
                </a:solidFill>
                <a:latin typeface="Arial" pitchFamily="34" charset="0"/>
                <a:ea typeface="Arial" pitchFamily="34" charset="-122"/>
                <a:cs typeface="Arial" pitchFamily="34" charset="-120"/>
              </a:rPr>
              <a:t>vai trò</a:t>
            </a:r>
            <a:pPr algn="l" indent="0" marL="0">
              <a:lnSpc>
                <a:spcPts val="1430"/>
              </a:lnSpc>
              <a:spcBef>
                <a:spcPts val="500"/>
              </a:spcBef>
              <a:buNone/>
            </a:pPr>
            <a:r>
              <a:rPr lang="en-US" sz="1100" dirty="0">
                <a:solidFill>
                  <a:srgbClr val="5C7470"/>
                </a:solidFill>
                <a:latin typeface="Arial" pitchFamily="34" charset="0"/>
                <a:ea typeface="Arial" pitchFamily="34" charset="-122"/>
                <a:cs typeface="Arial" pitchFamily="34" charset="-120"/>
              </a:rPr>
              <a:t> (làm được gì) và </a:t>
            </a:r>
            <a:pPr algn="l" indent="0" marL="0">
              <a:lnSpc>
                <a:spcPts val="1430"/>
              </a:lnSpc>
              <a:spcBef>
                <a:spcPts val="500"/>
              </a:spcBef>
              <a:buNone/>
            </a:pPr>
            <a:r>
              <a:rPr lang="en-US" sz="1100" b="1" dirty="0">
                <a:solidFill>
                  <a:srgbClr val="5C7470"/>
                </a:solidFill>
                <a:latin typeface="Arial" pitchFamily="34" charset="0"/>
                <a:ea typeface="Arial" pitchFamily="34" charset="-122"/>
                <a:cs typeface="Arial" pitchFamily="34" charset="-120"/>
              </a:rPr>
              <a:t>phòng ban</a:t>
            </a:r>
            <a:pPr algn="l" indent="0" marL="0">
              <a:lnSpc>
                <a:spcPts val="1430"/>
              </a:lnSpc>
              <a:spcBef>
                <a:spcPts val="500"/>
              </a:spcBef>
              <a:buNone/>
            </a:pPr>
            <a:r>
              <a:rPr lang="en-US" sz="1100" dirty="0">
                <a:solidFill>
                  <a:srgbClr val="5C7470"/>
                </a:solidFill>
                <a:latin typeface="Arial" pitchFamily="34" charset="0"/>
                <a:ea typeface="Arial" pitchFamily="34" charset="-122"/>
                <a:cs typeface="Arial" pitchFamily="34" charset="-120"/>
              </a:rPr>
              <a:t> (thấy dữ liệu của ai). Mọi quyền được kiểm ở backend, không chỉ ẩn ở giao diện.</a:t>
            </a:r>
            <a:endParaRPr lang="en-US" sz="1100" dirty="0"/>
          </a:p>
        </p:txBody>
      </p:sp>
      <p:sp>
        <p:nvSpPr>
          <p:cNvPr id="5" name="Text 3"/>
          <p:cNvSpPr/>
          <p:nvPr/>
        </p:nvSpPr>
        <p:spPr>
          <a:xfrm>
            <a:off x="381000" y="1445419"/>
            <a:ext cx="1990725" cy="3228380"/>
          </a:xfrm>
          <a:prstGeom prst="roundRect">
            <a:avLst>
              <a:gd name="adj" fmla="val 6380"/>
            </a:avLst>
          </a:prstGeom>
          <a:solidFill>
            <a:srgbClr val="FFFFFF"/>
          </a:solidFill>
          <a:ln/>
        </p:spPr>
        <p:txBody>
          <a:bodyPr wrap="square" rtlCol="0" anchor="ctr"/>
          <a:lstStyle/>
          <a:p>
            <a:pPr indent="0" marL="0">
              <a:buNone/>
            </a:pPr>
            <a:endParaRPr lang="en-US" dirty="0"/>
          </a:p>
        </p:txBody>
      </p:sp>
      <p:sp>
        <p:nvSpPr>
          <p:cNvPr id="6" name="Shape 4"/>
          <p:cNvSpPr/>
          <p:nvPr/>
        </p:nvSpPr>
        <p:spPr>
          <a:xfrm>
            <a:off x="381000" y="1473994"/>
            <a:ext cx="1990725" cy="0"/>
          </a:xfrm>
          <a:prstGeom prst="line">
            <a:avLst/>
          </a:prstGeom>
          <a:noFill/>
          <a:ln w="57150">
            <a:solidFill>
              <a:srgbClr val="6B8F8A"/>
            </a:solidFill>
            <a:prstDash val="solid"/>
          </a:ln>
        </p:spPr>
      </p:sp>
      <p:sp>
        <p:nvSpPr>
          <p:cNvPr id="7" name="Shape 5"/>
          <p:cNvSpPr/>
          <p:nvPr/>
        </p:nvSpPr>
        <p:spPr>
          <a:xfrm>
            <a:off x="2366963" y="1445419"/>
            <a:ext cx="0" cy="3228380"/>
          </a:xfrm>
          <a:prstGeom prst="line">
            <a:avLst/>
          </a:prstGeom>
          <a:noFill/>
          <a:ln w="9525">
            <a:solidFill>
              <a:srgbClr val="D9E8E4"/>
            </a:solidFill>
            <a:prstDash val="solid"/>
          </a:ln>
        </p:spPr>
      </p:sp>
      <p:sp>
        <p:nvSpPr>
          <p:cNvPr id="8" name="Shape 6"/>
          <p:cNvSpPr/>
          <p:nvPr/>
        </p:nvSpPr>
        <p:spPr>
          <a:xfrm>
            <a:off x="381000" y="4669036"/>
            <a:ext cx="1990725" cy="0"/>
          </a:xfrm>
          <a:prstGeom prst="line">
            <a:avLst/>
          </a:prstGeom>
          <a:noFill/>
          <a:ln w="9525">
            <a:solidFill>
              <a:srgbClr val="D9E8E4"/>
            </a:solidFill>
            <a:prstDash val="solid"/>
          </a:ln>
        </p:spPr>
      </p:sp>
      <p:sp>
        <p:nvSpPr>
          <p:cNvPr id="9" name="Shape 7"/>
          <p:cNvSpPr/>
          <p:nvPr/>
        </p:nvSpPr>
        <p:spPr>
          <a:xfrm>
            <a:off x="385763" y="1445419"/>
            <a:ext cx="0" cy="3228380"/>
          </a:xfrm>
          <a:prstGeom prst="line">
            <a:avLst/>
          </a:prstGeom>
          <a:noFill/>
          <a:ln w="9525">
            <a:solidFill>
              <a:srgbClr val="D9E8E4"/>
            </a:solidFill>
            <a:prstDash val="solid"/>
          </a:ln>
        </p:spPr>
      </p:sp>
      <p:sp>
        <p:nvSpPr>
          <p:cNvPr id="10" name="Text 8"/>
          <p:cNvSpPr/>
          <p:nvPr/>
        </p:nvSpPr>
        <p:spPr>
          <a:xfrm>
            <a:off x="504825" y="1642170"/>
            <a:ext cx="1777937" cy="200025"/>
          </a:xfrm>
          <a:prstGeom prst="rect">
            <a:avLst/>
          </a:prstGeom>
          <a:noFill/>
          <a:ln/>
        </p:spPr>
        <p:txBody>
          <a:bodyPr wrap="square" lIns="0" tIns="0" rIns="0" bIns="0" rtlCol="0" anchor="t"/>
          <a:lstStyle/>
          <a:p>
            <a:pPr algn="l" indent="0" marL="0">
              <a:buNone/>
            </a:pPr>
            <a:r>
              <a:rPr lang="en-US" sz="1300" b="1" dirty="0">
                <a:solidFill>
                  <a:srgbClr val="6B8F8A"/>
                </a:solidFill>
                <a:latin typeface="Arial" pitchFamily="34" charset="0"/>
                <a:ea typeface="Arial" pitchFamily="34" charset="-122"/>
                <a:cs typeface="Arial" pitchFamily="34" charset="-120"/>
              </a:rPr>
              <a:t>Khách</a:t>
            </a:r>
            <a:endParaRPr lang="en-US" sz="1300" dirty="0"/>
          </a:p>
        </p:txBody>
      </p:sp>
      <p:sp>
        <p:nvSpPr>
          <p:cNvPr id="11" name="Text 9"/>
          <p:cNvSpPr/>
          <p:nvPr/>
        </p:nvSpPr>
        <p:spPr>
          <a:xfrm>
            <a:off x="504825" y="1854845"/>
            <a:ext cx="1777937" cy="114300"/>
          </a:xfrm>
          <a:prstGeom prst="rect">
            <a:avLst/>
          </a:prstGeom>
          <a:noFill/>
          <a:ln/>
        </p:spPr>
        <p:txBody>
          <a:bodyPr wrap="square" lIns="0" tIns="0" rIns="0" bIns="0" rtlCol="0" anchor="t"/>
          <a:lstStyle/>
          <a:p>
            <a:pPr algn="l" indent="0" marL="0">
              <a:spcBef>
                <a:spcPts val="100"/>
              </a:spcBef>
              <a:buNone/>
            </a:pPr>
            <a:r>
              <a:rPr lang="en-US" sz="800" dirty="0">
                <a:solidFill>
                  <a:srgbClr val="5C7470"/>
                </a:solidFill>
                <a:latin typeface="Arial" pitchFamily="34" charset="0"/>
                <a:ea typeface="Arial" pitchFamily="34" charset="-122"/>
                <a:cs typeface="Arial" pitchFamily="34" charset="-120"/>
              </a:rPr>
              <a:t>Guest · người ngoài</a:t>
            </a:r>
            <a:endParaRPr lang="en-US" sz="800" dirty="0"/>
          </a:p>
        </p:txBody>
      </p:sp>
      <p:sp>
        <p:nvSpPr>
          <p:cNvPr id="12" name="Text 10"/>
          <p:cNvSpPr/>
          <p:nvPr/>
        </p:nvSpPr>
        <p:spPr>
          <a:xfrm>
            <a:off x="504825" y="2007245"/>
            <a:ext cx="1777937" cy="114300"/>
          </a:xfrm>
          <a:prstGeom prst="rect">
            <a:avLst/>
          </a:prstGeom>
          <a:noFill/>
          <a:ln/>
        </p:spPr>
        <p:txBody>
          <a:bodyPr wrap="square" lIns="0" tIns="0" rIns="0" bIns="0" rtlCol="0" anchor="t"/>
          <a:lstStyle/>
          <a:p>
            <a:pPr algn="l" indent="0" marL="0">
              <a:spcBef>
                <a:spcPts val="300"/>
              </a:spcBef>
              <a:buNone/>
            </a:pPr>
            <a:r>
              <a:rPr lang="en-US" sz="800" i="1" dirty="0">
                <a:solidFill>
                  <a:srgbClr val="5C7470"/>
                </a:solidFill>
                <a:latin typeface="Arial" pitchFamily="34" charset="0"/>
                <a:ea typeface="Arial" pitchFamily="34" charset="-122"/>
                <a:cs typeface="Arial" pitchFamily="34" charset="-120"/>
              </a:rPr>
              <a:t>Quyền thấp nhất</a:t>
            </a:r>
            <a:endParaRPr lang="en-US" sz="800" dirty="0"/>
          </a:p>
        </p:txBody>
      </p:sp>
      <p:sp>
        <p:nvSpPr>
          <p:cNvPr id="13" name="Text 11"/>
          <p:cNvSpPr/>
          <p:nvPr/>
        </p:nvSpPr>
        <p:spPr>
          <a:xfrm>
            <a:off x="504825" y="2197745"/>
            <a:ext cx="1743075" cy="722114"/>
          </a:xfrm>
          <a:prstGeom prst="rect">
            <a:avLst/>
          </a:prstGeom>
          <a:noFill/>
          <a:ln/>
        </p:spPr>
        <p:txBody>
          <a:bodyPr wrap="square" lIns="76200" tIns="0" rIns="0" bIns="0" rtlCol="0" anchor="t"/>
          <a:lstStyle/>
          <a:p>
            <a:pPr algn="l" marL="76200" indent="-76200">
              <a:lnSpc>
                <a:spcPts val="1122"/>
              </a:lnSpc>
              <a:spcAft>
                <a:spcPts val="300"/>
              </a:spcAft>
              <a:buSzPct val="100000"/>
              <a:buChar char="•"/>
            </a:pPr>
            <a:r>
              <a:rPr lang="en-US" sz="850" dirty="0">
                <a:solidFill>
                  <a:srgbClr val="0E2B29"/>
                </a:solidFill>
                <a:latin typeface="Arial" pitchFamily="34" charset="0"/>
                <a:ea typeface="Arial" pitchFamily="34" charset="-122"/>
                <a:cs typeface="Arial" pitchFamily="34" charset="-120"/>
              </a:rPr>
              <a:t>Xem Dashboard công khai</a:t>
            </a:r>
            <a:endParaRPr lang="en-US" sz="850" dirty="0"/>
          </a:p>
          <a:p>
            <a:pPr algn="l" marL="76200" indent="-76200">
              <a:lnSpc>
                <a:spcPts val="1122"/>
              </a:lnSpc>
              <a:spcAft>
                <a:spcPts val="300"/>
              </a:spcAft>
              <a:buSzPct val="100000"/>
              <a:buChar char="•"/>
            </a:pPr>
            <a:r>
              <a:rPr lang="en-US" sz="850" dirty="0">
                <a:solidFill>
                  <a:srgbClr val="0E2B29"/>
                </a:solidFill>
                <a:latin typeface="Arial" pitchFamily="34" charset="0"/>
                <a:ea typeface="Arial" pitchFamily="34" charset="-122"/>
                <a:cs typeface="Arial" pitchFamily="34" charset="-120"/>
              </a:rPr>
              <a:t>Gửi phản hồi/đánh giá</a:t>
            </a:r>
            <a:endParaRPr lang="en-US" sz="850" dirty="0"/>
          </a:p>
          <a:p>
            <a:pPr algn="l" marL="76200" indent="-76200">
              <a:lnSpc>
                <a:spcPts val="1122"/>
              </a:lnSpc>
              <a:spcAft>
                <a:spcPts val="300"/>
              </a:spcAft>
              <a:buSzPct val="100000"/>
              <a:buChar char="•"/>
            </a:pPr>
            <a:r>
              <a:rPr lang="en-US" sz="850" dirty="0">
                <a:solidFill>
                  <a:srgbClr val="0E2B29"/>
                </a:solidFill>
                <a:latin typeface="Arial" pitchFamily="34" charset="0"/>
                <a:ea typeface="Arial" pitchFamily="34" charset="-122"/>
                <a:cs typeface="Arial" pitchFamily="34" charset="-120"/>
              </a:rPr>
              <a:t>Chatbot công khai (FAQ)</a:t>
            </a:r>
            <a:endParaRPr lang="en-US" sz="850" dirty="0"/>
          </a:p>
          <a:p>
            <a:pPr algn="l" marL="76200" indent="-76200">
              <a:lnSpc>
                <a:spcPts val="1122"/>
              </a:lnSpc>
              <a:spcAft>
                <a:spcPts val="300"/>
              </a:spcAft>
              <a:buSzPct val="100000"/>
              <a:buChar char="•"/>
            </a:pPr>
            <a:r>
              <a:rPr lang="en-US" sz="850" dirty="0">
                <a:solidFill>
                  <a:srgbClr val="0E2B29"/>
                </a:solidFill>
                <a:latin typeface="Arial" pitchFamily="34" charset="0"/>
                <a:ea typeface="Arial" pitchFamily="34" charset="-122"/>
                <a:cs typeface="Arial" pitchFamily="34" charset="-120"/>
              </a:rPr>
              <a:t>✗ Không thấy dữ liệu nội bộ</a:t>
            </a:r>
            <a:endParaRPr lang="en-US" sz="850" dirty="0"/>
          </a:p>
        </p:txBody>
      </p:sp>
      <p:sp>
        <p:nvSpPr>
          <p:cNvPr id="14" name="Text 12"/>
          <p:cNvSpPr/>
          <p:nvPr/>
        </p:nvSpPr>
        <p:spPr>
          <a:xfrm>
            <a:off x="2511326" y="1445419"/>
            <a:ext cx="1990874" cy="3228380"/>
          </a:xfrm>
          <a:prstGeom prst="roundRect">
            <a:avLst>
              <a:gd name="adj" fmla="val 6379"/>
            </a:avLst>
          </a:prstGeom>
          <a:solidFill>
            <a:srgbClr val="FFFFFF"/>
          </a:solidFill>
          <a:ln/>
        </p:spPr>
        <p:txBody>
          <a:bodyPr wrap="square" rtlCol="0" anchor="ctr"/>
          <a:lstStyle/>
          <a:p>
            <a:pPr indent="0" marL="0">
              <a:buNone/>
            </a:pPr>
            <a:endParaRPr lang="en-US" dirty="0"/>
          </a:p>
        </p:txBody>
      </p:sp>
      <p:sp>
        <p:nvSpPr>
          <p:cNvPr id="15" name="Shape 13"/>
          <p:cNvSpPr/>
          <p:nvPr/>
        </p:nvSpPr>
        <p:spPr>
          <a:xfrm>
            <a:off x="2511326" y="1473994"/>
            <a:ext cx="1990874" cy="0"/>
          </a:xfrm>
          <a:prstGeom prst="line">
            <a:avLst/>
          </a:prstGeom>
          <a:noFill/>
          <a:ln w="57150">
            <a:solidFill>
              <a:srgbClr val="2E8BD0"/>
            </a:solidFill>
            <a:prstDash val="solid"/>
          </a:ln>
        </p:spPr>
      </p:sp>
      <p:sp>
        <p:nvSpPr>
          <p:cNvPr id="16" name="Shape 14"/>
          <p:cNvSpPr/>
          <p:nvPr/>
        </p:nvSpPr>
        <p:spPr>
          <a:xfrm>
            <a:off x="4497437" y="1445419"/>
            <a:ext cx="0" cy="3228380"/>
          </a:xfrm>
          <a:prstGeom prst="line">
            <a:avLst/>
          </a:prstGeom>
          <a:noFill/>
          <a:ln w="9525">
            <a:solidFill>
              <a:srgbClr val="D9E8E4"/>
            </a:solidFill>
            <a:prstDash val="solid"/>
          </a:ln>
        </p:spPr>
      </p:sp>
      <p:sp>
        <p:nvSpPr>
          <p:cNvPr id="17" name="Shape 15"/>
          <p:cNvSpPr/>
          <p:nvPr/>
        </p:nvSpPr>
        <p:spPr>
          <a:xfrm>
            <a:off x="2511326" y="4669036"/>
            <a:ext cx="1990874" cy="0"/>
          </a:xfrm>
          <a:prstGeom prst="line">
            <a:avLst/>
          </a:prstGeom>
          <a:noFill/>
          <a:ln w="9525">
            <a:solidFill>
              <a:srgbClr val="D9E8E4"/>
            </a:solidFill>
            <a:prstDash val="solid"/>
          </a:ln>
        </p:spPr>
      </p:sp>
      <p:sp>
        <p:nvSpPr>
          <p:cNvPr id="18" name="Shape 16"/>
          <p:cNvSpPr/>
          <p:nvPr/>
        </p:nvSpPr>
        <p:spPr>
          <a:xfrm>
            <a:off x="2516088" y="1445419"/>
            <a:ext cx="0" cy="3228380"/>
          </a:xfrm>
          <a:prstGeom prst="line">
            <a:avLst/>
          </a:prstGeom>
          <a:noFill/>
          <a:ln w="9525">
            <a:solidFill>
              <a:srgbClr val="D9E8E4"/>
            </a:solidFill>
            <a:prstDash val="solid"/>
          </a:ln>
        </p:spPr>
      </p:sp>
      <p:sp>
        <p:nvSpPr>
          <p:cNvPr id="19" name="Text 17"/>
          <p:cNvSpPr/>
          <p:nvPr/>
        </p:nvSpPr>
        <p:spPr>
          <a:xfrm>
            <a:off x="2635151" y="1642170"/>
            <a:ext cx="1778088" cy="200025"/>
          </a:xfrm>
          <a:prstGeom prst="rect">
            <a:avLst/>
          </a:prstGeom>
          <a:noFill/>
          <a:ln/>
        </p:spPr>
        <p:txBody>
          <a:bodyPr wrap="square" lIns="0" tIns="0" rIns="0" bIns="0" rtlCol="0" anchor="t"/>
          <a:lstStyle/>
          <a:p>
            <a:pPr algn="l" indent="0" marL="0">
              <a:buNone/>
            </a:pPr>
            <a:r>
              <a:rPr lang="en-US" sz="1300" b="1" dirty="0">
                <a:solidFill>
                  <a:srgbClr val="2E8BD0"/>
                </a:solidFill>
                <a:latin typeface="Arial" pitchFamily="34" charset="0"/>
                <a:ea typeface="Arial" pitchFamily="34" charset="-122"/>
                <a:cs typeface="Arial" pitchFamily="34" charset="-120"/>
              </a:rPr>
              <a:t>Nhân viên</a:t>
            </a:r>
            <a:endParaRPr lang="en-US" sz="1300" dirty="0"/>
          </a:p>
        </p:txBody>
      </p:sp>
      <p:sp>
        <p:nvSpPr>
          <p:cNvPr id="20" name="Text 18"/>
          <p:cNvSpPr/>
          <p:nvPr/>
        </p:nvSpPr>
        <p:spPr>
          <a:xfrm>
            <a:off x="2635151" y="1854845"/>
            <a:ext cx="1778088" cy="114300"/>
          </a:xfrm>
          <a:prstGeom prst="rect">
            <a:avLst/>
          </a:prstGeom>
          <a:noFill/>
          <a:ln/>
        </p:spPr>
        <p:txBody>
          <a:bodyPr wrap="square" lIns="0" tIns="0" rIns="0" bIns="0" rtlCol="0" anchor="t"/>
          <a:lstStyle/>
          <a:p>
            <a:pPr algn="l" indent="0" marL="0">
              <a:spcBef>
                <a:spcPts val="100"/>
              </a:spcBef>
              <a:buNone/>
            </a:pPr>
            <a:r>
              <a:rPr lang="en-US" sz="800" dirty="0">
                <a:solidFill>
                  <a:srgbClr val="5C7470"/>
                </a:solidFill>
                <a:latin typeface="Arial" pitchFamily="34" charset="0"/>
                <a:ea typeface="Arial" pitchFamily="34" charset="-122"/>
                <a:cs typeface="Arial" pitchFamily="34" charset="-120"/>
              </a:rPr>
              <a:t>Staff · phòng mình</a:t>
            </a:r>
            <a:endParaRPr lang="en-US" sz="800" dirty="0"/>
          </a:p>
        </p:txBody>
      </p:sp>
      <p:sp>
        <p:nvSpPr>
          <p:cNvPr id="21" name="Text 19"/>
          <p:cNvSpPr/>
          <p:nvPr/>
        </p:nvSpPr>
        <p:spPr>
          <a:xfrm>
            <a:off x="2635151" y="2007245"/>
            <a:ext cx="1778088" cy="114300"/>
          </a:xfrm>
          <a:prstGeom prst="rect">
            <a:avLst/>
          </a:prstGeom>
          <a:noFill/>
          <a:ln/>
        </p:spPr>
        <p:txBody>
          <a:bodyPr wrap="square" lIns="0" tIns="0" rIns="0" bIns="0" rtlCol="0" anchor="t"/>
          <a:lstStyle/>
          <a:p>
            <a:pPr algn="l" indent="0" marL="0">
              <a:spcBef>
                <a:spcPts val="300"/>
              </a:spcBef>
              <a:buNone/>
            </a:pPr>
            <a:r>
              <a:rPr lang="en-US" sz="800" i="1" dirty="0">
                <a:solidFill>
                  <a:srgbClr val="5C7470"/>
                </a:solidFill>
                <a:latin typeface="Arial" pitchFamily="34" charset="0"/>
                <a:ea typeface="Arial" pitchFamily="34" charset="-122"/>
                <a:cs typeface="Arial" pitchFamily="34" charset="-120"/>
              </a:rPr>
              <a:t>+ quyền Khách</a:t>
            </a:r>
            <a:endParaRPr lang="en-US" sz="800" dirty="0"/>
          </a:p>
        </p:txBody>
      </p:sp>
      <p:sp>
        <p:nvSpPr>
          <p:cNvPr id="22" name="Text 20"/>
          <p:cNvSpPr/>
          <p:nvPr/>
        </p:nvSpPr>
        <p:spPr>
          <a:xfrm>
            <a:off x="2635151" y="2197745"/>
            <a:ext cx="1743224" cy="864543"/>
          </a:xfrm>
          <a:prstGeom prst="rect">
            <a:avLst/>
          </a:prstGeom>
          <a:noFill/>
          <a:ln/>
        </p:spPr>
        <p:txBody>
          <a:bodyPr wrap="square" lIns="76200" tIns="0" rIns="0" bIns="0" rtlCol="0" anchor="t"/>
          <a:lstStyle/>
          <a:p>
            <a:pPr algn="l" marL="76200" indent="-76200">
              <a:lnSpc>
                <a:spcPts val="1122"/>
              </a:lnSpc>
              <a:spcAft>
                <a:spcPts val="300"/>
              </a:spcAft>
              <a:buSzPct val="100000"/>
              <a:buChar char="•"/>
            </a:pPr>
            <a:r>
              <a:rPr lang="en-US" sz="850" dirty="0">
                <a:solidFill>
                  <a:srgbClr val="0E2B29"/>
                </a:solidFill>
                <a:latin typeface="Arial" pitchFamily="34" charset="0"/>
                <a:ea typeface="Arial" pitchFamily="34" charset="-122"/>
                <a:cs typeface="Arial" pitchFamily="34" charset="-120"/>
              </a:rPr>
              <a:t>Xem &amp; sửa nhãn feedback (HITL)</a:t>
            </a:r>
            <a:endParaRPr lang="en-US" sz="850" dirty="0"/>
          </a:p>
          <a:p>
            <a:pPr algn="l" marL="76200" indent="-76200">
              <a:lnSpc>
                <a:spcPts val="1122"/>
              </a:lnSpc>
              <a:spcAft>
                <a:spcPts val="300"/>
              </a:spcAft>
              <a:buSzPct val="100000"/>
              <a:buChar char="•"/>
            </a:pPr>
            <a:r>
              <a:rPr lang="en-US" sz="850" dirty="0">
                <a:solidFill>
                  <a:srgbClr val="0E2B29"/>
                </a:solidFill>
                <a:latin typeface="Arial" pitchFamily="34" charset="0"/>
                <a:ea typeface="Arial" pitchFamily="34" charset="-122"/>
                <a:cs typeface="Arial" pitchFamily="34" charset="-120"/>
              </a:rPr>
              <a:t>Alerts / phân loại ticket</a:t>
            </a:r>
            <a:endParaRPr lang="en-US" sz="850" dirty="0"/>
          </a:p>
          <a:p>
            <a:pPr algn="l" marL="76200" indent="-76200">
              <a:lnSpc>
                <a:spcPts val="1122"/>
              </a:lnSpc>
              <a:spcAft>
                <a:spcPts val="300"/>
              </a:spcAft>
              <a:buSzPct val="100000"/>
              <a:buChar char="•"/>
            </a:pPr>
            <a:r>
              <a:rPr lang="en-US" sz="850" dirty="0">
                <a:solidFill>
                  <a:srgbClr val="0E2B29"/>
                </a:solidFill>
                <a:latin typeface="Arial" pitchFamily="34" charset="0"/>
                <a:ea typeface="Arial" pitchFamily="34" charset="-122"/>
                <a:cs typeface="Arial" pitchFamily="34" charset="-120"/>
              </a:rPr>
              <a:t>Nhận &amp; xử lý task phòng mình</a:t>
            </a:r>
            <a:endParaRPr lang="en-US" sz="850" dirty="0"/>
          </a:p>
          <a:p>
            <a:pPr algn="l" marL="76200" indent="-76200">
              <a:lnSpc>
                <a:spcPts val="1122"/>
              </a:lnSpc>
              <a:spcAft>
                <a:spcPts val="300"/>
              </a:spcAft>
              <a:buSzPct val="100000"/>
              <a:buChar char="•"/>
            </a:pPr>
            <a:r>
              <a:rPr lang="en-US" sz="850" dirty="0">
                <a:solidFill>
                  <a:srgbClr val="0E2B29"/>
                </a:solidFill>
                <a:latin typeface="Arial" pitchFamily="34" charset="0"/>
                <a:ea typeface="Arial" pitchFamily="34" charset="-122"/>
                <a:cs typeface="Arial" pitchFamily="34" charset="-120"/>
              </a:rPr>
              <a:t>Chat nội bộ (phòng mình)</a:t>
            </a:r>
            <a:endParaRPr lang="en-US" sz="850" dirty="0"/>
          </a:p>
        </p:txBody>
      </p:sp>
      <p:sp>
        <p:nvSpPr>
          <p:cNvPr id="23" name="Text 21"/>
          <p:cNvSpPr/>
          <p:nvPr/>
        </p:nvSpPr>
        <p:spPr>
          <a:xfrm>
            <a:off x="4641800" y="1445419"/>
            <a:ext cx="1990725" cy="3228380"/>
          </a:xfrm>
          <a:prstGeom prst="roundRect">
            <a:avLst>
              <a:gd name="adj" fmla="val 6380"/>
            </a:avLst>
          </a:prstGeom>
          <a:solidFill>
            <a:srgbClr val="FFFFFF"/>
          </a:solidFill>
          <a:ln/>
        </p:spPr>
        <p:txBody>
          <a:bodyPr wrap="square" rtlCol="0" anchor="ctr"/>
          <a:lstStyle/>
          <a:p>
            <a:pPr indent="0" marL="0">
              <a:buNone/>
            </a:pPr>
            <a:endParaRPr lang="en-US" dirty="0"/>
          </a:p>
        </p:txBody>
      </p:sp>
      <p:sp>
        <p:nvSpPr>
          <p:cNvPr id="24" name="Shape 22"/>
          <p:cNvSpPr/>
          <p:nvPr/>
        </p:nvSpPr>
        <p:spPr>
          <a:xfrm>
            <a:off x="4641800" y="1473994"/>
            <a:ext cx="1990725" cy="0"/>
          </a:xfrm>
          <a:prstGeom prst="line">
            <a:avLst/>
          </a:prstGeom>
          <a:noFill/>
          <a:ln w="57150">
            <a:solidFill>
              <a:srgbClr val="0E8C84"/>
            </a:solidFill>
            <a:prstDash val="solid"/>
          </a:ln>
        </p:spPr>
      </p:sp>
      <p:sp>
        <p:nvSpPr>
          <p:cNvPr id="25" name="Shape 23"/>
          <p:cNvSpPr/>
          <p:nvPr/>
        </p:nvSpPr>
        <p:spPr>
          <a:xfrm>
            <a:off x="6627763" y="1445419"/>
            <a:ext cx="0" cy="3228380"/>
          </a:xfrm>
          <a:prstGeom prst="line">
            <a:avLst/>
          </a:prstGeom>
          <a:noFill/>
          <a:ln w="9525">
            <a:solidFill>
              <a:srgbClr val="D9E8E4"/>
            </a:solidFill>
            <a:prstDash val="solid"/>
          </a:ln>
        </p:spPr>
      </p:sp>
      <p:sp>
        <p:nvSpPr>
          <p:cNvPr id="26" name="Shape 24"/>
          <p:cNvSpPr/>
          <p:nvPr/>
        </p:nvSpPr>
        <p:spPr>
          <a:xfrm>
            <a:off x="4641800" y="4669036"/>
            <a:ext cx="1990725" cy="0"/>
          </a:xfrm>
          <a:prstGeom prst="line">
            <a:avLst/>
          </a:prstGeom>
          <a:noFill/>
          <a:ln w="9525">
            <a:solidFill>
              <a:srgbClr val="D9E8E4"/>
            </a:solidFill>
            <a:prstDash val="solid"/>
          </a:ln>
        </p:spPr>
      </p:sp>
      <p:sp>
        <p:nvSpPr>
          <p:cNvPr id="27" name="Shape 25"/>
          <p:cNvSpPr/>
          <p:nvPr/>
        </p:nvSpPr>
        <p:spPr>
          <a:xfrm>
            <a:off x="4646563" y="1445419"/>
            <a:ext cx="0" cy="3228380"/>
          </a:xfrm>
          <a:prstGeom prst="line">
            <a:avLst/>
          </a:prstGeom>
          <a:noFill/>
          <a:ln w="9525">
            <a:solidFill>
              <a:srgbClr val="D9E8E4"/>
            </a:solidFill>
            <a:prstDash val="solid"/>
          </a:ln>
        </p:spPr>
      </p:sp>
      <p:sp>
        <p:nvSpPr>
          <p:cNvPr id="28" name="Text 26"/>
          <p:cNvSpPr/>
          <p:nvPr/>
        </p:nvSpPr>
        <p:spPr>
          <a:xfrm>
            <a:off x="4765625" y="1642170"/>
            <a:ext cx="1777937" cy="200025"/>
          </a:xfrm>
          <a:prstGeom prst="rect">
            <a:avLst/>
          </a:prstGeom>
          <a:noFill/>
          <a:ln/>
        </p:spPr>
        <p:txBody>
          <a:bodyPr wrap="square" lIns="0" tIns="0" rIns="0" bIns="0" rtlCol="0" anchor="t"/>
          <a:lstStyle/>
          <a:p>
            <a:pPr algn="l" indent="0" marL="0">
              <a:buNone/>
            </a:pPr>
            <a:r>
              <a:rPr lang="en-US" sz="1300" b="1" dirty="0">
                <a:solidFill>
                  <a:srgbClr val="0E8C84"/>
                </a:solidFill>
                <a:latin typeface="Arial" pitchFamily="34" charset="0"/>
                <a:ea typeface="Arial" pitchFamily="34" charset="-122"/>
                <a:cs typeface="Arial" pitchFamily="34" charset="-120"/>
              </a:rPr>
              <a:t>Quản lý</a:t>
            </a:r>
            <a:endParaRPr lang="en-US" sz="1300" dirty="0"/>
          </a:p>
        </p:txBody>
      </p:sp>
      <p:sp>
        <p:nvSpPr>
          <p:cNvPr id="29" name="Text 27"/>
          <p:cNvSpPr/>
          <p:nvPr/>
        </p:nvSpPr>
        <p:spPr>
          <a:xfrm>
            <a:off x="4765625" y="1854845"/>
            <a:ext cx="1777937" cy="114300"/>
          </a:xfrm>
          <a:prstGeom prst="rect">
            <a:avLst/>
          </a:prstGeom>
          <a:noFill/>
          <a:ln/>
        </p:spPr>
        <p:txBody>
          <a:bodyPr wrap="square" lIns="0" tIns="0" rIns="0" bIns="0" rtlCol="0" anchor="t"/>
          <a:lstStyle/>
          <a:p>
            <a:pPr algn="l" indent="0" marL="0">
              <a:spcBef>
                <a:spcPts val="100"/>
              </a:spcBef>
              <a:buNone/>
            </a:pPr>
            <a:r>
              <a:rPr lang="en-US" sz="800" dirty="0">
                <a:solidFill>
                  <a:srgbClr val="5C7470"/>
                </a:solidFill>
                <a:latin typeface="Arial" pitchFamily="34" charset="0"/>
                <a:ea typeface="Arial" pitchFamily="34" charset="-122"/>
                <a:cs typeface="Arial" pitchFamily="34" charset="-120"/>
              </a:rPr>
              <a:t>Manager · phòng mình</a:t>
            </a:r>
            <a:endParaRPr lang="en-US" sz="800" dirty="0"/>
          </a:p>
        </p:txBody>
      </p:sp>
      <p:sp>
        <p:nvSpPr>
          <p:cNvPr id="30" name="Text 28"/>
          <p:cNvSpPr/>
          <p:nvPr/>
        </p:nvSpPr>
        <p:spPr>
          <a:xfrm>
            <a:off x="4765625" y="2007245"/>
            <a:ext cx="1777937" cy="114300"/>
          </a:xfrm>
          <a:prstGeom prst="rect">
            <a:avLst/>
          </a:prstGeom>
          <a:noFill/>
          <a:ln/>
        </p:spPr>
        <p:txBody>
          <a:bodyPr wrap="square" lIns="0" tIns="0" rIns="0" bIns="0" rtlCol="0" anchor="t"/>
          <a:lstStyle/>
          <a:p>
            <a:pPr algn="l" indent="0" marL="0">
              <a:spcBef>
                <a:spcPts val="300"/>
              </a:spcBef>
              <a:buNone/>
            </a:pPr>
            <a:r>
              <a:rPr lang="en-US" sz="800" i="1" dirty="0">
                <a:solidFill>
                  <a:srgbClr val="5C7470"/>
                </a:solidFill>
                <a:latin typeface="Arial" pitchFamily="34" charset="0"/>
                <a:ea typeface="Arial" pitchFamily="34" charset="-122"/>
                <a:cs typeface="Arial" pitchFamily="34" charset="-120"/>
              </a:rPr>
              <a:t>+ quyền Nhân viên</a:t>
            </a:r>
            <a:endParaRPr lang="en-US" sz="800" dirty="0"/>
          </a:p>
        </p:txBody>
      </p:sp>
      <p:sp>
        <p:nvSpPr>
          <p:cNvPr id="31" name="Text 29"/>
          <p:cNvSpPr/>
          <p:nvPr/>
        </p:nvSpPr>
        <p:spPr>
          <a:xfrm>
            <a:off x="4765625" y="2197745"/>
            <a:ext cx="1743075" cy="722114"/>
          </a:xfrm>
          <a:prstGeom prst="rect">
            <a:avLst/>
          </a:prstGeom>
          <a:noFill/>
          <a:ln/>
        </p:spPr>
        <p:txBody>
          <a:bodyPr wrap="square" lIns="76200" tIns="0" rIns="0" bIns="0" rtlCol="0" anchor="t"/>
          <a:lstStyle/>
          <a:p>
            <a:pPr algn="l" marL="76200" indent="-76200">
              <a:lnSpc>
                <a:spcPts val="1122"/>
              </a:lnSpc>
              <a:spcAft>
                <a:spcPts val="300"/>
              </a:spcAft>
              <a:buSzPct val="100000"/>
              <a:buChar char="•"/>
            </a:pPr>
            <a:r>
              <a:rPr lang="en-US" sz="850" dirty="0">
                <a:solidFill>
                  <a:srgbClr val="0E2B29"/>
                </a:solidFill>
                <a:latin typeface="Arial" pitchFamily="34" charset="0"/>
                <a:ea typeface="Arial" pitchFamily="34" charset="-122"/>
                <a:cs typeface="Arial" pitchFamily="34" charset="-120"/>
              </a:rPr>
              <a:t>Giao việc &amp; duyệt hoàn thành</a:t>
            </a:r>
            <a:endParaRPr lang="en-US" sz="850" dirty="0"/>
          </a:p>
          <a:p>
            <a:pPr algn="l" marL="76200" indent="-76200">
              <a:lnSpc>
                <a:spcPts val="1122"/>
              </a:lnSpc>
              <a:spcAft>
                <a:spcPts val="300"/>
              </a:spcAft>
              <a:buSzPct val="100000"/>
              <a:buChar char="•"/>
            </a:pPr>
            <a:r>
              <a:rPr lang="en-US" sz="850" dirty="0">
                <a:solidFill>
                  <a:srgbClr val="0E2B29"/>
                </a:solidFill>
                <a:latin typeface="Arial" pitchFamily="34" charset="0"/>
                <a:ea typeface="Arial" pitchFamily="34" charset="-122"/>
                <a:cs typeface="Arial" pitchFamily="34" charset="-120"/>
              </a:rPr>
              <a:t>Phân tích phòng ban</a:t>
            </a:r>
            <a:endParaRPr lang="en-US" sz="850" dirty="0"/>
          </a:p>
          <a:p>
            <a:pPr algn="l" marL="76200" indent="-76200">
              <a:lnSpc>
                <a:spcPts val="1122"/>
              </a:lnSpc>
              <a:spcAft>
                <a:spcPts val="300"/>
              </a:spcAft>
              <a:buSzPct val="100000"/>
              <a:buChar char="•"/>
            </a:pPr>
            <a:r>
              <a:rPr lang="en-US" sz="850" dirty="0">
                <a:solidFill>
                  <a:srgbClr val="0E2B29"/>
                </a:solidFill>
                <a:latin typeface="Arial" pitchFamily="34" charset="0"/>
                <a:ea typeface="Arial" pitchFamily="34" charset="-122"/>
                <a:cs typeface="Arial" pitchFamily="34" charset="-120"/>
              </a:rPr>
              <a:t>Báo cáo AI theo phòng</a:t>
            </a:r>
            <a:endParaRPr lang="en-US" sz="850" dirty="0"/>
          </a:p>
          <a:p>
            <a:pPr algn="l" marL="76200" indent="-76200">
              <a:lnSpc>
                <a:spcPts val="1122"/>
              </a:lnSpc>
              <a:spcAft>
                <a:spcPts val="300"/>
              </a:spcAft>
              <a:buSzPct val="100000"/>
              <a:buChar char="•"/>
            </a:pPr>
            <a:r>
              <a:rPr lang="en-US" sz="850" dirty="0">
                <a:solidFill>
                  <a:srgbClr val="0E2B29"/>
                </a:solidFill>
                <a:latin typeface="Arial" pitchFamily="34" charset="0"/>
                <a:ea typeface="Arial" pitchFamily="34" charset="-122"/>
                <a:cs typeface="Arial" pitchFamily="34" charset="-120"/>
              </a:rPr>
              <a:t>Chat nội bộ (+ báo cáo phòng)</a:t>
            </a:r>
            <a:endParaRPr lang="en-US" sz="850" dirty="0"/>
          </a:p>
        </p:txBody>
      </p:sp>
      <p:sp>
        <p:nvSpPr>
          <p:cNvPr id="32" name="Text 30"/>
          <p:cNvSpPr/>
          <p:nvPr/>
        </p:nvSpPr>
        <p:spPr>
          <a:xfrm>
            <a:off x="6772126" y="1445419"/>
            <a:ext cx="1990874" cy="3228380"/>
          </a:xfrm>
          <a:prstGeom prst="roundRect">
            <a:avLst>
              <a:gd name="adj" fmla="val 6379"/>
            </a:avLst>
          </a:prstGeom>
          <a:solidFill>
            <a:srgbClr val="FFFFFF"/>
          </a:solidFill>
          <a:ln/>
        </p:spPr>
        <p:txBody>
          <a:bodyPr wrap="square" rtlCol="0" anchor="ctr"/>
          <a:lstStyle/>
          <a:p>
            <a:pPr indent="0" marL="0">
              <a:buNone/>
            </a:pPr>
            <a:endParaRPr lang="en-US" dirty="0"/>
          </a:p>
        </p:txBody>
      </p:sp>
      <p:sp>
        <p:nvSpPr>
          <p:cNvPr id="33" name="Shape 31"/>
          <p:cNvSpPr/>
          <p:nvPr/>
        </p:nvSpPr>
        <p:spPr>
          <a:xfrm>
            <a:off x="6772126" y="1473994"/>
            <a:ext cx="1990874" cy="0"/>
          </a:xfrm>
          <a:prstGeom prst="line">
            <a:avLst/>
          </a:prstGeom>
          <a:noFill/>
          <a:ln w="57150">
            <a:solidFill>
              <a:srgbClr val="7A5AF8"/>
            </a:solidFill>
            <a:prstDash val="solid"/>
          </a:ln>
        </p:spPr>
      </p:sp>
      <p:sp>
        <p:nvSpPr>
          <p:cNvPr id="34" name="Shape 32"/>
          <p:cNvSpPr/>
          <p:nvPr/>
        </p:nvSpPr>
        <p:spPr>
          <a:xfrm>
            <a:off x="8758237" y="1445419"/>
            <a:ext cx="0" cy="3228380"/>
          </a:xfrm>
          <a:prstGeom prst="line">
            <a:avLst/>
          </a:prstGeom>
          <a:noFill/>
          <a:ln w="9525">
            <a:solidFill>
              <a:srgbClr val="D9E8E4"/>
            </a:solidFill>
            <a:prstDash val="solid"/>
          </a:ln>
        </p:spPr>
      </p:sp>
      <p:sp>
        <p:nvSpPr>
          <p:cNvPr id="35" name="Shape 33"/>
          <p:cNvSpPr/>
          <p:nvPr/>
        </p:nvSpPr>
        <p:spPr>
          <a:xfrm>
            <a:off x="6772126" y="4669036"/>
            <a:ext cx="1990874" cy="0"/>
          </a:xfrm>
          <a:prstGeom prst="line">
            <a:avLst/>
          </a:prstGeom>
          <a:noFill/>
          <a:ln w="9525">
            <a:solidFill>
              <a:srgbClr val="D9E8E4"/>
            </a:solidFill>
            <a:prstDash val="solid"/>
          </a:ln>
        </p:spPr>
      </p:sp>
      <p:sp>
        <p:nvSpPr>
          <p:cNvPr id="36" name="Shape 34"/>
          <p:cNvSpPr/>
          <p:nvPr/>
        </p:nvSpPr>
        <p:spPr>
          <a:xfrm>
            <a:off x="6776889" y="1445419"/>
            <a:ext cx="0" cy="3228380"/>
          </a:xfrm>
          <a:prstGeom prst="line">
            <a:avLst/>
          </a:prstGeom>
          <a:noFill/>
          <a:ln w="9525">
            <a:solidFill>
              <a:srgbClr val="D9E8E4"/>
            </a:solidFill>
            <a:prstDash val="solid"/>
          </a:ln>
        </p:spPr>
      </p:sp>
      <p:sp>
        <p:nvSpPr>
          <p:cNvPr id="37" name="Text 35"/>
          <p:cNvSpPr/>
          <p:nvPr/>
        </p:nvSpPr>
        <p:spPr>
          <a:xfrm>
            <a:off x="6895951" y="1642170"/>
            <a:ext cx="1778088" cy="200025"/>
          </a:xfrm>
          <a:prstGeom prst="rect">
            <a:avLst/>
          </a:prstGeom>
          <a:noFill/>
          <a:ln/>
        </p:spPr>
        <p:txBody>
          <a:bodyPr wrap="square" lIns="0" tIns="0" rIns="0" bIns="0" rtlCol="0" anchor="t"/>
          <a:lstStyle/>
          <a:p>
            <a:pPr algn="l" indent="0" marL="0">
              <a:buNone/>
            </a:pPr>
            <a:r>
              <a:rPr lang="en-US" sz="1300" b="1" dirty="0">
                <a:solidFill>
                  <a:srgbClr val="7A5AF8"/>
                </a:solidFill>
                <a:latin typeface="Arial" pitchFamily="34" charset="0"/>
                <a:ea typeface="Arial" pitchFamily="34" charset="-122"/>
                <a:cs typeface="Arial" pitchFamily="34" charset="-120"/>
              </a:rPr>
              <a:t>Admin</a:t>
            </a:r>
            <a:endParaRPr lang="en-US" sz="1300" dirty="0"/>
          </a:p>
        </p:txBody>
      </p:sp>
      <p:sp>
        <p:nvSpPr>
          <p:cNvPr id="38" name="Text 36"/>
          <p:cNvSpPr/>
          <p:nvPr/>
        </p:nvSpPr>
        <p:spPr>
          <a:xfrm>
            <a:off x="6895951" y="1854845"/>
            <a:ext cx="1778088" cy="114300"/>
          </a:xfrm>
          <a:prstGeom prst="rect">
            <a:avLst/>
          </a:prstGeom>
          <a:noFill/>
          <a:ln/>
        </p:spPr>
        <p:txBody>
          <a:bodyPr wrap="square" lIns="0" tIns="0" rIns="0" bIns="0" rtlCol="0" anchor="t"/>
          <a:lstStyle/>
          <a:p>
            <a:pPr algn="l" indent="0" marL="0">
              <a:spcBef>
                <a:spcPts val="100"/>
              </a:spcBef>
              <a:buNone/>
            </a:pPr>
            <a:r>
              <a:rPr lang="en-US" sz="800" dirty="0">
                <a:solidFill>
                  <a:srgbClr val="5C7470"/>
                </a:solidFill>
                <a:latin typeface="Arial" pitchFamily="34" charset="0"/>
                <a:ea typeface="Arial" pitchFamily="34" charset="-122"/>
                <a:cs typeface="Arial" pitchFamily="34" charset="-120"/>
              </a:rPr>
              <a:t>Toàn hệ thống</a:t>
            </a:r>
            <a:endParaRPr lang="en-US" sz="800" dirty="0"/>
          </a:p>
        </p:txBody>
      </p:sp>
      <p:sp>
        <p:nvSpPr>
          <p:cNvPr id="39" name="Text 37"/>
          <p:cNvSpPr/>
          <p:nvPr/>
        </p:nvSpPr>
        <p:spPr>
          <a:xfrm>
            <a:off x="6895951" y="2007245"/>
            <a:ext cx="1778088" cy="114300"/>
          </a:xfrm>
          <a:prstGeom prst="rect">
            <a:avLst/>
          </a:prstGeom>
          <a:noFill/>
          <a:ln/>
        </p:spPr>
        <p:txBody>
          <a:bodyPr wrap="square" lIns="0" tIns="0" rIns="0" bIns="0" rtlCol="0" anchor="t"/>
          <a:lstStyle/>
          <a:p>
            <a:pPr algn="l" indent="0" marL="0">
              <a:spcBef>
                <a:spcPts val="300"/>
              </a:spcBef>
              <a:buNone/>
            </a:pPr>
            <a:r>
              <a:rPr lang="en-US" sz="800" i="1" dirty="0">
                <a:solidFill>
                  <a:srgbClr val="5C7470"/>
                </a:solidFill>
                <a:latin typeface="Arial" pitchFamily="34" charset="0"/>
                <a:ea typeface="Arial" pitchFamily="34" charset="-122"/>
                <a:cs typeface="Arial" pitchFamily="34" charset="-120"/>
              </a:rPr>
              <a:t>+ quyền Quản lý</a:t>
            </a:r>
            <a:endParaRPr lang="en-US" sz="800" dirty="0"/>
          </a:p>
        </p:txBody>
      </p:sp>
      <p:sp>
        <p:nvSpPr>
          <p:cNvPr id="40" name="Text 38"/>
          <p:cNvSpPr/>
          <p:nvPr/>
        </p:nvSpPr>
        <p:spPr>
          <a:xfrm>
            <a:off x="6895951" y="2197745"/>
            <a:ext cx="1743224" cy="864543"/>
          </a:xfrm>
          <a:prstGeom prst="rect">
            <a:avLst/>
          </a:prstGeom>
          <a:noFill/>
          <a:ln/>
        </p:spPr>
        <p:txBody>
          <a:bodyPr wrap="square" lIns="76200" tIns="0" rIns="0" bIns="0" rtlCol="0" anchor="t"/>
          <a:lstStyle/>
          <a:p>
            <a:pPr algn="l" marL="76200" indent="-76200">
              <a:lnSpc>
                <a:spcPts val="1122"/>
              </a:lnSpc>
              <a:spcAft>
                <a:spcPts val="300"/>
              </a:spcAft>
              <a:buSzPct val="100000"/>
              <a:buChar char="•"/>
            </a:pPr>
            <a:r>
              <a:rPr lang="en-US" sz="850" dirty="0">
                <a:solidFill>
                  <a:srgbClr val="0E2B29"/>
                </a:solidFill>
                <a:latin typeface="Arial" pitchFamily="34" charset="0"/>
                <a:ea typeface="Arial" pitchFamily="34" charset="-122"/>
                <a:cs typeface="Arial" pitchFamily="34" charset="-120"/>
              </a:rPr>
              <a:t>Mọi phòng ban</a:t>
            </a:r>
            <a:endParaRPr lang="en-US" sz="850" dirty="0"/>
          </a:p>
          <a:p>
            <a:pPr algn="l" marL="76200" indent="-76200">
              <a:lnSpc>
                <a:spcPts val="1122"/>
              </a:lnSpc>
              <a:spcAft>
                <a:spcPts val="300"/>
              </a:spcAft>
              <a:buSzPct val="100000"/>
              <a:buChar char="•"/>
            </a:pPr>
            <a:r>
              <a:rPr lang="en-US" sz="850" dirty="0">
                <a:solidFill>
                  <a:srgbClr val="0E2B29"/>
                </a:solidFill>
                <a:latin typeface="Arial" pitchFamily="34" charset="0"/>
                <a:ea typeface="Arial" pitchFamily="34" charset="-122"/>
                <a:cs typeface="Arial" pitchFamily="34" charset="-120"/>
              </a:rPr>
              <a:t>Quản lý người dùng &amp; phân quyền</a:t>
            </a:r>
            <a:endParaRPr lang="en-US" sz="850" dirty="0"/>
          </a:p>
          <a:p>
            <a:pPr algn="l" marL="76200" indent="-76200">
              <a:lnSpc>
                <a:spcPts val="1122"/>
              </a:lnSpc>
              <a:spcAft>
                <a:spcPts val="300"/>
              </a:spcAft>
              <a:buSzPct val="100000"/>
              <a:buChar char="•"/>
            </a:pPr>
            <a:r>
              <a:rPr lang="en-US" sz="850" dirty="0">
                <a:solidFill>
                  <a:srgbClr val="0E2B29"/>
                </a:solidFill>
                <a:latin typeface="Arial" pitchFamily="34" charset="0"/>
                <a:ea typeface="Arial" pitchFamily="34" charset="-122"/>
                <a:cs typeface="Arial" pitchFamily="34" charset="-120"/>
              </a:rPr>
              <a:t>Trigger stream / chạy agent</a:t>
            </a:r>
            <a:endParaRPr lang="en-US" sz="850" dirty="0"/>
          </a:p>
          <a:p>
            <a:pPr algn="l" marL="76200" indent="-76200">
              <a:lnSpc>
                <a:spcPts val="1122"/>
              </a:lnSpc>
              <a:spcAft>
                <a:spcPts val="300"/>
              </a:spcAft>
              <a:buSzPct val="100000"/>
              <a:buChar char="•"/>
            </a:pPr>
            <a:r>
              <a:rPr lang="en-US" sz="850" dirty="0">
                <a:solidFill>
                  <a:srgbClr val="0E2B29"/>
                </a:solidFill>
                <a:latin typeface="Arial" pitchFamily="34" charset="0"/>
                <a:ea typeface="Arial" pitchFamily="34" charset="-122"/>
                <a:cs typeface="Arial" pitchFamily="34" charset="-120"/>
              </a:rPr>
              <a:t>Chat toàn hệ thống</a:t>
            </a:r>
            <a:endParaRPr lang="en-US" sz="850" dirty="0"/>
          </a:p>
        </p:txBody>
      </p:sp>
      <p:sp>
        <p:nvSpPr>
          <p:cNvPr id="41" name="Text 39"/>
          <p:cNvSpPr/>
          <p:nvPr/>
        </p:nvSpPr>
        <p:spPr>
          <a:xfrm>
            <a:off x="381000" y="4673798"/>
            <a:ext cx="8549640" cy="114300"/>
          </a:xfrm>
          <a:prstGeom prst="rect">
            <a:avLst/>
          </a:prstGeom>
          <a:noFill/>
          <a:ln/>
        </p:spPr>
        <p:txBody>
          <a:bodyPr wrap="square" lIns="0" tIns="0" rIns="0" bIns="0" rtlCol="0" anchor="t"/>
          <a:lstStyle/>
          <a:p>
            <a:pPr algn="l" indent="0" marL="0">
              <a:spcAft>
                <a:spcPts val="800"/>
              </a:spcAft>
              <a:buNone/>
            </a:pPr>
            <a:r>
              <a:rPr lang="en-US" sz="800" dirty="0">
                <a:solidFill>
                  <a:srgbClr val="5C7470"/>
                </a:solidFill>
                <a:latin typeface="Arial" pitchFamily="34" charset="0"/>
                <a:ea typeface="Arial" pitchFamily="34" charset="-122"/>
                <a:cs typeface="Arial" pitchFamily="34" charset="-120"/>
              </a:rPr>
              <a:t>xanhSM · AI Quality Intelligence Platform · AI20K Cohort 2 — Team 116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30101"/>
            <a:ext cx="8549640" cy="142875"/>
          </a:xfrm>
          <a:prstGeom prst="rect">
            <a:avLst/>
          </a:prstGeom>
          <a:noFill/>
          <a:ln/>
        </p:spPr>
        <p:txBody>
          <a:bodyPr wrap="square" lIns="0" tIns="0" rIns="0" bIns="0" rtlCol="0" anchor="t"/>
          <a:lstStyle/>
          <a:p>
            <a:pPr algn="l" indent="0" marL="0">
              <a:spcAft>
                <a:spcPts val="400"/>
              </a:spcAft>
              <a:buNone/>
            </a:pPr>
            <a:r>
              <a:rPr lang="en-US" sz="1000" b="1" dirty="0">
                <a:solidFill>
                  <a:srgbClr val="0E8C84"/>
                </a:solidFill>
                <a:latin typeface="Arial" pitchFamily="34" charset="0"/>
                <a:ea typeface="Arial" pitchFamily="34" charset="-122"/>
                <a:cs typeface="Arial" pitchFamily="34" charset="-120"/>
              </a:rPr>
              <a:t>PHÂN QUYỀN · CHATBOT</a:t>
            </a:r>
            <a:endParaRPr lang="en-US" sz="1000" dirty="0"/>
          </a:p>
        </p:txBody>
      </p:sp>
      <p:sp>
        <p:nvSpPr>
          <p:cNvPr id="3" name="Text 1"/>
          <p:cNvSpPr/>
          <p:nvPr/>
        </p:nvSpPr>
        <p:spPr>
          <a:xfrm>
            <a:off x="381000" y="523726"/>
            <a:ext cx="8549640" cy="342751"/>
          </a:xfrm>
          <a:prstGeom prst="rect">
            <a:avLst/>
          </a:prstGeom>
          <a:noFill/>
          <a:ln/>
        </p:spPr>
        <p:txBody>
          <a:bodyPr wrap="square" lIns="0" tIns="0" rIns="0" bIns="0" rtlCol="0" anchor="t"/>
          <a:lstStyle/>
          <a:p>
            <a:pPr algn="l" indent="0" marL="0">
              <a:lnSpc>
                <a:spcPts val="2700"/>
              </a:lnSpc>
              <a:buNone/>
            </a:pPr>
            <a:r>
              <a:rPr lang="en-US" sz="2500" b="1" dirty="0">
                <a:solidFill>
                  <a:srgbClr val="0B5E5C"/>
                </a:solidFill>
                <a:latin typeface="Arial" pitchFamily="34" charset="0"/>
                <a:ea typeface="Arial" pitchFamily="34" charset="-122"/>
                <a:cs typeface="Arial" pitchFamily="34" charset="-120"/>
              </a:rPr>
              <a:t>Cùng một chatbot, câu trả lời khác nhau theo tài khoản</a:t>
            </a:r>
            <a:endParaRPr lang="en-US" sz="2500" dirty="0"/>
          </a:p>
        </p:txBody>
      </p:sp>
      <p:sp>
        <p:nvSpPr>
          <p:cNvPr id="4" name="Text 2"/>
          <p:cNvSpPr/>
          <p:nvPr/>
        </p:nvSpPr>
        <p:spPr>
          <a:xfrm>
            <a:off x="381000" y="929878"/>
            <a:ext cx="8549640" cy="363141"/>
          </a:xfrm>
          <a:prstGeom prst="rect">
            <a:avLst/>
          </a:prstGeom>
          <a:noFill/>
          <a:ln/>
        </p:spPr>
        <p:txBody>
          <a:bodyPr wrap="square" lIns="0" tIns="0" rIns="0" bIns="0" rtlCol="0" anchor="t"/>
          <a:lstStyle/>
          <a:p>
            <a:pPr algn="l" indent="0" marL="0">
              <a:lnSpc>
                <a:spcPts val="1430"/>
              </a:lnSpc>
              <a:spcBef>
                <a:spcPts val="500"/>
              </a:spcBef>
              <a:buNone/>
            </a:pPr>
            <a:r>
              <a:rPr lang="en-US" sz="1100" dirty="0">
                <a:solidFill>
                  <a:srgbClr val="5C7470"/>
                </a:solidFill>
                <a:latin typeface="Arial" pitchFamily="34" charset="0"/>
                <a:ea typeface="Arial" pitchFamily="34" charset="-122"/>
                <a:cs typeface="Arial" pitchFamily="34" charset="-120"/>
              </a:rPr>
              <a:t>Cùng câu hỏi </a:t>
            </a:r>
            <a:pPr algn="l" indent="0" marL="0">
              <a:lnSpc>
                <a:spcPts val="1430"/>
              </a:lnSpc>
              <a:spcBef>
                <a:spcPts val="500"/>
              </a:spcBef>
              <a:buNone/>
            </a:pPr>
            <a:r>
              <a:rPr lang="en-US" sz="1100" i="1" dirty="0">
                <a:solidFill>
                  <a:srgbClr val="5C7470"/>
                </a:solidFill>
                <a:latin typeface="Arial" pitchFamily="34" charset="0"/>
                <a:ea typeface="Arial" pitchFamily="34" charset="-122"/>
                <a:cs typeface="Arial" pitchFamily="34" charset="-120"/>
              </a:rPr>
              <a:t>"Tuần này khu vực nào đang nóng?"</a:t>
            </a:r>
            <a:pPr algn="l" indent="0" marL="0">
              <a:lnSpc>
                <a:spcPts val="1430"/>
              </a:lnSpc>
              <a:spcBef>
                <a:spcPts val="500"/>
              </a:spcBef>
              <a:buNone/>
            </a:pPr>
            <a:r>
              <a:rPr lang="en-US" sz="1100" dirty="0">
                <a:solidFill>
                  <a:srgbClr val="5C7470"/>
                </a:solidFill>
                <a:latin typeface="Arial" pitchFamily="34" charset="0"/>
                <a:ea typeface="Arial" pitchFamily="34" charset="-122"/>
                <a:cs typeface="Arial" pitchFamily="34" charset="-120"/>
              </a:rPr>
              <a:t> — chatbot tự điều chỉnh theo quyền: Khách chỉ nhận hỗ trợ công khai, Ops nhận số liệu nội bộ (lọc theo phòng qua RLS).</a:t>
            </a:r>
            <a:endParaRPr lang="en-US" sz="1100" dirty="0"/>
          </a:p>
        </p:txBody>
      </p:sp>
      <p:sp>
        <p:nvSpPr>
          <p:cNvPr id="5" name="Text 3"/>
          <p:cNvSpPr/>
          <p:nvPr/>
        </p:nvSpPr>
        <p:spPr>
          <a:xfrm>
            <a:off x="1728043" y="1394520"/>
            <a:ext cx="2252326" cy="152400"/>
          </a:xfrm>
          <a:prstGeom prst="rect">
            <a:avLst/>
          </a:prstGeom>
          <a:noFill/>
          <a:ln/>
        </p:spPr>
        <p:txBody>
          <a:bodyPr wrap="square" lIns="0" tIns="0" rIns="0" bIns="0" rtlCol="0" anchor="t"/>
          <a:lstStyle/>
          <a:p>
            <a:pPr algn="l" indent="0" marL="0">
              <a:spcAft>
                <a:spcPts val="400"/>
              </a:spcAft>
              <a:buNone/>
            </a:pPr>
            <a:r>
              <a:rPr lang="en-US" sz="1050" b="1" dirty="0">
                <a:solidFill>
                  <a:srgbClr val="6B8F8A"/>
                </a:solidFill>
                <a:latin typeface="Arial" pitchFamily="34" charset="0"/>
                <a:ea typeface="Arial" pitchFamily="34" charset="-122"/>
                <a:cs typeface="Arial" pitchFamily="34" charset="-120"/>
              </a:rPr>
              <a:t>Tài khoản Khách → FAQ công khai</a:t>
            </a:r>
            <a:endParaRPr lang="en-US" sz="1050" dirty="0"/>
          </a:p>
        </p:txBody>
      </p:sp>
      <p:sp>
        <p:nvSpPr>
          <p:cNvPr id="6" name="Text 4"/>
          <p:cNvSpPr/>
          <p:nvPr/>
        </p:nvSpPr>
        <p:spPr>
          <a:xfrm>
            <a:off x="1486049" y="1597670"/>
            <a:ext cx="2692301" cy="3436590"/>
          </a:xfrm>
          <a:prstGeom prst="roundRect">
            <a:avLst>
              <a:gd name="adj" fmla="val 4717"/>
            </a:avLst>
          </a:prstGeom>
          <a:solidFill>
            <a:srgbClr val="FFFFFF"/>
          </a:solidFill>
          <a:ln w="9525">
            <a:solidFill>
              <a:srgbClr val="D9E8E4"/>
            </a:solidFill>
          </a:ln>
          <a:effectLst>
            <a:outerShdw sx="100000" sy="100000" kx="0" ky="0" algn="bl" rotWithShape="0" blurRad="133350" dist="47625" dir="3180000">
              <a:srgbClr val="0b5e5c">
                <a:alpha val="22000"/>
              </a:srgbClr>
            </a:outerShdw>
          </a:effectLst>
        </p:spPr>
        <p:txBody>
          <a:bodyPr wrap="square" rtlCol="0" anchor="ctr"/>
          <a:lstStyle/>
          <a:p>
            <a:pPr indent="0" marL="0">
              <a:buNone/>
            </a:pPr>
            <a:endParaRPr lang="en-US" dirty="0"/>
          </a:p>
        </p:txBody>
      </p:sp>
      <p:pic>
        <p:nvPicPr>
          <p:cNvPr id="7" name="Image 0" descr="/private/tmp/claude-501/-Users-kenz-de-projects-C2-App-116/3d8df5ac-6b2b-4cce-a997-fe0b4573b465/scratchpad/build/assets/chat-guest.png">    </p:cNvPr>
          <p:cNvPicPr>
            <a:picLocks noChangeAspect="1"/>
          </p:cNvPicPr>
          <p:nvPr/>
        </p:nvPicPr>
        <p:blipFill>
          <a:blip r:embed="rId1"/>
          <a:stretch>
            <a:fillRect/>
          </a:stretch>
        </p:blipFill>
        <p:spPr>
          <a:xfrm>
            <a:off x="1558975" y="1670596"/>
            <a:ext cx="2546449" cy="3290739"/>
          </a:xfrm>
          <a:prstGeom prst="rect">
            <a:avLst/>
          </a:prstGeom>
        </p:spPr>
      </p:pic>
      <p:sp>
        <p:nvSpPr>
          <p:cNvPr id="8" name="Text 5"/>
          <p:cNvSpPr/>
          <p:nvPr/>
        </p:nvSpPr>
        <p:spPr>
          <a:xfrm>
            <a:off x="5232499" y="1394520"/>
            <a:ext cx="2201775" cy="152400"/>
          </a:xfrm>
          <a:prstGeom prst="rect">
            <a:avLst/>
          </a:prstGeom>
          <a:noFill/>
          <a:ln/>
        </p:spPr>
        <p:txBody>
          <a:bodyPr wrap="square" lIns="0" tIns="0" rIns="0" bIns="0" rtlCol="0" anchor="t"/>
          <a:lstStyle/>
          <a:p>
            <a:pPr algn="l" indent="0" marL="0">
              <a:spcAft>
                <a:spcPts val="400"/>
              </a:spcAft>
              <a:buNone/>
            </a:pPr>
            <a:r>
              <a:rPr lang="en-US" sz="1050" b="1" dirty="0">
                <a:solidFill>
                  <a:srgbClr val="0E8C84"/>
                </a:solidFill>
                <a:latin typeface="Arial" pitchFamily="34" charset="0"/>
                <a:ea typeface="Arial" pitchFamily="34" charset="-122"/>
                <a:cs typeface="Arial" pitchFamily="34" charset="-120"/>
              </a:rPr>
              <a:t>Tài khoản Admin → dữ liệu nội bộ</a:t>
            </a:r>
            <a:endParaRPr lang="en-US" sz="1050" dirty="0"/>
          </a:p>
        </p:txBody>
      </p:sp>
      <p:sp>
        <p:nvSpPr>
          <p:cNvPr id="9" name="Text 6"/>
          <p:cNvSpPr/>
          <p:nvPr/>
        </p:nvSpPr>
        <p:spPr>
          <a:xfrm>
            <a:off x="4965650" y="1597670"/>
            <a:ext cx="2692301" cy="3436590"/>
          </a:xfrm>
          <a:prstGeom prst="roundRect">
            <a:avLst>
              <a:gd name="adj" fmla="val 4717"/>
            </a:avLst>
          </a:prstGeom>
          <a:solidFill>
            <a:srgbClr val="FFFFFF"/>
          </a:solidFill>
          <a:ln w="9525">
            <a:solidFill>
              <a:srgbClr val="D9E8E4"/>
            </a:solidFill>
          </a:ln>
          <a:effectLst>
            <a:outerShdw sx="100000" sy="100000" kx="0" ky="0" algn="bl" rotWithShape="0" blurRad="133350" dist="47625" dir="3180000">
              <a:srgbClr val="0b5e5c">
                <a:alpha val="22000"/>
              </a:srgbClr>
            </a:outerShdw>
          </a:effectLst>
        </p:spPr>
        <p:txBody>
          <a:bodyPr wrap="square" rtlCol="0" anchor="ctr"/>
          <a:lstStyle/>
          <a:p>
            <a:pPr indent="0" marL="0">
              <a:buNone/>
            </a:pPr>
            <a:endParaRPr lang="en-US" dirty="0"/>
          </a:p>
        </p:txBody>
      </p:sp>
      <p:pic>
        <p:nvPicPr>
          <p:cNvPr id="10" name="Image 1" descr="/private/tmp/claude-501/-Users-kenz-de-projects-C2-App-116/3d8df5ac-6b2b-4cce-a997-fe0b4573b465/scratchpad/build/assets/chat-admin.png">    </p:cNvPr>
          <p:cNvPicPr>
            <a:picLocks noChangeAspect="1"/>
          </p:cNvPicPr>
          <p:nvPr/>
        </p:nvPicPr>
        <p:blipFill>
          <a:blip r:embed="rId2"/>
          <a:stretch>
            <a:fillRect/>
          </a:stretch>
        </p:blipFill>
        <p:spPr>
          <a:xfrm>
            <a:off x="5038576" y="1670596"/>
            <a:ext cx="2546449" cy="3290739"/>
          </a:xfrm>
          <a:prstGeom prst="rect">
            <a:avLst/>
          </a:prstGeom>
        </p:spPr>
      </p:pic>
      <p:sp>
        <p:nvSpPr>
          <p:cNvPr id="11" name="Text 7"/>
          <p:cNvSpPr/>
          <p:nvPr/>
        </p:nvSpPr>
        <p:spPr>
          <a:xfrm>
            <a:off x="381000" y="5034260"/>
            <a:ext cx="8549640" cy="114300"/>
          </a:xfrm>
          <a:prstGeom prst="rect">
            <a:avLst/>
          </a:prstGeom>
          <a:noFill/>
          <a:ln/>
        </p:spPr>
        <p:txBody>
          <a:bodyPr wrap="square" lIns="0" tIns="0" rIns="0" bIns="0" rtlCol="0" anchor="t"/>
          <a:lstStyle/>
          <a:p>
            <a:pPr algn="l" indent="0" marL="0">
              <a:spcAft>
                <a:spcPts val="800"/>
              </a:spcAft>
              <a:buNone/>
            </a:pPr>
            <a:r>
              <a:rPr lang="en-US" sz="800" dirty="0">
                <a:solidFill>
                  <a:srgbClr val="5C7470"/>
                </a:solidFill>
                <a:latin typeface="Arial" pitchFamily="34" charset="0"/>
                <a:ea typeface="Arial" pitchFamily="34" charset="-122"/>
                <a:cs typeface="Arial" pitchFamily="34" charset="-120"/>
              </a:rPr>
              <a:t>Tầng dữ liệu: Khách → KB công khai · Nhân viên → SOP + task phòng · Quản lý → + báo cáo phòng · Admin → toàn hệ thống · xanhSM · Team 116</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30101"/>
            <a:ext cx="8549640" cy="142875"/>
          </a:xfrm>
          <a:prstGeom prst="rect">
            <a:avLst/>
          </a:prstGeom>
          <a:noFill/>
          <a:ln/>
        </p:spPr>
        <p:txBody>
          <a:bodyPr wrap="square" lIns="0" tIns="0" rIns="0" bIns="0" rtlCol="0" anchor="t"/>
          <a:lstStyle/>
          <a:p>
            <a:pPr algn="l" indent="0" marL="0">
              <a:spcAft>
                <a:spcPts val="400"/>
              </a:spcAft>
              <a:buNone/>
            </a:pPr>
            <a:r>
              <a:rPr lang="en-US" sz="1000" b="1" dirty="0">
                <a:solidFill>
                  <a:srgbClr val="0E8C84"/>
                </a:solidFill>
                <a:latin typeface="Arial" pitchFamily="34" charset="0"/>
                <a:ea typeface="Arial" pitchFamily="34" charset="-122"/>
                <a:cs typeface="Arial" pitchFamily="34" charset="-120"/>
              </a:rPr>
              <a:t>TƯ DUY SẢN PHẨM</a:t>
            </a:r>
            <a:endParaRPr lang="en-US" sz="1000" dirty="0"/>
          </a:p>
        </p:txBody>
      </p:sp>
      <p:sp>
        <p:nvSpPr>
          <p:cNvPr id="3" name="Text 1"/>
          <p:cNvSpPr/>
          <p:nvPr/>
        </p:nvSpPr>
        <p:spPr>
          <a:xfrm>
            <a:off x="381000" y="523726"/>
            <a:ext cx="8549640" cy="342751"/>
          </a:xfrm>
          <a:prstGeom prst="rect">
            <a:avLst/>
          </a:prstGeom>
          <a:noFill/>
          <a:ln/>
        </p:spPr>
        <p:txBody>
          <a:bodyPr wrap="square" lIns="0" tIns="0" rIns="0" bIns="0" rtlCol="0" anchor="t"/>
          <a:lstStyle/>
          <a:p>
            <a:pPr algn="l" indent="0" marL="0">
              <a:lnSpc>
                <a:spcPts val="2700"/>
              </a:lnSpc>
              <a:buNone/>
            </a:pPr>
            <a:r>
              <a:rPr lang="en-US" sz="2500" b="1" dirty="0">
                <a:solidFill>
                  <a:srgbClr val="0B5E5C"/>
                </a:solidFill>
                <a:latin typeface="Arial" pitchFamily="34" charset="0"/>
                <a:ea typeface="Arial" pitchFamily="34" charset="-122"/>
                <a:cs typeface="Arial" pitchFamily="34" charset="-120"/>
              </a:rPr>
              <a:t>Năm nguyên tắc định hình mọi quyết định</a:t>
            </a:r>
            <a:endParaRPr lang="en-US" sz="2500" dirty="0"/>
          </a:p>
        </p:txBody>
      </p:sp>
      <p:sp>
        <p:nvSpPr>
          <p:cNvPr id="4" name="Text 2"/>
          <p:cNvSpPr/>
          <p:nvPr/>
        </p:nvSpPr>
        <p:spPr>
          <a:xfrm>
            <a:off x="381000" y="1069628"/>
            <a:ext cx="1554361" cy="2686050"/>
          </a:xfrm>
          <a:prstGeom prst="roundRect">
            <a:avLst>
              <a:gd name="adj" fmla="val 8171"/>
            </a:avLst>
          </a:prstGeom>
          <a:solidFill>
            <a:srgbClr val="FFFFFF"/>
          </a:solidFill>
          <a:ln/>
        </p:spPr>
        <p:txBody>
          <a:bodyPr wrap="square" rtlCol="0" anchor="ctr"/>
          <a:lstStyle/>
          <a:p>
            <a:pPr indent="0" marL="0">
              <a:buNone/>
            </a:pPr>
            <a:endParaRPr lang="en-US" dirty="0"/>
          </a:p>
        </p:txBody>
      </p:sp>
      <p:sp>
        <p:nvSpPr>
          <p:cNvPr id="5" name="Shape 3"/>
          <p:cNvSpPr/>
          <p:nvPr/>
        </p:nvSpPr>
        <p:spPr>
          <a:xfrm>
            <a:off x="381000" y="1093440"/>
            <a:ext cx="1554361" cy="0"/>
          </a:xfrm>
          <a:prstGeom prst="line">
            <a:avLst/>
          </a:prstGeom>
          <a:noFill/>
          <a:ln w="47625">
            <a:solidFill>
              <a:srgbClr val="0E8C84"/>
            </a:solidFill>
            <a:prstDash val="solid"/>
          </a:ln>
        </p:spPr>
      </p:sp>
      <p:sp>
        <p:nvSpPr>
          <p:cNvPr id="6" name="Shape 4"/>
          <p:cNvSpPr/>
          <p:nvPr/>
        </p:nvSpPr>
        <p:spPr>
          <a:xfrm>
            <a:off x="1930598" y="1069628"/>
            <a:ext cx="0" cy="2686050"/>
          </a:xfrm>
          <a:prstGeom prst="line">
            <a:avLst/>
          </a:prstGeom>
          <a:noFill/>
          <a:ln w="9525">
            <a:solidFill>
              <a:srgbClr val="D9E8E4"/>
            </a:solidFill>
            <a:prstDash val="solid"/>
          </a:ln>
        </p:spPr>
      </p:sp>
      <p:sp>
        <p:nvSpPr>
          <p:cNvPr id="7" name="Shape 5"/>
          <p:cNvSpPr/>
          <p:nvPr/>
        </p:nvSpPr>
        <p:spPr>
          <a:xfrm>
            <a:off x="381000" y="3750915"/>
            <a:ext cx="1554361" cy="0"/>
          </a:xfrm>
          <a:prstGeom prst="line">
            <a:avLst/>
          </a:prstGeom>
          <a:noFill/>
          <a:ln w="9525">
            <a:solidFill>
              <a:srgbClr val="D9E8E4"/>
            </a:solidFill>
            <a:prstDash val="solid"/>
          </a:ln>
        </p:spPr>
      </p:sp>
      <p:sp>
        <p:nvSpPr>
          <p:cNvPr id="8" name="Shape 6"/>
          <p:cNvSpPr/>
          <p:nvPr/>
        </p:nvSpPr>
        <p:spPr>
          <a:xfrm>
            <a:off x="385763" y="1069628"/>
            <a:ext cx="0" cy="2686050"/>
          </a:xfrm>
          <a:prstGeom prst="line">
            <a:avLst/>
          </a:prstGeom>
          <a:noFill/>
          <a:ln w="9525">
            <a:solidFill>
              <a:srgbClr val="D9E8E4"/>
            </a:solidFill>
            <a:prstDash val="solid"/>
          </a:ln>
        </p:spPr>
      </p:sp>
      <p:sp>
        <p:nvSpPr>
          <p:cNvPr id="9" name="Text 7"/>
          <p:cNvSpPr/>
          <p:nvPr/>
        </p:nvSpPr>
        <p:spPr>
          <a:xfrm>
            <a:off x="542925" y="1269653"/>
            <a:ext cx="1255121" cy="238125"/>
          </a:xfrm>
          <a:prstGeom prst="rect">
            <a:avLst/>
          </a:prstGeom>
          <a:noFill/>
          <a:ln/>
        </p:spPr>
        <p:txBody>
          <a:bodyPr wrap="square" lIns="0" tIns="0" rIns="0" bIns="0" rtlCol="0" anchor="t"/>
          <a:lstStyle/>
          <a:p>
            <a:pPr algn="l" indent="0" marL="0">
              <a:buNone/>
            </a:pPr>
            <a:r>
              <a:rPr lang="en-US" sz="1600" b="1" dirty="0">
                <a:solidFill>
                  <a:srgbClr val="34D399"/>
                </a:solidFill>
                <a:latin typeface="Arial" pitchFamily="34" charset="0"/>
                <a:ea typeface="Arial" pitchFamily="34" charset="-122"/>
                <a:cs typeface="Arial" pitchFamily="34" charset="-120"/>
              </a:rPr>
              <a:t>01</a:t>
            </a:r>
            <a:endParaRPr lang="en-US" sz="1600" dirty="0"/>
          </a:p>
        </p:txBody>
      </p:sp>
      <p:sp>
        <p:nvSpPr>
          <p:cNvPr id="10" name="Text 8"/>
          <p:cNvSpPr/>
          <p:nvPr/>
        </p:nvSpPr>
        <p:spPr>
          <a:xfrm>
            <a:off x="542925" y="1571179"/>
            <a:ext cx="1255121" cy="349151"/>
          </a:xfrm>
          <a:prstGeom prst="rect">
            <a:avLst/>
          </a:prstGeom>
          <a:noFill/>
          <a:ln/>
        </p:spPr>
        <p:txBody>
          <a:bodyPr wrap="square" lIns="0" tIns="0" rIns="0" bIns="0" rtlCol="0" anchor="t"/>
          <a:lstStyle/>
          <a:p>
            <a:pPr algn="l" indent="0" marL="0">
              <a:lnSpc>
                <a:spcPts val="1375"/>
              </a:lnSpc>
              <a:spcBef>
                <a:spcPts val="500"/>
              </a:spcBef>
              <a:buNone/>
            </a:pPr>
            <a:r>
              <a:rPr lang="en-US" sz="1100" b="1" dirty="0">
                <a:solidFill>
                  <a:srgbClr val="0B5E5C"/>
                </a:solidFill>
                <a:latin typeface="Arial" pitchFamily="34" charset="0"/>
                <a:ea typeface="Arial" pitchFamily="34" charset="-122"/>
                <a:cs typeface="Arial" pitchFamily="34" charset="-120"/>
              </a:rPr>
              <a:t>An toàn không nhường xác suất</a:t>
            </a:r>
            <a:endParaRPr lang="en-US" sz="1100" dirty="0"/>
          </a:p>
        </p:txBody>
      </p:sp>
      <p:sp>
        <p:nvSpPr>
          <p:cNvPr id="11" name="Text 9"/>
          <p:cNvSpPr/>
          <p:nvPr/>
        </p:nvSpPr>
        <p:spPr>
          <a:xfrm>
            <a:off x="542925" y="1983730"/>
            <a:ext cx="1255121" cy="297061"/>
          </a:xfrm>
          <a:prstGeom prst="rect">
            <a:avLst/>
          </a:prstGeom>
          <a:noFill/>
          <a:ln/>
        </p:spPr>
        <p:txBody>
          <a:bodyPr wrap="square" lIns="0" tIns="0" rIns="0" bIns="0" rtlCol="0" anchor="t"/>
          <a:lstStyle/>
          <a:p>
            <a:pPr algn="l" indent="0" marL="0">
              <a:lnSpc>
                <a:spcPts val="1170"/>
              </a:lnSpc>
              <a:spcBef>
                <a:spcPts val="500"/>
              </a:spcBef>
              <a:buNone/>
            </a:pPr>
            <a:r>
              <a:rPr lang="en-US" sz="900" dirty="0">
                <a:solidFill>
                  <a:srgbClr val="5C7470"/>
                </a:solidFill>
                <a:latin typeface="Arial" pitchFamily="34" charset="0"/>
                <a:ea typeface="Arial" pitchFamily="34" charset="-122"/>
                <a:cs typeface="Arial" pitchFamily="34" charset="-120"/>
              </a:rPr>
              <a:t>Rule safety ép P5 dù model nghĩ khác.</a:t>
            </a:r>
            <a:endParaRPr lang="en-US" sz="900" dirty="0"/>
          </a:p>
        </p:txBody>
      </p:sp>
      <p:sp>
        <p:nvSpPr>
          <p:cNvPr id="12" name="Text 10"/>
          <p:cNvSpPr/>
          <p:nvPr/>
        </p:nvSpPr>
        <p:spPr>
          <a:xfrm>
            <a:off x="2087761" y="1069628"/>
            <a:ext cx="1554510" cy="2686050"/>
          </a:xfrm>
          <a:prstGeom prst="roundRect">
            <a:avLst>
              <a:gd name="adj" fmla="val 8170"/>
            </a:avLst>
          </a:prstGeom>
          <a:solidFill>
            <a:srgbClr val="FFFFFF"/>
          </a:solidFill>
          <a:ln/>
        </p:spPr>
        <p:txBody>
          <a:bodyPr wrap="square" rtlCol="0" anchor="ctr"/>
          <a:lstStyle/>
          <a:p>
            <a:pPr indent="0" marL="0">
              <a:buNone/>
            </a:pPr>
            <a:endParaRPr lang="en-US" dirty="0"/>
          </a:p>
        </p:txBody>
      </p:sp>
      <p:sp>
        <p:nvSpPr>
          <p:cNvPr id="13" name="Shape 11"/>
          <p:cNvSpPr/>
          <p:nvPr/>
        </p:nvSpPr>
        <p:spPr>
          <a:xfrm>
            <a:off x="2087761" y="1093440"/>
            <a:ext cx="1554510" cy="0"/>
          </a:xfrm>
          <a:prstGeom prst="line">
            <a:avLst/>
          </a:prstGeom>
          <a:noFill/>
          <a:ln w="47625">
            <a:solidFill>
              <a:srgbClr val="0E8C84"/>
            </a:solidFill>
            <a:prstDash val="solid"/>
          </a:ln>
        </p:spPr>
      </p:sp>
      <p:sp>
        <p:nvSpPr>
          <p:cNvPr id="14" name="Shape 12"/>
          <p:cNvSpPr/>
          <p:nvPr/>
        </p:nvSpPr>
        <p:spPr>
          <a:xfrm>
            <a:off x="3637508" y="1069628"/>
            <a:ext cx="0" cy="2686050"/>
          </a:xfrm>
          <a:prstGeom prst="line">
            <a:avLst/>
          </a:prstGeom>
          <a:noFill/>
          <a:ln w="9525">
            <a:solidFill>
              <a:srgbClr val="D9E8E4"/>
            </a:solidFill>
            <a:prstDash val="solid"/>
          </a:ln>
        </p:spPr>
      </p:sp>
      <p:sp>
        <p:nvSpPr>
          <p:cNvPr id="15" name="Shape 13"/>
          <p:cNvSpPr/>
          <p:nvPr/>
        </p:nvSpPr>
        <p:spPr>
          <a:xfrm>
            <a:off x="2087761" y="3750915"/>
            <a:ext cx="1554510" cy="0"/>
          </a:xfrm>
          <a:prstGeom prst="line">
            <a:avLst/>
          </a:prstGeom>
          <a:noFill/>
          <a:ln w="9525">
            <a:solidFill>
              <a:srgbClr val="D9E8E4"/>
            </a:solidFill>
            <a:prstDash val="solid"/>
          </a:ln>
        </p:spPr>
      </p:sp>
      <p:sp>
        <p:nvSpPr>
          <p:cNvPr id="16" name="Shape 14"/>
          <p:cNvSpPr/>
          <p:nvPr/>
        </p:nvSpPr>
        <p:spPr>
          <a:xfrm>
            <a:off x="2092523" y="1069628"/>
            <a:ext cx="0" cy="2686050"/>
          </a:xfrm>
          <a:prstGeom prst="line">
            <a:avLst/>
          </a:prstGeom>
          <a:noFill/>
          <a:ln w="9525">
            <a:solidFill>
              <a:srgbClr val="D9E8E4"/>
            </a:solidFill>
            <a:prstDash val="solid"/>
          </a:ln>
        </p:spPr>
      </p:sp>
      <p:sp>
        <p:nvSpPr>
          <p:cNvPr id="17" name="Text 15"/>
          <p:cNvSpPr/>
          <p:nvPr/>
        </p:nvSpPr>
        <p:spPr>
          <a:xfrm>
            <a:off x="2249686" y="1269653"/>
            <a:ext cx="1255273" cy="238125"/>
          </a:xfrm>
          <a:prstGeom prst="rect">
            <a:avLst/>
          </a:prstGeom>
          <a:noFill/>
          <a:ln/>
        </p:spPr>
        <p:txBody>
          <a:bodyPr wrap="square" lIns="0" tIns="0" rIns="0" bIns="0" rtlCol="0" anchor="t"/>
          <a:lstStyle/>
          <a:p>
            <a:pPr algn="l" indent="0" marL="0">
              <a:buNone/>
            </a:pPr>
            <a:r>
              <a:rPr lang="en-US" sz="1600" b="1" dirty="0">
                <a:solidFill>
                  <a:srgbClr val="34D399"/>
                </a:solidFill>
                <a:latin typeface="Arial" pitchFamily="34" charset="0"/>
                <a:ea typeface="Arial" pitchFamily="34" charset="-122"/>
                <a:cs typeface="Arial" pitchFamily="34" charset="-120"/>
              </a:rPr>
              <a:t>02</a:t>
            </a:r>
            <a:endParaRPr lang="en-US" sz="1600" dirty="0"/>
          </a:p>
        </p:txBody>
      </p:sp>
      <p:sp>
        <p:nvSpPr>
          <p:cNvPr id="18" name="Text 16"/>
          <p:cNvSpPr/>
          <p:nvPr/>
        </p:nvSpPr>
        <p:spPr>
          <a:xfrm>
            <a:off x="2249686" y="1571179"/>
            <a:ext cx="1255273" cy="349151"/>
          </a:xfrm>
          <a:prstGeom prst="rect">
            <a:avLst/>
          </a:prstGeom>
          <a:noFill/>
          <a:ln/>
        </p:spPr>
        <p:txBody>
          <a:bodyPr wrap="square" lIns="0" tIns="0" rIns="0" bIns="0" rtlCol="0" anchor="t"/>
          <a:lstStyle/>
          <a:p>
            <a:pPr algn="l" indent="0" marL="0">
              <a:lnSpc>
                <a:spcPts val="1375"/>
              </a:lnSpc>
              <a:spcBef>
                <a:spcPts val="500"/>
              </a:spcBef>
              <a:buNone/>
            </a:pPr>
            <a:r>
              <a:rPr lang="en-US" sz="1100" b="1" dirty="0">
                <a:solidFill>
                  <a:srgbClr val="0B5E5C"/>
                </a:solidFill>
                <a:latin typeface="Arial" pitchFamily="34" charset="0"/>
                <a:ea typeface="Arial" pitchFamily="34" charset="-122"/>
                <a:cs typeface="Arial" pitchFamily="34" charset="-120"/>
              </a:rPr>
              <a:t>Human-in-the-loop</a:t>
            </a:r>
            <a:endParaRPr lang="en-US" sz="1100" dirty="0"/>
          </a:p>
        </p:txBody>
      </p:sp>
      <p:sp>
        <p:nvSpPr>
          <p:cNvPr id="19" name="Text 17"/>
          <p:cNvSpPr/>
          <p:nvPr/>
        </p:nvSpPr>
        <p:spPr>
          <a:xfrm>
            <a:off x="2249686" y="1983730"/>
            <a:ext cx="1255273" cy="445591"/>
          </a:xfrm>
          <a:prstGeom prst="rect">
            <a:avLst/>
          </a:prstGeom>
          <a:noFill/>
          <a:ln/>
        </p:spPr>
        <p:txBody>
          <a:bodyPr wrap="square" lIns="0" tIns="0" rIns="0" bIns="0" rtlCol="0" anchor="t"/>
          <a:lstStyle/>
          <a:p>
            <a:pPr algn="l" indent="0" marL="0">
              <a:lnSpc>
                <a:spcPts val="1170"/>
              </a:lnSpc>
              <a:spcBef>
                <a:spcPts val="500"/>
              </a:spcBef>
              <a:buNone/>
            </a:pPr>
            <a:r>
              <a:rPr lang="en-US" sz="900" dirty="0">
                <a:solidFill>
                  <a:srgbClr val="5C7470"/>
                </a:solidFill>
                <a:latin typeface="Arial" pitchFamily="34" charset="0"/>
                <a:ea typeface="Arial" pitchFamily="34" charset="-122"/>
                <a:cs typeface="Arial" pitchFamily="34" charset="-120"/>
              </a:rPr>
              <a:t>Máy đề xuất, con người quyết &amp; chịu trách nhiệm.</a:t>
            </a:r>
            <a:endParaRPr lang="en-US" sz="900" dirty="0"/>
          </a:p>
        </p:txBody>
      </p:sp>
      <p:sp>
        <p:nvSpPr>
          <p:cNvPr id="20" name="Text 18"/>
          <p:cNvSpPr/>
          <p:nvPr/>
        </p:nvSpPr>
        <p:spPr>
          <a:xfrm>
            <a:off x="3794671" y="1069628"/>
            <a:ext cx="1554510" cy="2686050"/>
          </a:xfrm>
          <a:prstGeom prst="roundRect">
            <a:avLst>
              <a:gd name="adj" fmla="val 8170"/>
            </a:avLst>
          </a:prstGeom>
          <a:solidFill>
            <a:srgbClr val="FFFFFF"/>
          </a:solidFill>
          <a:ln/>
        </p:spPr>
        <p:txBody>
          <a:bodyPr wrap="square" rtlCol="0" anchor="ctr"/>
          <a:lstStyle/>
          <a:p>
            <a:pPr indent="0" marL="0">
              <a:buNone/>
            </a:pPr>
            <a:endParaRPr lang="en-US" dirty="0"/>
          </a:p>
        </p:txBody>
      </p:sp>
      <p:sp>
        <p:nvSpPr>
          <p:cNvPr id="21" name="Shape 19"/>
          <p:cNvSpPr/>
          <p:nvPr/>
        </p:nvSpPr>
        <p:spPr>
          <a:xfrm>
            <a:off x="3794671" y="1093440"/>
            <a:ext cx="1554510" cy="0"/>
          </a:xfrm>
          <a:prstGeom prst="line">
            <a:avLst/>
          </a:prstGeom>
          <a:noFill/>
          <a:ln w="47625">
            <a:solidFill>
              <a:srgbClr val="0E8C84"/>
            </a:solidFill>
            <a:prstDash val="solid"/>
          </a:ln>
        </p:spPr>
      </p:sp>
      <p:sp>
        <p:nvSpPr>
          <p:cNvPr id="22" name="Shape 20"/>
          <p:cNvSpPr/>
          <p:nvPr/>
        </p:nvSpPr>
        <p:spPr>
          <a:xfrm>
            <a:off x="5344418" y="1069628"/>
            <a:ext cx="0" cy="2686050"/>
          </a:xfrm>
          <a:prstGeom prst="line">
            <a:avLst/>
          </a:prstGeom>
          <a:noFill/>
          <a:ln w="9525">
            <a:solidFill>
              <a:srgbClr val="D9E8E4"/>
            </a:solidFill>
            <a:prstDash val="solid"/>
          </a:ln>
        </p:spPr>
      </p:sp>
      <p:sp>
        <p:nvSpPr>
          <p:cNvPr id="23" name="Shape 21"/>
          <p:cNvSpPr/>
          <p:nvPr/>
        </p:nvSpPr>
        <p:spPr>
          <a:xfrm>
            <a:off x="3794671" y="3750915"/>
            <a:ext cx="1554510" cy="0"/>
          </a:xfrm>
          <a:prstGeom prst="line">
            <a:avLst/>
          </a:prstGeom>
          <a:noFill/>
          <a:ln w="9525">
            <a:solidFill>
              <a:srgbClr val="D9E8E4"/>
            </a:solidFill>
            <a:prstDash val="solid"/>
          </a:ln>
        </p:spPr>
      </p:sp>
      <p:sp>
        <p:nvSpPr>
          <p:cNvPr id="24" name="Shape 22"/>
          <p:cNvSpPr/>
          <p:nvPr/>
        </p:nvSpPr>
        <p:spPr>
          <a:xfrm>
            <a:off x="3799433" y="1069628"/>
            <a:ext cx="0" cy="2686050"/>
          </a:xfrm>
          <a:prstGeom prst="line">
            <a:avLst/>
          </a:prstGeom>
          <a:noFill/>
          <a:ln w="9525">
            <a:solidFill>
              <a:srgbClr val="D9E8E4"/>
            </a:solidFill>
            <a:prstDash val="solid"/>
          </a:ln>
        </p:spPr>
      </p:sp>
      <p:sp>
        <p:nvSpPr>
          <p:cNvPr id="25" name="Text 23"/>
          <p:cNvSpPr/>
          <p:nvPr/>
        </p:nvSpPr>
        <p:spPr>
          <a:xfrm>
            <a:off x="3956596" y="1269653"/>
            <a:ext cx="1255273" cy="238125"/>
          </a:xfrm>
          <a:prstGeom prst="rect">
            <a:avLst/>
          </a:prstGeom>
          <a:noFill/>
          <a:ln/>
        </p:spPr>
        <p:txBody>
          <a:bodyPr wrap="square" lIns="0" tIns="0" rIns="0" bIns="0" rtlCol="0" anchor="t"/>
          <a:lstStyle/>
          <a:p>
            <a:pPr algn="l" indent="0" marL="0">
              <a:buNone/>
            </a:pPr>
            <a:r>
              <a:rPr lang="en-US" sz="1600" b="1" dirty="0">
                <a:solidFill>
                  <a:srgbClr val="34D399"/>
                </a:solidFill>
                <a:latin typeface="Arial" pitchFamily="34" charset="0"/>
                <a:ea typeface="Arial" pitchFamily="34" charset="-122"/>
                <a:cs typeface="Arial" pitchFamily="34" charset="-120"/>
              </a:rPr>
              <a:t>03</a:t>
            </a:r>
            <a:endParaRPr lang="en-US" sz="1600" dirty="0"/>
          </a:p>
        </p:txBody>
      </p:sp>
      <p:sp>
        <p:nvSpPr>
          <p:cNvPr id="26" name="Text 24"/>
          <p:cNvSpPr/>
          <p:nvPr/>
        </p:nvSpPr>
        <p:spPr>
          <a:xfrm>
            <a:off x="3956596" y="1571179"/>
            <a:ext cx="1255273" cy="349151"/>
          </a:xfrm>
          <a:prstGeom prst="rect">
            <a:avLst/>
          </a:prstGeom>
          <a:noFill/>
          <a:ln/>
        </p:spPr>
        <p:txBody>
          <a:bodyPr wrap="square" lIns="0" tIns="0" rIns="0" bIns="0" rtlCol="0" anchor="t"/>
          <a:lstStyle/>
          <a:p>
            <a:pPr algn="l" indent="0" marL="0">
              <a:lnSpc>
                <a:spcPts val="1375"/>
              </a:lnSpc>
              <a:spcBef>
                <a:spcPts val="500"/>
              </a:spcBef>
              <a:buNone/>
            </a:pPr>
            <a:r>
              <a:rPr lang="en-US" sz="1100" b="1" dirty="0">
                <a:solidFill>
                  <a:srgbClr val="0B5E5C"/>
                </a:solidFill>
                <a:latin typeface="Arial" pitchFamily="34" charset="0"/>
                <a:ea typeface="Arial" pitchFamily="34" charset="-122"/>
                <a:cs typeface="Arial" pitchFamily="34" charset="-120"/>
              </a:rPr>
              <a:t>Phân quyền tự động</a:t>
            </a:r>
            <a:endParaRPr lang="en-US" sz="1100" dirty="0"/>
          </a:p>
        </p:txBody>
      </p:sp>
      <p:sp>
        <p:nvSpPr>
          <p:cNvPr id="27" name="Text 25"/>
          <p:cNvSpPr/>
          <p:nvPr/>
        </p:nvSpPr>
        <p:spPr>
          <a:xfrm>
            <a:off x="3956596" y="1983730"/>
            <a:ext cx="1255273" cy="297061"/>
          </a:xfrm>
          <a:prstGeom prst="rect">
            <a:avLst/>
          </a:prstGeom>
          <a:noFill/>
          <a:ln/>
        </p:spPr>
        <p:txBody>
          <a:bodyPr wrap="square" lIns="0" tIns="0" rIns="0" bIns="0" rtlCol="0" anchor="t"/>
          <a:lstStyle/>
          <a:p>
            <a:pPr algn="l" indent="0" marL="0">
              <a:lnSpc>
                <a:spcPts val="1170"/>
              </a:lnSpc>
              <a:spcBef>
                <a:spcPts val="500"/>
              </a:spcBef>
              <a:buNone/>
            </a:pPr>
            <a:r>
              <a:rPr lang="en-US" sz="900" dirty="0">
                <a:solidFill>
                  <a:srgbClr val="5C7470"/>
                </a:solidFill>
                <a:latin typeface="Arial" pitchFamily="34" charset="0"/>
                <a:ea typeface="Arial" pitchFamily="34" charset="-122"/>
                <a:cs typeface="Arial" pitchFamily="34" charset="-120"/>
              </a:rPr>
              <a:t>RBAC 4 vai trò, dữ liệu lọc theo role qua RLS.</a:t>
            </a:r>
            <a:endParaRPr lang="en-US" sz="900" dirty="0"/>
          </a:p>
        </p:txBody>
      </p:sp>
      <p:sp>
        <p:nvSpPr>
          <p:cNvPr id="28" name="Text 26"/>
          <p:cNvSpPr/>
          <p:nvPr/>
        </p:nvSpPr>
        <p:spPr>
          <a:xfrm>
            <a:off x="5501580" y="1069628"/>
            <a:ext cx="1554510" cy="2686050"/>
          </a:xfrm>
          <a:prstGeom prst="roundRect">
            <a:avLst>
              <a:gd name="adj" fmla="val 8170"/>
            </a:avLst>
          </a:prstGeom>
          <a:solidFill>
            <a:srgbClr val="FFFFFF"/>
          </a:solidFill>
          <a:ln/>
        </p:spPr>
        <p:txBody>
          <a:bodyPr wrap="square" rtlCol="0" anchor="ctr"/>
          <a:lstStyle/>
          <a:p>
            <a:pPr indent="0" marL="0">
              <a:buNone/>
            </a:pPr>
            <a:endParaRPr lang="en-US" dirty="0"/>
          </a:p>
        </p:txBody>
      </p:sp>
      <p:sp>
        <p:nvSpPr>
          <p:cNvPr id="29" name="Shape 27"/>
          <p:cNvSpPr/>
          <p:nvPr/>
        </p:nvSpPr>
        <p:spPr>
          <a:xfrm>
            <a:off x="5501580" y="1093440"/>
            <a:ext cx="1554510" cy="0"/>
          </a:xfrm>
          <a:prstGeom prst="line">
            <a:avLst/>
          </a:prstGeom>
          <a:noFill/>
          <a:ln w="47625">
            <a:solidFill>
              <a:srgbClr val="0E8C84"/>
            </a:solidFill>
            <a:prstDash val="solid"/>
          </a:ln>
        </p:spPr>
      </p:sp>
      <p:sp>
        <p:nvSpPr>
          <p:cNvPr id="30" name="Shape 28"/>
          <p:cNvSpPr/>
          <p:nvPr/>
        </p:nvSpPr>
        <p:spPr>
          <a:xfrm>
            <a:off x="7051328" y="1069628"/>
            <a:ext cx="0" cy="2686050"/>
          </a:xfrm>
          <a:prstGeom prst="line">
            <a:avLst/>
          </a:prstGeom>
          <a:noFill/>
          <a:ln w="9525">
            <a:solidFill>
              <a:srgbClr val="D9E8E4"/>
            </a:solidFill>
            <a:prstDash val="solid"/>
          </a:ln>
        </p:spPr>
      </p:sp>
      <p:sp>
        <p:nvSpPr>
          <p:cNvPr id="31" name="Shape 29"/>
          <p:cNvSpPr/>
          <p:nvPr/>
        </p:nvSpPr>
        <p:spPr>
          <a:xfrm>
            <a:off x="5501580" y="3750915"/>
            <a:ext cx="1554510" cy="0"/>
          </a:xfrm>
          <a:prstGeom prst="line">
            <a:avLst/>
          </a:prstGeom>
          <a:noFill/>
          <a:ln w="9525">
            <a:solidFill>
              <a:srgbClr val="D9E8E4"/>
            </a:solidFill>
            <a:prstDash val="solid"/>
          </a:ln>
        </p:spPr>
      </p:sp>
      <p:sp>
        <p:nvSpPr>
          <p:cNvPr id="32" name="Shape 30"/>
          <p:cNvSpPr/>
          <p:nvPr/>
        </p:nvSpPr>
        <p:spPr>
          <a:xfrm>
            <a:off x="5506343" y="1069628"/>
            <a:ext cx="0" cy="2686050"/>
          </a:xfrm>
          <a:prstGeom prst="line">
            <a:avLst/>
          </a:prstGeom>
          <a:noFill/>
          <a:ln w="9525">
            <a:solidFill>
              <a:srgbClr val="D9E8E4"/>
            </a:solidFill>
            <a:prstDash val="solid"/>
          </a:ln>
        </p:spPr>
      </p:sp>
      <p:sp>
        <p:nvSpPr>
          <p:cNvPr id="33" name="Text 31"/>
          <p:cNvSpPr/>
          <p:nvPr/>
        </p:nvSpPr>
        <p:spPr>
          <a:xfrm>
            <a:off x="5663505" y="1269653"/>
            <a:ext cx="1255273" cy="238125"/>
          </a:xfrm>
          <a:prstGeom prst="rect">
            <a:avLst/>
          </a:prstGeom>
          <a:noFill/>
          <a:ln/>
        </p:spPr>
        <p:txBody>
          <a:bodyPr wrap="square" lIns="0" tIns="0" rIns="0" bIns="0" rtlCol="0" anchor="t"/>
          <a:lstStyle/>
          <a:p>
            <a:pPr algn="l" indent="0" marL="0">
              <a:buNone/>
            </a:pPr>
            <a:r>
              <a:rPr lang="en-US" sz="1600" b="1" dirty="0">
                <a:solidFill>
                  <a:srgbClr val="34D399"/>
                </a:solidFill>
                <a:latin typeface="Arial" pitchFamily="34" charset="0"/>
                <a:ea typeface="Arial" pitchFamily="34" charset="-122"/>
                <a:cs typeface="Arial" pitchFamily="34" charset="-120"/>
              </a:rPr>
              <a:t>04</a:t>
            </a:r>
            <a:endParaRPr lang="en-US" sz="1600" dirty="0"/>
          </a:p>
        </p:txBody>
      </p:sp>
      <p:sp>
        <p:nvSpPr>
          <p:cNvPr id="34" name="Text 32"/>
          <p:cNvSpPr/>
          <p:nvPr/>
        </p:nvSpPr>
        <p:spPr>
          <a:xfrm>
            <a:off x="5663505" y="1571179"/>
            <a:ext cx="1255273" cy="349151"/>
          </a:xfrm>
          <a:prstGeom prst="rect">
            <a:avLst/>
          </a:prstGeom>
          <a:noFill/>
          <a:ln/>
        </p:spPr>
        <p:txBody>
          <a:bodyPr wrap="square" lIns="0" tIns="0" rIns="0" bIns="0" rtlCol="0" anchor="t"/>
          <a:lstStyle/>
          <a:p>
            <a:pPr algn="l" indent="0" marL="0">
              <a:lnSpc>
                <a:spcPts val="1375"/>
              </a:lnSpc>
              <a:spcBef>
                <a:spcPts val="500"/>
              </a:spcBef>
              <a:buNone/>
            </a:pPr>
            <a:r>
              <a:rPr lang="en-US" sz="1100" b="1" dirty="0">
                <a:solidFill>
                  <a:srgbClr val="0B5E5C"/>
                </a:solidFill>
                <a:latin typeface="Arial" pitchFamily="34" charset="0"/>
                <a:ea typeface="Arial" pitchFamily="34" charset="-122"/>
                <a:cs typeface="Arial" pitchFamily="34" charset="-120"/>
              </a:rPr>
              <a:t>Khép kín phản hồi → hành động</a:t>
            </a:r>
            <a:endParaRPr lang="en-US" sz="1100" dirty="0"/>
          </a:p>
        </p:txBody>
      </p:sp>
      <p:sp>
        <p:nvSpPr>
          <p:cNvPr id="35" name="Text 33"/>
          <p:cNvSpPr/>
          <p:nvPr/>
        </p:nvSpPr>
        <p:spPr>
          <a:xfrm>
            <a:off x="5663505" y="1983730"/>
            <a:ext cx="1255273" cy="297061"/>
          </a:xfrm>
          <a:prstGeom prst="rect">
            <a:avLst/>
          </a:prstGeom>
          <a:noFill/>
          <a:ln/>
        </p:spPr>
        <p:txBody>
          <a:bodyPr wrap="square" lIns="0" tIns="0" rIns="0" bIns="0" rtlCol="0" anchor="t"/>
          <a:lstStyle/>
          <a:p>
            <a:pPr algn="l" indent="0" marL="0">
              <a:lnSpc>
                <a:spcPts val="1170"/>
              </a:lnSpc>
              <a:spcBef>
                <a:spcPts val="500"/>
              </a:spcBef>
              <a:buNone/>
            </a:pPr>
            <a:r>
              <a:rPr lang="en-US" sz="900" dirty="0">
                <a:solidFill>
                  <a:srgbClr val="5C7470"/>
                </a:solidFill>
                <a:latin typeface="Arial" pitchFamily="34" charset="0"/>
                <a:ea typeface="Arial" pitchFamily="34" charset="-122"/>
                <a:cs typeface="Arial" pitchFamily="34" charset="-120"/>
              </a:rPr>
              <a:t>Mọi phân tích phải dẫn tới việc được giao.</a:t>
            </a:r>
            <a:endParaRPr lang="en-US" sz="900" dirty="0"/>
          </a:p>
        </p:txBody>
      </p:sp>
      <p:sp>
        <p:nvSpPr>
          <p:cNvPr id="36" name="Text 34"/>
          <p:cNvSpPr/>
          <p:nvPr/>
        </p:nvSpPr>
        <p:spPr>
          <a:xfrm>
            <a:off x="7208490" y="1069628"/>
            <a:ext cx="1554510" cy="2686050"/>
          </a:xfrm>
          <a:prstGeom prst="roundRect">
            <a:avLst>
              <a:gd name="adj" fmla="val 8170"/>
            </a:avLst>
          </a:prstGeom>
          <a:solidFill>
            <a:srgbClr val="FFFFFF"/>
          </a:solidFill>
          <a:ln/>
        </p:spPr>
        <p:txBody>
          <a:bodyPr wrap="square" rtlCol="0" anchor="ctr"/>
          <a:lstStyle/>
          <a:p>
            <a:pPr indent="0" marL="0">
              <a:buNone/>
            </a:pPr>
            <a:endParaRPr lang="en-US" dirty="0"/>
          </a:p>
        </p:txBody>
      </p:sp>
      <p:sp>
        <p:nvSpPr>
          <p:cNvPr id="37" name="Shape 35"/>
          <p:cNvSpPr/>
          <p:nvPr/>
        </p:nvSpPr>
        <p:spPr>
          <a:xfrm>
            <a:off x="7208490" y="1093440"/>
            <a:ext cx="1554510" cy="0"/>
          </a:xfrm>
          <a:prstGeom prst="line">
            <a:avLst/>
          </a:prstGeom>
          <a:noFill/>
          <a:ln w="47625">
            <a:solidFill>
              <a:srgbClr val="0E8C84"/>
            </a:solidFill>
            <a:prstDash val="solid"/>
          </a:ln>
        </p:spPr>
      </p:sp>
      <p:sp>
        <p:nvSpPr>
          <p:cNvPr id="38" name="Shape 36"/>
          <p:cNvSpPr/>
          <p:nvPr/>
        </p:nvSpPr>
        <p:spPr>
          <a:xfrm>
            <a:off x="8758238" y="1069628"/>
            <a:ext cx="0" cy="2686050"/>
          </a:xfrm>
          <a:prstGeom prst="line">
            <a:avLst/>
          </a:prstGeom>
          <a:noFill/>
          <a:ln w="9525">
            <a:solidFill>
              <a:srgbClr val="D9E8E4"/>
            </a:solidFill>
            <a:prstDash val="solid"/>
          </a:ln>
        </p:spPr>
      </p:sp>
      <p:sp>
        <p:nvSpPr>
          <p:cNvPr id="39" name="Shape 37"/>
          <p:cNvSpPr/>
          <p:nvPr/>
        </p:nvSpPr>
        <p:spPr>
          <a:xfrm>
            <a:off x="7208490" y="3750915"/>
            <a:ext cx="1554510" cy="0"/>
          </a:xfrm>
          <a:prstGeom prst="line">
            <a:avLst/>
          </a:prstGeom>
          <a:noFill/>
          <a:ln w="9525">
            <a:solidFill>
              <a:srgbClr val="D9E8E4"/>
            </a:solidFill>
            <a:prstDash val="solid"/>
          </a:ln>
        </p:spPr>
      </p:sp>
      <p:sp>
        <p:nvSpPr>
          <p:cNvPr id="40" name="Shape 38"/>
          <p:cNvSpPr/>
          <p:nvPr/>
        </p:nvSpPr>
        <p:spPr>
          <a:xfrm>
            <a:off x="7213253" y="1069628"/>
            <a:ext cx="0" cy="2686050"/>
          </a:xfrm>
          <a:prstGeom prst="line">
            <a:avLst/>
          </a:prstGeom>
          <a:noFill/>
          <a:ln w="9525">
            <a:solidFill>
              <a:srgbClr val="D9E8E4"/>
            </a:solidFill>
            <a:prstDash val="solid"/>
          </a:ln>
        </p:spPr>
      </p:sp>
      <p:sp>
        <p:nvSpPr>
          <p:cNvPr id="41" name="Text 39"/>
          <p:cNvSpPr/>
          <p:nvPr/>
        </p:nvSpPr>
        <p:spPr>
          <a:xfrm>
            <a:off x="7370415" y="1269653"/>
            <a:ext cx="1255273" cy="238125"/>
          </a:xfrm>
          <a:prstGeom prst="rect">
            <a:avLst/>
          </a:prstGeom>
          <a:noFill/>
          <a:ln/>
        </p:spPr>
        <p:txBody>
          <a:bodyPr wrap="square" lIns="0" tIns="0" rIns="0" bIns="0" rtlCol="0" anchor="t"/>
          <a:lstStyle/>
          <a:p>
            <a:pPr algn="l" indent="0" marL="0">
              <a:buNone/>
            </a:pPr>
            <a:r>
              <a:rPr lang="en-US" sz="1600" b="1" dirty="0">
                <a:solidFill>
                  <a:srgbClr val="34D399"/>
                </a:solidFill>
                <a:latin typeface="Arial" pitchFamily="34" charset="0"/>
                <a:ea typeface="Arial" pitchFamily="34" charset="-122"/>
                <a:cs typeface="Arial" pitchFamily="34" charset="-120"/>
              </a:rPr>
              <a:t>05</a:t>
            </a:r>
            <a:endParaRPr lang="en-US" sz="1600" dirty="0"/>
          </a:p>
        </p:txBody>
      </p:sp>
      <p:sp>
        <p:nvSpPr>
          <p:cNvPr id="42" name="Text 40"/>
          <p:cNvSpPr/>
          <p:nvPr/>
        </p:nvSpPr>
        <p:spPr>
          <a:xfrm>
            <a:off x="7370415" y="1571179"/>
            <a:ext cx="1255273" cy="174575"/>
          </a:xfrm>
          <a:prstGeom prst="rect">
            <a:avLst/>
          </a:prstGeom>
          <a:noFill/>
          <a:ln/>
        </p:spPr>
        <p:txBody>
          <a:bodyPr wrap="square" lIns="0" tIns="0" rIns="0" bIns="0" rtlCol="0" anchor="t"/>
          <a:lstStyle/>
          <a:p>
            <a:pPr algn="l" indent="0" marL="0">
              <a:lnSpc>
                <a:spcPts val="1375"/>
              </a:lnSpc>
              <a:spcBef>
                <a:spcPts val="500"/>
              </a:spcBef>
              <a:buNone/>
            </a:pPr>
            <a:r>
              <a:rPr lang="en-US" sz="1100" b="1" dirty="0">
                <a:solidFill>
                  <a:srgbClr val="0B5E5C"/>
                </a:solidFill>
                <a:latin typeface="Arial" pitchFamily="34" charset="0"/>
                <a:ea typeface="Arial" pitchFamily="34" charset="-122"/>
                <a:cs typeface="Arial" pitchFamily="34" charset="-120"/>
              </a:rPr>
              <a:t>Realtime-first</a:t>
            </a:r>
            <a:endParaRPr lang="en-US" sz="1100" dirty="0"/>
          </a:p>
        </p:txBody>
      </p:sp>
      <p:sp>
        <p:nvSpPr>
          <p:cNvPr id="43" name="Text 41"/>
          <p:cNvSpPr/>
          <p:nvPr/>
        </p:nvSpPr>
        <p:spPr>
          <a:xfrm>
            <a:off x="7370415" y="1809155"/>
            <a:ext cx="1255273" cy="445591"/>
          </a:xfrm>
          <a:prstGeom prst="rect">
            <a:avLst/>
          </a:prstGeom>
          <a:noFill/>
          <a:ln/>
        </p:spPr>
        <p:txBody>
          <a:bodyPr wrap="square" lIns="0" tIns="0" rIns="0" bIns="0" rtlCol="0" anchor="t"/>
          <a:lstStyle/>
          <a:p>
            <a:pPr algn="l" indent="0" marL="0">
              <a:lnSpc>
                <a:spcPts val="1170"/>
              </a:lnSpc>
              <a:spcBef>
                <a:spcPts val="500"/>
              </a:spcBef>
              <a:buNone/>
            </a:pPr>
            <a:r>
              <a:rPr lang="en-US" sz="900" dirty="0">
                <a:solidFill>
                  <a:srgbClr val="5C7470"/>
                </a:solidFill>
                <a:latin typeface="Arial" pitchFamily="34" charset="0"/>
                <a:ea typeface="Arial" pitchFamily="34" charset="-122"/>
                <a:cs typeface="Arial" pitchFamily="34" charset="-120"/>
              </a:rPr>
              <a:t>Thấy vấn đề khi nó đang xảy ra, không phải hôm sau.</a:t>
            </a:r>
            <a:endParaRPr lang="en-US" sz="900" dirty="0"/>
          </a:p>
        </p:txBody>
      </p:sp>
      <p:sp>
        <p:nvSpPr>
          <p:cNvPr id="44" name="Text 42"/>
          <p:cNvSpPr/>
          <p:nvPr/>
        </p:nvSpPr>
        <p:spPr>
          <a:xfrm>
            <a:off x="381000" y="3958828"/>
            <a:ext cx="8382000" cy="714970"/>
          </a:xfrm>
          <a:prstGeom prst="roundRect">
            <a:avLst>
              <a:gd name="adj" fmla="val 17763"/>
            </a:avLst>
          </a:prstGeom>
          <a:solidFill>
            <a:srgbClr val="FFFFFF"/>
          </a:solidFill>
          <a:ln/>
        </p:spPr>
        <p:txBody>
          <a:bodyPr wrap="square" rtlCol="0" anchor="ctr"/>
          <a:lstStyle/>
          <a:p>
            <a:pPr indent="0" marL="0">
              <a:buNone/>
            </a:pPr>
            <a:endParaRPr lang="en-US" dirty="0"/>
          </a:p>
        </p:txBody>
      </p:sp>
      <p:sp>
        <p:nvSpPr>
          <p:cNvPr id="45" name="Shape 43"/>
          <p:cNvSpPr/>
          <p:nvPr/>
        </p:nvSpPr>
        <p:spPr>
          <a:xfrm>
            <a:off x="381000" y="3963591"/>
            <a:ext cx="8382000" cy="0"/>
          </a:xfrm>
          <a:prstGeom prst="line">
            <a:avLst/>
          </a:prstGeom>
          <a:noFill/>
          <a:ln w="9525">
            <a:solidFill>
              <a:srgbClr val="D9E8E4"/>
            </a:solidFill>
            <a:prstDash val="solid"/>
          </a:ln>
        </p:spPr>
      </p:sp>
      <p:sp>
        <p:nvSpPr>
          <p:cNvPr id="46" name="Shape 44"/>
          <p:cNvSpPr/>
          <p:nvPr/>
        </p:nvSpPr>
        <p:spPr>
          <a:xfrm>
            <a:off x="8758237" y="3958828"/>
            <a:ext cx="0" cy="714970"/>
          </a:xfrm>
          <a:prstGeom prst="line">
            <a:avLst/>
          </a:prstGeom>
          <a:noFill/>
          <a:ln w="9525">
            <a:solidFill>
              <a:srgbClr val="D9E8E4"/>
            </a:solidFill>
            <a:prstDash val="solid"/>
          </a:ln>
        </p:spPr>
      </p:sp>
      <p:sp>
        <p:nvSpPr>
          <p:cNvPr id="47" name="Shape 45"/>
          <p:cNvSpPr/>
          <p:nvPr/>
        </p:nvSpPr>
        <p:spPr>
          <a:xfrm>
            <a:off x="381000" y="4669036"/>
            <a:ext cx="8382000" cy="0"/>
          </a:xfrm>
          <a:prstGeom prst="line">
            <a:avLst/>
          </a:prstGeom>
          <a:noFill/>
          <a:ln w="9525">
            <a:solidFill>
              <a:srgbClr val="D9E8E4"/>
            </a:solidFill>
            <a:prstDash val="solid"/>
          </a:ln>
        </p:spPr>
      </p:sp>
      <p:sp>
        <p:nvSpPr>
          <p:cNvPr id="48" name="Shape 46"/>
          <p:cNvSpPr/>
          <p:nvPr/>
        </p:nvSpPr>
        <p:spPr>
          <a:xfrm>
            <a:off x="409575" y="3958828"/>
            <a:ext cx="0" cy="714970"/>
          </a:xfrm>
          <a:prstGeom prst="line">
            <a:avLst/>
          </a:prstGeom>
          <a:noFill/>
          <a:ln w="57150">
            <a:solidFill>
              <a:srgbClr val="34D399"/>
            </a:solidFill>
            <a:prstDash val="solid"/>
          </a:ln>
        </p:spPr>
      </p:sp>
      <p:sp>
        <p:nvSpPr>
          <p:cNvPr id="49" name="Text 47"/>
          <p:cNvSpPr/>
          <p:nvPr/>
        </p:nvSpPr>
        <p:spPr>
          <a:xfrm>
            <a:off x="590550" y="4120753"/>
            <a:ext cx="8170736" cy="391120"/>
          </a:xfrm>
          <a:prstGeom prst="rect">
            <a:avLst/>
          </a:prstGeom>
          <a:noFill/>
          <a:ln/>
        </p:spPr>
        <p:txBody>
          <a:bodyPr wrap="square" lIns="0" tIns="0" rIns="0" bIns="0" rtlCol="0" anchor="t"/>
          <a:lstStyle/>
          <a:p>
            <a:pPr algn="l" indent="0" marL="0">
              <a:lnSpc>
                <a:spcPts val="1540"/>
              </a:lnSpc>
              <a:buNone/>
            </a:pPr>
            <a:r>
              <a:rPr lang="en-US" sz="1100" dirty="0">
                <a:solidFill>
                  <a:srgbClr val="0E2B29"/>
                </a:solidFill>
                <a:latin typeface="Arial" pitchFamily="34" charset="0"/>
                <a:ea typeface="Arial" pitchFamily="34" charset="-122"/>
                <a:cs typeface="Arial" pitchFamily="34" charset="-120"/>
              </a:rPr>
              <a:t>Sản phẩm không dừng ở "phân loại đúng" — nó được thiết kế để </a:t>
            </a:r>
            <a:pPr algn="l" indent="0" marL="0">
              <a:lnSpc>
                <a:spcPts val="1540"/>
              </a:lnSpc>
              <a:buNone/>
            </a:pPr>
            <a:r>
              <a:rPr lang="en-US" sz="1100" b="1" dirty="0">
                <a:solidFill>
                  <a:srgbClr val="0E2B29"/>
                </a:solidFill>
                <a:latin typeface="Arial" pitchFamily="34" charset="0"/>
                <a:ea typeface="Arial" pitchFamily="34" charset="-122"/>
                <a:cs typeface="Arial" pitchFamily="34" charset="-120"/>
              </a:rPr>
              <a:t>rút ngắn khoảng cách giữa một lời phàn nàn và một hành động khắc phục</a:t>
            </a:r>
            <a:pPr algn="l" indent="0" marL="0">
              <a:lnSpc>
                <a:spcPts val="1540"/>
              </a:lnSpc>
              <a:buNone/>
            </a:pPr>
            <a:r>
              <a:rPr lang="en-US" sz="1100" dirty="0">
                <a:solidFill>
                  <a:srgbClr val="0E2B29"/>
                </a:solidFill>
                <a:latin typeface="Arial" pitchFamily="34" charset="0"/>
                <a:ea typeface="Arial" pitchFamily="34" charset="-122"/>
                <a:cs typeface="Arial" pitchFamily="34" charset="-120"/>
              </a:rPr>
              <a:t>.</a:t>
            </a:r>
            <a:endParaRPr lang="en-US" sz="1100" dirty="0"/>
          </a:p>
        </p:txBody>
      </p:sp>
      <p:sp>
        <p:nvSpPr>
          <p:cNvPr id="50" name="Text 48"/>
          <p:cNvSpPr/>
          <p:nvPr/>
        </p:nvSpPr>
        <p:spPr>
          <a:xfrm>
            <a:off x="381000" y="4673798"/>
            <a:ext cx="8549640" cy="114300"/>
          </a:xfrm>
          <a:prstGeom prst="rect">
            <a:avLst/>
          </a:prstGeom>
          <a:noFill/>
          <a:ln/>
        </p:spPr>
        <p:txBody>
          <a:bodyPr wrap="square" lIns="0" tIns="0" rIns="0" bIns="0" rtlCol="0" anchor="t"/>
          <a:lstStyle/>
          <a:p>
            <a:pPr algn="l" indent="0" marL="0">
              <a:spcAft>
                <a:spcPts val="800"/>
              </a:spcAft>
              <a:buNone/>
            </a:pPr>
            <a:r>
              <a:rPr lang="en-US" sz="800" dirty="0">
                <a:solidFill>
                  <a:srgbClr val="5C7470"/>
                </a:solidFill>
                <a:latin typeface="Arial" pitchFamily="34" charset="0"/>
                <a:ea typeface="Arial" pitchFamily="34" charset="-122"/>
                <a:cs typeface="Arial" pitchFamily="34" charset="-120"/>
              </a:rPr>
              <a:t>xanhSM · AI Quality Intelligence Platform · AI20K Cohort 2 — Team 116</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30101"/>
            <a:ext cx="8549640" cy="142875"/>
          </a:xfrm>
          <a:prstGeom prst="rect">
            <a:avLst/>
          </a:prstGeom>
          <a:noFill/>
          <a:ln/>
        </p:spPr>
        <p:txBody>
          <a:bodyPr wrap="square" lIns="0" tIns="0" rIns="0" bIns="0" rtlCol="0" anchor="t"/>
          <a:lstStyle/>
          <a:p>
            <a:pPr algn="l" indent="0" marL="0">
              <a:spcAft>
                <a:spcPts val="400"/>
              </a:spcAft>
              <a:buNone/>
            </a:pPr>
            <a:r>
              <a:rPr lang="en-US" sz="1000" b="1" dirty="0">
                <a:solidFill>
                  <a:srgbClr val="0E8C84"/>
                </a:solidFill>
                <a:latin typeface="Arial" pitchFamily="34" charset="0"/>
                <a:ea typeface="Arial" pitchFamily="34" charset="-122"/>
                <a:cs typeface="Arial" pitchFamily="34" charset="-120"/>
              </a:rPr>
              <a:t>KẾT QUẢ &amp; ROADMAP</a:t>
            </a:r>
            <a:endParaRPr lang="en-US" sz="1000" dirty="0"/>
          </a:p>
        </p:txBody>
      </p:sp>
      <p:sp>
        <p:nvSpPr>
          <p:cNvPr id="3" name="Text 1"/>
          <p:cNvSpPr/>
          <p:nvPr/>
        </p:nvSpPr>
        <p:spPr>
          <a:xfrm>
            <a:off x="381000" y="523726"/>
            <a:ext cx="8549640" cy="342751"/>
          </a:xfrm>
          <a:prstGeom prst="rect">
            <a:avLst/>
          </a:prstGeom>
          <a:noFill/>
          <a:ln/>
        </p:spPr>
        <p:txBody>
          <a:bodyPr wrap="square" lIns="0" tIns="0" rIns="0" bIns="0" rtlCol="0" anchor="t"/>
          <a:lstStyle/>
          <a:p>
            <a:pPr algn="l" indent="0" marL="0">
              <a:lnSpc>
                <a:spcPts val="2700"/>
              </a:lnSpc>
              <a:buNone/>
            </a:pPr>
            <a:r>
              <a:rPr lang="en-US" sz="2500" b="1" dirty="0">
                <a:solidFill>
                  <a:srgbClr val="0B5E5C"/>
                </a:solidFill>
                <a:latin typeface="Arial" pitchFamily="34" charset="0"/>
                <a:ea typeface="Arial" pitchFamily="34" charset="-122"/>
                <a:cs typeface="Arial" pitchFamily="34" charset="-120"/>
              </a:rPr>
              <a:t>Đã hoàn thiện vòng khép kín, sẵn sàng mở rộng</a:t>
            </a:r>
            <a:endParaRPr lang="en-US" sz="2500" dirty="0"/>
          </a:p>
        </p:txBody>
      </p:sp>
      <p:sp>
        <p:nvSpPr>
          <p:cNvPr id="4" name="Text 2"/>
          <p:cNvSpPr/>
          <p:nvPr/>
        </p:nvSpPr>
        <p:spPr>
          <a:xfrm>
            <a:off x="381000" y="1095077"/>
            <a:ext cx="3048149" cy="1946672"/>
          </a:xfrm>
          <a:prstGeom prst="rect">
            <a:avLst/>
          </a:prstGeom>
          <a:noFill/>
          <a:ln/>
        </p:spPr>
        <p:txBody>
          <a:bodyPr wrap="square" lIns="88900" tIns="0" rIns="0" bIns="0" rtlCol="0" anchor="t"/>
          <a:lstStyle/>
          <a:p>
            <a:pPr algn="l" marL="88900" indent="-88900">
              <a:lnSpc>
                <a:spcPts val="1667"/>
              </a:lnSpc>
              <a:spcAft>
                <a:spcPts val="500"/>
              </a:spcAft>
              <a:buSzPct val="100000"/>
              <a:buChar char="•"/>
            </a:pPr>
            <a:r>
              <a:rPr lang="en-US" sz="1150" b="1" dirty="0">
                <a:solidFill>
                  <a:srgbClr val="0E2B29"/>
                </a:solidFill>
                <a:latin typeface="Arial" pitchFamily="34" charset="0"/>
                <a:ea typeface="Arial" pitchFamily="34" charset="-122"/>
                <a:cs typeface="Arial" pitchFamily="34" charset="-120"/>
              </a:rPr>
              <a:t>Đã có:</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task loop, Human-in-the-loop, RAG hybrid, định tuyến 6 phòng.</a:t>
            </a:r>
            <a:endParaRPr lang="en-US" sz="1150" dirty="0"/>
          </a:p>
          <a:p>
            <a:pPr algn="l" marL="88900" indent="-88900">
              <a:lnSpc>
                <a:spcPts val="1667"/>
              </a:lnSpc>
              <a:spcAft>
                <a:spcPts val="500"/>
              </a:spcAft>
              <a:buSzPct val="100000"/>
              <a:buChar char="•"/>
            </a:pPr>
            <a:r>
              <a:rPr lang="en-US" sz="1150" b="1" dirty="0">
                <a:solidFill>
                  <a:srgbClr val="0E2B29"/>
                </a:solidFill>
                <a:latin typeface="Arial" pitchFamily="34" charset="0"/>
                <a:ea typeface="Arial" pitchFamily="34" charset="-122"/>
                <a:cs typeface="Arial" pitchFamily="34" charset="-120"/>
              </a:rPr>
              <a:t>Realtime:</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streaming ~50 review/giây + scheduler tự sinh alert/ticket.</a:t>
            </a:r>
            <a:endParaRPr lang="en-US" sz="1150" dirty="0"/>
          </a:p>
          <a:p>
            <a:pPr algn="l" marL="88900" indent="-88900">
              <a:lnSpc>
                <a:spcPts val="1667"/>
              </a:lnSpc>
              <a:spcAft>
                <a:spcPts val="500"/>
              </a:spcAft>
              <a:buSzPct val="100000"/>
              <a:buChar char="•"/>
            </a:pPr>
            <a:r>
              <a:rPr lang="en-US" sz="1150" b="1" dirty="0">
                <a:solidFill>
                  <a:srgbClr val="0E2B29"/>
                </a:solidFill>
                <a:latin typeface="Arial" pitchFamily="34" charset="0"/>
                <a:ea typeface="Arial" pitchFamily="34" charset="-122"/>
                <a:cs typeface="Arial" pitchFamily="34" charset="-120"/>
              </a:rPr>
              <a:t>Bằng chứng:</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chạy trên dữ liệu review tiếng Việt thật từ App Store/Google Play.</a:t>
            </a:r>
            <a:endParaRPr lang="en-US" sz="1150" dirty="0"/>
          </a:p>
          <a:p>
            <a:pPr algn="l" marL="88900" indent="-88900">
              <a:lnSpc>
                <a:spcPts val="1667"/>
              </a:lnSpc>
              <a:spcAft>
                <a:spcPts val="500"/>
              </a:spcAft>
              <a:buSzPct val="100000"/>
              <a:buChar char="•"/>
            </a:pPr>
            <a:r>
              <a:rPr lang="en-US" sz="1150" b="1" dirty="0">
                <a:solidFill>
                  <a:srgbClr val="0E2B29"/>
                </a:solidFill>
                <a:latin typeface="Arial" pitchFamily="34" charset="0"/>
                <a:ea typeface="Arial" pitchFamily="34" charset="-122"/>
                <a:cs typeface="Arial" pitchFamily="34" charset="-120"/>
              </a:rPr>
              <a:t>Tiếp theo:</a:t>
            </a:r>
            <a:pPr algn="l" indent="0" marL="0">
              <a:lnSpc>
                <a:spcPts val="1667"/>
              </a:lnSpc>
              <a:spcAft>
                <a:spcPts val="500"/>
              </a:spcAft>
              <a:buNone/>
            </a:pPr>
            <a:r>
              <a:rPr lang="en-US" sz="1150" dirty="0">
                <a:solidFill>
                  <a:srgbClr val="0E2B29"/>
                </a:solidFill>
                <a:latin typeface="Arial" pitchFamily="34" charset="0"/>
                <a:ea typeface="Arial" pitchFamily="34" charset="-122"/>
                <a:cs typeface="Arial" pitchFamily="34" charset="-120"/>
              </a:rPr>
              <a:t> mở rộng KB nội bộ cho 6 phòng, tinh chỉnh ML &amp; đánh giá agent.</a:t>
            </a:r>
            <a:endParaRPr lang="en-US" sz="1150" dirty="0"/>
          </a:p>
        </p:txBody>
      </p:sp>
      <p:sp>
        <p:nvSpPr>
          <p:cNvPr id="5" name="Text 3"/>
          <p:cNvSpPr/>
          <p:nvPr/>
        </p:nvSpPr>
        <p:spPr>
          <a:xfrm>
            <a:off x="3632299" y="1018877"/>
            <a:ext cx="5130701" cy="3262759"/>
          </a:xfrm>
          <a:prstGeom prst="roundRect">
            <a:avLst>
              <a:gd name="adj" fmla="val 3892"/>
            </a:avLst>
          </a:prstGeom>
          <a:solidFill>
            <a:srgbClr val="FFFFFF"/>
          </a:solidFill>
          <a:ln w="9525">
            <a:solidFill>
              <a:srgbClr val="D9E8E4"/>
            </a:solidFill>
          </a:ln>
          <a:effectLst>
            <a:outerShdw sx="100000" sy="100000" kx="0" ky="0" algn="bl" rotWithShape="0" blurRad="133350" dist="47625" dir="3180000">
              <a:srgbClr val="0b5e5c">
                <a:alpha val="22000"/>
              </a:srgbClr>
            </a:outerShdw>
          </a:effectLst>
        </p:spPr>
        <p:txBody>
          <a:bodyPr wrap="square" rtlCol="0" anchor="ctr"/>
          <a:lstStyle/>
          <a:p>
            <a:pPr indent="0" marL="0">
              <a:buNone/>
            </a:pPr>
            <a:endParaRPr lang="en-US" dirty="0"/>
          </a:p>
        </p:txBody>
      </p:sp>
      <p:pic>
        <p:nvPicPr>
          <p:cNvPr id="6" name="Image 0" descr="/private/tmp/claude-501/-Users-kenz-de-projects-C2-App-116/3d8df5ac-6b2b-4cce-a997-fe0b4573b465/scratchpad/build/assets/dashboard.png">    </p:cNvPr>
          <p:cNvPicPr>
            <a:picLocks noChangeAspect="1"/>
          </p:cNvPicPr>
          <p:nvPr/>
        </p:nvPicPr>
        <p:blipFill>
          <a:blip r:embed="rId1"/>
          <a:stretch>
            <a:fillRect/>
          </a:stretch>
        </p:blipFill>
        <p:spPr>
          <a:xfrm>
            <a:off x="3705225" y="1091803"/>
            <a:ext cx="4984849" cy="3116907"/>
          </a:xfrm>
          <a:prstGeom prst="rect">
            <a:avLst/>
          </a:prstGeom>
        </p:spPr>
      </p:pic>
      <p:sp>
        <p:nvSpPr>
          <p:cNvPr id="7" name="Text 4"/>
          <p:cNvSpPr/>
          <p:nvPr/>
        </p:nvSpPr>
        <p:spPr>
          <a:xfrm>
            <a:off x="381000" y="4673798"/>
            <a:ext cx="8549640" cy="114300"/>
          </a:xfrm>
          <a:prstGeom prst="rect">
            <a:avLst/>
          </a:prstGeom>
          <a:noFill/>
          <a:ln/>
        </p:spPr>
        <p:txBody>
          <a:bodyPr wrap="square" lIns="0" tIns="0" rIns="0" bIns="0" rtlCol="0" anchor="t"/>
          <a:lstStyle/>
          <a:p>
            <a:pPr algn="l" indent="0" marL="0">
              <a:spcAft>
                <a:spcPts val="800"/>
              </a:spcAft>
              <a:buNone/>
            </a:pPr>
            <a:r>
              <a:rPr lang="en-US" sz="800" dirty="0">
                <a:solidFill>
                  <a:srgbClr val="5C7470"/>
                </a:solidFill>
                <a:latin typeface="Arial" pitchFamily="34" charset="0"/>
                <a:ea typeface="Arial" pitchFamily="34" charset="-122"/>
                <a:cs typeface="Arial" pitchFamily="34" charset="-120"/>
              </a:rPr>
              <a:t>xanhSM · AI Quality Intelligence Platform · AI20K Cohort 2 — Team 116</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11101" y="0"/>
            <a:ext cx="7876234" cy="171450"/>
          </a:xfrm>
          <a:prstGeom prst="rect">
            <a:avLst/>
          </a:prstGeom>
          <a:noFill/>
          <a:ln/>
        </p:spPr>
        <p:txBody>
          <a:bodyPr wrap="square" lIns="0" tIns="0" rIns="0" bIns="0" rtlCol="0" anchor="t"/>
          <a:lstStyle/>
          <a:p>
            <a:pPr algn="l" indent="0" marL="0">
              <a:buNone/>
            </a:pPr>
            <a:r>
              <a:rPr lang="en-US" sz="1200" b="1" dirty="0">
                <a:solidFill>
                  <a:srgbClr val="9BEFE0"/>
                </a:solidFill>
                <a:latin typeface="Arial" pitchFamily="34" charset="0"/>
                <a:ea typeface="Arial" pitchFamily="34" charset="-122"/>
                <a:cs typeface="Arial" pitchFamily="34" charset="-120"/>
              </a:rPr>
              <a:t>CẢM ƠN</a:t>
            </a:r>
            <a:endParaRPr lang="en-US" sz="1200" dirty="0"/>
          </a:p>
        </p:txBody>
      </p:sp>
      <p:sp>
        <p:nvSpPr>
          <p:cNvPr id="3" name="Text 1"/>
          <p:cNvSpPr/>
          <p:nvPr/>
        </p:nvSpPr>
        <p:spPr>
          <a:xfrm>
            <a:off x="711101" y="323850"/>
            <a:ext cx="7876234" cy="581025"/>
          </a:xfrm>
          <a:prstGeom prst="rect">
            <a:avLst/>
          </a:prstGeom>
          <a:noFill/>
          <a:ln/>
        </p:spPr>
        <p:txBody>
          <a:bodyPr wrap="square" lIns="0" tIns="0" rIns="0" bIns="0" rtlCol="0" anchor="t"/>
          <a:lstStyle/>
          <a:p>
            <a:pPr algn="l" indent="0" marL="0">
              <a:spcBef>
                <a:spcPts val="1200"/>
              </a:spcBef>
              <a:buNone/>
            </a:pPr>
            <a:r>
              <a:rPr lang="en-US" sz="4000" b="1" dirty="0">
                <a:solidFill>
                  <a:srgbClr val="FFFFFF"/>
                </a:solidFill>
                <a:latin typeface="Arial" pitchFamily="34" charset="0"/>
                <a:ea typeface="Arial" pitchFamily="34" charset="-122"/>
                <a:cs typeface="Arial" pitchFamily="34" charset="-120"/>
              </a:rPr>
              <a:t>Hỏi &amp; Đáp</a:t>
            </a:r>
            <a:endParaRPr lang="en-US" sz="4000" dirty="0"/>
          </a:p>
        </p:txBody>
      </p:sp>
      <p:sp>
        <p:nvSpPr>
          <p:cNvPr id="4" name="Text 2"/>
          <p:cNvSpPr/>
          <p:nvPr/>
        </p:nvSpPr>
        <p:spPr>
          <a:xfrm>
            <a:off x="711101" y="1108025"/>
            <a:ext cx="7876234" cy="266700"/>
          </a:xfrm>
          <a:prstGeom prst="rect">
            <a:avLst/>
          </a:prstGeom>
          <a:noFill/>
          <a:ln/>
        </p:spPr>
        <p:txBody>
          <a:bodyPr wrap="square" lIns="0" tIns="0" rIns="0" bIns="0" rtlCol="0" anchor="t"/>
          <a:lstStyle/>
          <a:p>
            <a:pPr algn="l" indent="0" marL="0">
              <a:lnSpc>
                <a:spcPts val="2100"/>
              </a:lnSpc>
              <a:spcBef>
                <a:spcPts val="1600"/>
              </a:spcBef>
              <a:buNone/>
            </a:pPr>
            <a:r>
              <a:rPr lang="en-US" sz="1400" dirty="0">
                <a:solidFill>
                  <a:srgbClr val="CFF3EC"/>
                </a:solidFill>
                <a:latin typeface="Arial" pitchFamily="34" charset="0"/>
                <a:ea typeface="Arial" pitchFamily="34" charset="-122"/>
                <a:cs typeface="Arial" pitchFamily="34" charset="-120"/>
              </a:rPr>
              <a:t>AI Quality Intelligence Platform — biến mỗi phản hồi thành một chuyến đi tốt hơn.</a:t>
            </a:r>
            <a:endParaRPr lang="en-US" sz="1400" dirty="0"/>
          </a:p>
        </p:txBody>
      </p:sp>
      <p:sp>
        <p:nvSpPr>
          <p:cNvPr id="5" name="Text 3"/>
          <p:cNvSpPr/>
          <p:nvPr/>
        </p:nvSpPr>
        <p:spPr>
          <a:xfrm>
            <a:off x="711101" y="1654076"/>
            <a:ext cx="7876234" cy="152400"/>
          </a:xfrm>
          <a:prstGeom prst="rect">
            <a:avLst/>
          </a:prstGeom>
          <a:noFill/>
          <a:ln/>
        </p:spPr>
        <p:txBody>
          <a:bodyPr wrap="square" lIns="0" tIns="0" rIns="0" bIns="0" rtlCol="0" anchor="t"/>
          <a:lstStyle/>
          <a:p>
            <a:pPr algn="l" indent="0" marL="0">
              <a:spcBef>
                <a:spcPts val="2200"/>
              </a:spcBef>
              <a:buNone/>
            </a:pPr>
            <a:r>
              <a:rPr lang="en-US" sz="1100" dirty="0">
                <a:solidFill>
                  <a:srgbClr val="9BEFE0"/>
                </a:solidFill>
                <a:latin typeface="Arial" pitchFamily="34" charset="0"/>
                <a:ea typeface="Arial" pitchFamily="34" charset="-122"/>
                <a:cs typeface="Arial" pitchFamily="34" charset="-120"/>
              </a:rPr>
              <a:t>xanhSM · AI20K Build Cohort 2 — Team 116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xanhSM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Quality Intelligence Platform — Tổng quan dự án</dc:title>
  <dc:subject>PptxGenJS Presentation</dc:subject>
  <dc:creator>Team 116 — AI20K Cohort 2</dc:creator>
  <cp:lastModifiedBy>Team 116 — AI20K Cohort 2</cp:lastModifiedBy>
  <cp:revision>1</cp:revision>
  <dcterms:created xsi:type="dcterms:W3CDTF">2026-06-28T05:03:40Z</dcterms:created>
  <dcterms:modified xsi:type="dcterms:W3CDTF">2026-06-28T05:03:40Z</dcterms:modified>
</cp:coreProperties>
</file>