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 · Im lặng 2s. Chuyện 2 giờ sáng → 4.8★/1,5 triệu → 'ai đọc hết?' → hứa hẹn 25 phút: từ nỗi đau thật đến hệ thống chạy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 · 14/4/2023 → 34 tỉnh/4 quốc gia → 1000+/ngày. Đọc 2 review thật, nhấn: nằm ngay dưới 4.8★.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~70s · 3 lỗ hổng (nhấn lỗ hổng 2) → quy về chi phí business: truyền thông, churn, quyết định chậm.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 · 3 personas: vận hành / CSKH / quản lý — mỗi nhóm 1 nhu cầu, 1 câu trả lời của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 · Chốt Hồi 1 bằng 1 câu giải pháp; bridge sang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 · 4 khối Tiếp nhận→Phân tích→Cảnh báo→Hành động; câu chốt 'máy làm phần nặng'.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~90s · Đi theo hành trình người dùng qua 5 màn thật; câu chốt 'từ lời phàn nàn thô đến việc có chủ'.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~70s · Ẩn dụ phòng cấp cứu; lướt 7 chip; 4 nguyên tắc vận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 · Chặng 1 PII; chặng 2 ML — số 77,1%/94,3%, negation guard; chỉ nhãn AI trên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~70s · Đi chậm từng dòng bảng; câu chốt là câu quan trọng nhất của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~50s · 3 ngưỡng + cooldown 60'; ẩn dụ ổ dịch.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 · Bảng phân khoa 6 phòng (bảng hiện 5 dòng tiêu biểu); nhấn 'không viết lại code'.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 · 2 con đường; câu đinh giữa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~70s · Chỉ vào hàng đợi 'Cần duyệt' + nút 'sửa nhãn' trên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~50s · Đọc 5 chip theo thứ tự, nhấn cột 'ai làm'.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~70s · 2 screenshot 2 phía; câu chốt cuối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 · Câu đời thường trước, phần trăm sau; 6 stat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~50s · Không đọc từng ô — kể 6 lời hứa: an toàn, đúng phòng, bắt gian lận, không báo oan, hiểu câu gián tiếp, che PII.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 · 6 service + DB; nhấn failover: 'demo không thể vỡ'.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 · Lướt nhanh; câu chốt 'nhàm chán mà chắc'.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 · 5 nguyên tắc; nhấn 04: 'phân tích trang trí'.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~70s · Móc lại S3–S4: từng pain point → năng lực → kết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~70s · Giọng tự tin. Ý 3 móc lại mở đầu — nhấn chậm.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 · Callback 2 giờ sáng; đọc vòng 6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 · Vision → câu kết → cảm ơn + mời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sm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97880" cy="3931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6309360" cy="365760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55"/>
                </a:solidFill>
              </a:rPr>
              <a:t>AI20K · COHORT 2 · TEAM 116 · MASTER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71D1A"/>
                </a:solidFill>
              </a:rPr>
              <a:t>2 GIỜ SÁNG.</a:t>
            </a:r>
          </a:p>
          <a:p>
            <a:pPr algn="l"/>
            <a:r>
              <a:rPr sz="4000" b="1" i="0">
                <a:solidFill>
                  <a:srgbClr val="171D1A"/>
                </a:solidFill>
              </a:rPr>
              <a:t>AI ĐANG ĐỌC</a:t>
            </a:r>
          </a:p>
          <a:p>
            <a:pPr algn="l"/>
            <a:r>
              <a:rPr sz="4000" b="1" i="0">
                <a:solidFill>
                  <a:srgbClr val="171D1A"/>
                </a:solidFill>
              </a:rPr>
              <a:t>REVIEW CỦA BẠN?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118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721608"/>
            <a:ext cx="22494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4.8★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480560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App Store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61188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3721608"/>
            <a:ext cx="26151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1,5 TRIỆU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480560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lượt đánh giá — ai đọc hết?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655F"/>
                </a:solidFill>
              </a:rPr>
              <a:t>AI Quality Intelligence Platform cho Green SM</a:t>
            </a:r>
          </a:p>
          <a:p>
            <a:pPr algn="l"/>
            <a:r>
              <a:rPr sz="1500" b="0" i="0">
                <a:solidFill>
                  <a:srgbClr val="5B655F"/>
                </a:solidFill>
              </a:rPr>
              <a:t>Biến 1,5 triệu tiếng nói thành hành động — tự động, có kiểm soát.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1 · CÂU CHUYỆN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1D1A"/>
                </a:solidFill>
              </a:rPr>
              <a:t>Tăng trưởng nóng — và 1,5 triệu tiếng nói không ai đọc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6583680" cy="11887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71D1A"/>
                </a:solidFill>
              </a:rPr>
              <a:t>“Tài xế có hành vi hành hung hành khách…”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</a:rPr>
              <a:t>Review thật · App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6583680" cy="11887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73552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71D1A"/>
                </a:solidFill>
              </a:rPr>
              <a:t>“Không đăng nhập được app trên máy của tôi.”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5876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</a:rPr>
              <a:t>Review thật · App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6583680" cy="11887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45152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71D1A"/>
                </a:solidFill>
              </a:rPr>
              <a:t>“Tài xế say xỉn gây tai nạn, xe tông người rồi bỏ chạy.”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3036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</a:rPr>
              <a:t>Review thật · dữ liệu dự án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78308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1892807"/>
            <a:ext cx="18836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651760"/>
            <a:ext cx="1883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tỉnh thành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178308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9528" y="1892807"/>
            <a:ext cx="20665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9528" y="2651760"/>
            <a:ext cx="20665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quốc gia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38328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493008"/>
            <a:ext cx="18836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1000+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4251960"/>
            <a:ext cx="1883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review mới/ngày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338328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9528" y="3493008"/>
            <a:ext cx="20665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04/2023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4251960"/>
            <a:ext cx="20665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ra mắt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074920"/>
            <a:ext cx="4069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1D1A"/>
                </a:solidFill>
              </a:rPr>
              <a:t>Điểm cao ≠ an toàn.</a:t>
            </a:r>
          </a:p>
          <a:p>
            <a:pPr algn="l"/>
            <a:r>
              <a:rPr sz="1600" b="1" i="0">
                <a:solidFill>
                  <a:srgbClr val="171D1A"/>
                </a:solidFill>
              </a:rPr>
              <a:t>Rủi ro nằm ở phần đuôi.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1 · CÂU CHUYỆN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1D1A"/>
                </a:solidFill>
              </a:rPr>
              <a:t>Ba lỗ hổng — và cái giá doanh nghiệp phải trả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45309"/>
                </a:solidFill>
              </a:rPr>
              <a:t>🌊 Quá tải</a:t>
            </a:r>
          </a:p>
          <a:p>
            <a:r>
              <a:rPr sz="1300">
                <a:solidFill>
                  <a:srgbClr val="171D1A"/>
                </a:solidFill>
              </a:rPr>
              <a:t>Hàng nghìn review/ngày.</a:t>
            </a:r>
          </a:p>
          <a:p>
            <a:r>
              <a:rPr sz="1300">
                <a:solidFill>
                  <a:srgbClr val="171D1A"/>
                </a:solidFill>
              </a:rPr>
              <a:t>Không đội ngũ nào đọc xuể</a:t>
            </a:r>
          </a:p>
          <a:p>
            <a:r>
              <a:rPr sz="1300">
                <a:solidFill>
                  <a:srgbClr val="171D1A"/>
                </a:solidFill>
              </a:rPr>
              <a:t>bằng tay.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74519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45309"/>
                </a:solidFill>
              </a:rPr>
              <a:t>⚠️ An toàn bị bỏ sót</a:t>
            </a:r>
          </a:p>
          <a:p>
            <a:r>
              <a:rPr sz="1300">
                <a:solidFill>
                  <a:srgbClr val="171D1A"/>
                </a:solidFill>
              </a:rPr>
              <a:t>Ca 'say rượu' trông y hệt ca</a:t>
            </a:r>
          </a:p>
          <a:p>
            <a:r>
              <a:rPr sz="1300">
                <a:solidFill>
                  <a:srgbClr val="171D1A"/>
                </a:solidFill>
              </a:rPr>
              <a:t>'app lag' — người đọc kỹ</a:t>
            </a:r>
          </a:p>
          <a:p>
            <a:r>
              <a:rPr sz="1300">
                <a:solidFill>
                  <a:srgbClr val="171D1A"/>
                </a:solidFill>
              </a:rPr>
              <a:t>luôn đến sau.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874519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45309"/>
                </a:solidFill>
              </a:rPr>
              <a:t>🧭 Sai địa chỉ</a:t>
            </a:r>
          </a:p>
          <a:p>
            <a:r>
              <a:rPr sz="1300">
                <a:solidFill>
                  <a:srgbClr val="171D1A"/>
                </a:solidFill>
              </a:rPr>
              <a:t>Hộp thư chung: ai cũng thấy,</a:t>
            </a:r>
          </a:p>
          <a:p>
            <a:r>
              <a:rPr sz="1300">
                <a:solidFill>
                  <a:srgbClr val="171D1A"/>
                </a:solidFill>
              </a:rPr>
              <a:t>không ai chịu trách nhiệm.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71D1A"/>
                </a:solidFill>
              </a:rPr>
              <a:t>▪ Cái giá:  </a:t>
            </a:r>
            <a:r>
              <a:rPr sz="1500">
                <a:solidFill>
                  <a:srgbClr val="5B655F"/>
                </a:solidFill>
              </a:rPr>
              <a:t>1 ca an toàn bỏ sót = nguy cơ khủng hoảng truyền thông · 1 lỗi thanh toán không ai nhận = làn sóng rời bỏ · mọi quyết định chất lượng chậm một nhịp so với thực tế.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B655F"/>
                </a:solidFill>
              </a:rPr>
              <a:t>Đây là kịch bản mặc định của mọi nền tảng có hàng triệu người dùng — không riêng Green 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1 · CÂU CHUYỆN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1D1A"/>
                </a:solidFill>
              </a:rPr>
              <a:t>Ai đang đau — và ứng dụng đáp ứng nhu cầu gì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29184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Đội vận hành</a:t>
            </a:r>
          </a:p>
          <a:p>
            <a:r>
              <a:rPr sz="1300">
                <a:solidFill>
                  <a:srgbClr val="171D1A"/>
                </a:solidFill>
              </a:rPr>
              <a:t>Cần biết ca an toàn NGAY</a:t>
            </a:r>
          </a:p>
          <a:p>
            <a:r>
              <a:rPr sz="1300">
                <a:solidFill>
                  <a:srgbClr val="171D1A"/>
                </a:solidFill>
              </a:rPr>
              <a:t>khi xuất hiện — không phải</a:t>
            </a:r>
          </a:p>
          <a:p>
            <a:r>
              <a:rPr sz="1300">
                <a:solidFill>
                  <a:srgbClr val="171D1A"/>
                </a:solidFill>
              </a:rPr>
              <a:t>cuối tuần khi tổng hợp.</a:t>
            </a:r>
          </a:p>
          <a:p>
            <a:r>
              <a:rPr sz="1300">
                <a:solidFill>
                  <a:srgbClr val="171D1A"/>
                </a:solidFill>
              </a:rPr>
              <a:t/>
            </a:r>
          </a:p>
          <a:p>
            <a:r>
              <a:rPr sz="1300">
                <a:solidFill>
                  <a:srgbClr val="171D1A"/>
                </a:solidFill>
              </a:rPr>
              <a:t>→ Cảnh báo realtime,</a:t>
            </a:r>
          </a:p>
          <a:p>
            <a:r>
              <a:rPr sz="1300">
                <a:solidFill>
                  <a:srgbClr val="171D1A"/>
                </a:solidFill>
              </a:rPr>
              <a:t>SLA 1 giờ cho ca an toàn.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9184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Chăm sóc khách hàng</a:t>
            </a:r>
          </a:p>
          <a:p>
            <a:r>
              <a:rPr sz="1300">
                <a:solidFill>
                  <a:srgbClr val="171D1A"/>
                </a:solidFill>
              </a:rPr>
              <a:t>Cần đúng việc vào đúng</a:t>
            </a:r>
          </a:p>
          <a:p>
            <a:r>
              <a:rPr sz="1300">
                <a:solidFill>
                  <a:srgbClr val="171D1A"/>
                </a:solidFill>
              </a:rPr>
              <a:t>hàng đợi, kèm ngữ cảnh —</a:t>
            </a:r>
          </a:p>
          <a:p>
            <a:r>
              <a:rPr sz="1300">
                <a:solidFill>
                  <a:srgbClr val="171D1A"/>
                </a:solidFill>
              </a:rPr>
              <a:t>không phải hộp thư hỗn độn.</a:t>
            </a:r>
          </a:p>
          <a:p>
            <a:r>
              <a:rPr sz="1300">
                <a:solidFill>
                  <a:srgbClr val="171D1A"/>
                </a:solidFill>
              </a:rPr>
              <a:t/>
            </a:r>
          </a:p>
          <a:p>
            <a:r>
              <a:rPr sz="1300">
                <a:solidFill>
                  <a:srgbClr val="171D1A"/>
                </a:solidFill>
              </a:rPr>
              <a:t>→ Định tuyến 6 phòng ban,</a:t>
            </a:r>
          </a:p>
          <a:p>
            <a:r>
              <a:rPr sz="1300">
                <a:solidFill>
                  <a:srgbClr val="171D1A"/>
                </a:solidFill>
              </a:rPr>
              <a:t>AI viết sẵn nguyên nhân gốc.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920240"/>
            <a:ext cx="329184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Quản lý</a:t>
            </a:r>
          </a:p>
          <a:p>
            <a:r>
              <a:rPr sz="1300">
                <a:solidFill>
                  <a:srgbClr val="171D1A"/>
                </a:solidFill>
              </a:rPr>
              <a:t>Cần nhìn toàn cảnh realtime,</a:t>
            </a:r>
          </a:p>
          <a:p>
            <a:r>
              <a:rPr sz="1300">
                <a:solidFill>
                  <a:srgbClr val="171D1A"/>
                </a:solidFill>
              </a:rPr>
              <a:t>giao việc có chủ, có hạn,</a:t>
            </a:r>
          </a:p>
          <a:p>
            <a:r>
              <a:rPr sz="1300">
                <a:solidFill>
                  <a:srgbClr val="171D1A"/>
                </a:solidFill>
              </a:rPr>
              <a:t>có kiểm đếm.</a:t>
            </a:r>
          </a:p>
          <a:p>
            <a:r>
              <a:rPr sz="1300">
                <a:solidFill>
                  <a:srgbClr val="171D1A"/>
                </a:solidFill>
              </a:rPr>
              <a:t/>
            </a:r>
          </a:p>
          <a:p>
            <a:r>
              <a:rPr sz="1300">
                <a:solidFill>
                  <a:srgbClr val="171D1A"/>
                </a:solidFill>
              </a:rPr>
              <a:t>→ Dashboard + báo cáo AI</a:t>
            </a:r>
          </a:p>
          <a:p>
            <a:r>
              <a:rPr sz="1300">
                <a:solidFill>
                  <a:srgbClr val="171D1A"/>
                </a:solidFill>
              </a:rPr>
              <a:t>+ vòng đời task khép kín.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1D1A"/>
                </a:solidFill>
              </a:rPr>
              <a:t>Sản phẩm được thiết kế đúng cho ba nhu cầu này — không hơn, không kém.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1 · CÂU CHUYỆN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1D1A"/>
                </a:solidFill>
              </a:rPr>
              <a:t>Điều cần tồn tại — và vì sao là bây giờ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7C55"/>
                </a:solidFill>
              </a:rPr>
              <a:t>Một hệ thống ĐỌC THAY con người,</a:t>
            </a:r>
          </a:p>
          <a:p>
            <a:pPr algn="l"/>
            <a:r>
              <a:rPr sz="3000" b="1" i="0">
                <a:solidFill>
                  <a:srgbClr val="0E7C55"/>
                </a:solidFill>
              </a:rPr>
              <a:t>PHÂN LOẠI đúng mức khẩn cấp, GIAO ĐÚNG NGƯỜI xử lý.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71D1A"/>
                </a:solidFill>
              </a:rPr>
              <a:t>▪ Why now:  </a:t>
            </a:r>
            <a:r>
              <a:rPr sz="1700">
                <a:solidFill>
                  <a:srgbClr val="5B655F"/>
                </a:solidFill>
              </a:rPr>
              <a:t>AI đọc hiểu tiếng Việt đã đủ tốt và đủ rẻ để đọc 1,5 triệu review — 3 năm trước còn bất khả thi.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71D1A"/>
                </a:solidFill>
              </a:rPr>
              <a:t>▪ Không phải ý tưởng:  </a:t>
            </a:r>
            <a:r>
              <a:rPr sz="1700">
                <a:solidFill>
                  <a:srgbClr val="5B655F"/>
                </a:solidFill>
              </a:rPr>
              <a:t>hệ thống đã chạy thật — phần còn lại của buổi hôm nay là bằng chứng.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2 · SẢN PHẨM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1D1A"/>
                </a:solidFill>
              </a:rPr>
              <a:t>Khoang lái điều hành chất lượng theo thời gian thực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📥 Tiếp nhận</a:t>
            </a:r>
          </a:p>
          <a:p>
            <a:r>
              <a:rPr sz="1300">
                <a:solidFill>
                  <a:srgbClr val="171D1A"/>
                </a:solidFill>
              </a:rPr>
              <a:t>Gom phản hồi đa kênh,</a:t>
            </a:r>
          </a:p>
          <a:p>
            <a:r>
              <a:rPr sz="1300">
                <a:solidFill>
                  <a:srgbClr val="171D1A"/>
                </a:solidFill>
              </a:rPr>
              <a:t>streaming realtime</a:t>
            </a:r>
          </a:p>
          <a:p>
            <a:r>
              <a:rPr sz="1300">
                <a:solidFill>
                  <a:srgbClr val="171D1A"/>
                </a:solidFill>
              </a:rPr>
              <a:t>~50 review/giây.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9202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🧠 Phân tích</a:t>
            </a:r>
          </a:p>
          <a:p>
            <a:r>
              <a:rPr sz="1300">
                <a:solidFill>
                  <a:srgbClr val="171D1A"/>
                </a:solidFill>
              </a:rPr>
              <a:t>ML phân loại mọi review;</a:t>
            </a:r>
          </a:p>
          <a:p>
            <a:r>
              <a:rPr sz="1300">
                <a:solidFill>
                  <a:srgbClr val="171D1A"/>
                </a:solidFill>
              </a:rPr>
              <a:t>LLM đánh giá rủi ro khi</a:t>
            </a:r>
          </a:p>
          <a:p>
            <a:r>
              <a:rPr sz="1300">
                <a:solidFill>
                  <a:srgbClr val="171D1A"/>
                </a:solidFill>
              </a:rPr>
              <a:t>cần suy luận sâu.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🔔 Cảnh báo</a:t>
            </a:r>
          </a:p>
          <a:p>
            <a:r>
              <a:rPr sz="1300">
                <a:solidFill>
                  <a:srgbClr val="171D1A"/>
                </a:solidFill>
              </a:rPr>
              <a:t>Phát hiện spike, sinh alert,</a:t>
            </a:r>
          </a:p>
          <a:p>
            <a:r>
              <a:rPr sz="1300">
                <a:solidFill>
                  <a:srgbClr val="171D1A"/>
                </a:solidFill>
              </a:rPr>
              <a:t>định tuyến 6 phòng ban</a:t>
            </a:r>
          </a:p>
          <a:p>
            <a:r>
              <a:rPr sz="1300">
                <a:solidFill>
                  <a:srgbClr val="171D1A"/>
                </a:solidFill>
              </a:rPr>
              <a:t>kèm SLA.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82880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9202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✅ Hành động</a:t>
            </a:r>
          </a:p>
          <a:p>
            <a:r>
              <a:rPr sz="1300">
                <a:solidFill>
                  <a:srgbClr val="171D1A"/>
                </a:solidFill>
              </a:rPr>
              <a:t>Báo cáo AI, tạo việc,</a:t>
            </a:r>
          </a:p>
          <a:p>
            <a:r>
              <a:rPr sz="1300">
                <a:solidFill>
                  <a:srgbClr val="171D1A"/>
                </a:solidFill>
              </a:rPr>
              <a:t>giao việc, khép vòng khi</a:t>
            </a:r>
          </a:p>
          <a:p>
            <a:r>
              <a:rPr sz="1300">
                <a:solidFill>
                  <a:srgbClr val="171D1A"/>
                </a:solidFill>
              </a:rPr>
              <a:t>hoàn thành.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1D1A"/>
                </a:solidFill>
              </a:rPr>
              <a:t>Từng khối có sản phẩm rõ ràng, kiểm chứng được — máy làm phần nặng, con người giữ quyết định quan trọng.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2 · SẢN PHẨM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1D1A"/>
                </a:solidFill>
              </a:rPr>
              <a:t>Sản phẩm thật — đi một vòng 5 màn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7</a:t>
            </a:r>
          </a:p>
        </p:txBody>
      </p:sp>
      <p:pic>
        <p:nvPicPr>
          <p:cNvPr id="7" name="Picture 6" descr="ui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3154680" cy="19726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675887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55"/>
                </a:solidFill>
              </a:rPr>
              <a:t>① Tổng quan</a:t>
            </a:r>
          </a:p>
        </p:txBody>
      </p:sp>
      <p:pic>
        <p:nvPicPr>
          <p:cNvPr id="9" name="Picture 8" descr="ui-fee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737360"/>
            <a:ext cx="3154680" cy="19726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94760" y="3675887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55"/>
                </a:solidFill>
              </a:rPr>
              <a:t>② Phản hồi + nhãn AI</a:t>
            </a:r>
          </a:p>
        </p:txBody>
      </p:sp>
      <p:pic>
        <p:nvPicPr>
          <p:cNvPr id="11" name="Picture 10" descr="ui-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737360"/>
            <a:ext cx="3154680" cy="19726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3675887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55"/>
                </a:solidFill>
              </a:rPr>
              <a:t>③ Ticket 6 phòng ban</a:t>
            </a:r>
          </a:p>
        </p:txBody>
      </p:sp>
      <p:pic>
        <p:nvPicPr>
          <p:cNvPr id="13" name="Picture 12" descr="ui-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160520"/>
            <a:ext cx="3154680" cy="19726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609904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55"/>
                </a:solidFill>
              </a:rPr>
              <a:t>④ Báo cáo AI</a:t>
            </a:r>
          </a:p>
        </p:txBody>
      </p:sp>
      <p:pic>
        <p:nvPicPr>
          <p:cNvPr id="15" name="Picture 14" descr="ui-task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4160520"/>
            <a:ext cx="3154680" cy="197260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94760" y="609904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55"/>
                </a:solidFill>
              </a:rPr>
              <a:t>⑤ Công việc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29768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1D1A"/>
                </a:solidFill>
              </a:rPr>
              <a:t>Năm màn hình, một mạch duy nhất:</a:t>
            </a:r>
          </a:p>
          <a:p>
            <a:pPr algn="l"/>
            <a:r>
              <a:rPr sz="1600" b="1" i="0">
                <a:solidFill>
                  <a:srgbClr val="171D1A"/>
                </a:solidFill>
              </a:rPr>
              <a:t>từ lời phàn nàn thô đến việc có chủ.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2 · SẢN PHẨM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1D1A"/>
                </a:solidFill>
              </a:rPr>
              <a:t>Phòng cấp cứu cho review — hành trình 7 chặng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4884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222199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① Che PII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214884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222199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② ML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phân loại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9896" y="214884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222199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③ Rule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ghi đè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4104" y="214884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8" y="222199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④ Spike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detect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68312" y="214884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6" y="222199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⑤ Routing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6 phòng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19" y="214884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87384" y="222199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⑥ Task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agent/duyệt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96728" y="214884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51592" y="222199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⑦ Người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xác nhận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77639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Hybrid rẻ/đắt:  </a:t>
            </a:r>
            <a:r>
              <a:rPr sz="1400">
                <a:solidFill>
                  <a:srgbClr val="5B655F"/>
                </a:solidFill>
              </a:rPr>
              <a:t>ML nhỏ đọc tất cả; LLM chỉ gọi khi cần suy luận sâu.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An toàn thắng xác suất.  </a:t>
            </a:r>
            <a:r>
              <a:rPr sz="1400">
                <a:solidFill>
                  <a:srgbClr val="5B655F"/>
                </a:solidFill>
              </a:rPr>
              <a:t>Rule safety luôn ghi đè được model.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Config-driven:  </a:t>
            </a:r>
            <a:r>
              <a:rPr sz="1400">
                <a:solidFill>
                  <a:srgbClr val="5B655F"/>
                </a:solidFill>
              </a:rPr>
              <a:t>đổi luật = sửa 1 file cấu hình, không sửa code.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Graceful degradation:  </a:t>
            </a:r>
            <a:r>
              <a:rPr sz="1400">
                <a:solidFill>
                  <a:srgbClr val="5B655F"/>
                </a:solidFill>
              </a:rPr>
              <a:t>một khối hỏng, cả hệ vẫn đứng.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2 · SẢN PHẨM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D1A"/>
                </a:solidFill>
              </a:rPr>
              <a:t>Chặng 1–2 · Che PII → ML đọc lướt tất cả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Che PII trước tiên.  </a:t>
            </a:r>
            <a:r>
              <a:rPr sz="1400">
                <a:solidFill>
                  <a:srgbClr val="5B655F"/>
                </a:solidFill>
              </a:rPr>
              <a:t>SĐT, email, biển số bị ẩn trước khi người hay máy đọc — nguyên tắc, không phải tính năng.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ML nhanh &amp; rẻ, &lt;0,1s/review.  </a:t>
            </a:r>
            <a:r>
              <a:rPr sz="1400">
                <a:solidFill>
                  <a:srgbClr val="5B655F"/>
                </a:solidFill>
              </a:rPr>
              <a:t>TF-IDF + LinearSVC: 77,1% chủ đề · 94,3% cảm xúc.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Hiểu phủ định tiếng Việt.  </a:t>
            </a:r>
            <a:r>
              <a:rPr sz="1400">
                <a:solidFill>
                  <a:srgbClr val="5B655F"/>
                </a:solidFill>
              </a:rPr>
              <a:t>“không tệ” không bị đếm là chê.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Vì rẻ nên đọc được 100%.  </a:t>
            </a:r>
            <a:r>
              <a:rPr sz="1400">
                <a:solidFill>
                  <a:srgbClr val="5B655F"/>
                </a:solidFill>
              </a:rPr>
              <a:t>Không ca nào bị bỏ vì thiếu ngân sách.</a:t>
            </a:r>
          </a:p>
        </p:txBody>
      </p:sp>
      <p:pic>
        <p:nvPicPr>
          <p:cNvPr id="8" name="Picture 7" descr="ui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846320" cy="3030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2 · SẢN PHẨM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D1A"/>
                </a:solidFill>
              </a:rPr>
              <a:t>Chặng 3 · Luật an toàn ghi đè — ví dụ thật từng bước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5181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Bước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Kết quả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Input (review thật)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“Tài xế say xỉn gây tai nạn, xe tông người rồi bỏ chạy”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Sau che PII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Giữ nguyên — không có PII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ML dự đoán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Thái độ tài xế · tiêu cực · mức TRUNG BÌNH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Rule an toàn GHI ĐÈ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An toàn · KHẨN CẤP CAO NHẤT · bắt buộc người xem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Lý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Từ khóa an toàn: “tai nạn”, “bỏ chạy”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7C55"/>
                </a:solidFill>
              </a:rPr>
              <a:t>Khi có nghi ngờ về an toàn, máy móc không được phép tự tin hơn sự thận trọng.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2 · SẢN PHẨM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D1A"/>
                </a:solidFill>
              </a:rPr>
              <a:t>Chặng 4 · Phát hiện ổ dịch — ngưỡng rõ ràng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1 ca khẩn cấp nhất</a:t>
            </a:r>
          </a:p>
          <a:p>
            <a:r>
              <a:rPr sz="1300">
                <a:solidFill>
                  <a:srgbClr val="171D1A"/>
                </a:solidFill>
              </a:rPr>
              <a:t>→ Báo động NGAY lập tức.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45309"/>
                </a:solidFill>
              </a:rPr>
              <a:t>≥ 3 ca mức cao
cùng khu vực</a:t>
            </a:r>
          </a:p>
          <a:p>
            <a:r>
              <a:rPr sz="1300">
                <a:solidFill>
                  <a:srgbClr val="171D1A"/>
                </a:solidFill>
              </a:rPr>
              <a:t>→ Cảnh báo VÀNG.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0116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45309"/>
                </a:solidFill>
              </a:rPr>
              <a:t>≥ 10 ca tiêu cực</a:t>
            </a:r>
          </a:p>
          <a:p>
            <a:r>
              <a:rPr sz="1300">
                <a:solidFill>
                  <a:srgbClr val="171D1A"/>
                </a:solidFill>
              </a:rPr>
              <a:t>→ Báo động ĐỎ.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71D1A"/>
                </a:solidFill>
              </a:rPr>
              <a:t>▪ Gom theo (khu vực, chủ đề, phòng ban).  </a:t>
            </a:r>
            <a:r>
              <a:rPr sz="1500">
                <a:solidFill>
                  <a:srgbClr val="5B655F"/>
                </a:solidFill>
              </a:rPr>
              <a:t>Một ca là cá biệt — nhiều ca cùng nơi cùng lúc là Ổ DỊCH.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71D1A"/>
                </a:solidFill>
              </a:rPr>
              <a:t>▪ Dedup cooldown 60 phút.  </a:t>
            </a:r>
            <a:r>
              <a:rPr sz="1500">
                <a:solidFill>
                  <a:srgbClr val="5B655F"/>
                </a:solidFill>
              </a:rPr>
              <a:t>Không báo lại cùng một chuyện — tín hiệu không bị loãng.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2 · SẢN PHẨM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D1A"/>
                </a:solidFill>
              </a:rPr>
              <a:t>Chặng 5 · Định tuyến đúng chuyên khoa — kèm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6766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468880"/>
                <a:gridCol w="164592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Chủ đề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Phòng ban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SLA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An toàn (Safety)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Vận 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1 giờ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Hành vi tài xế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Vận hành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8 giờ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Lỗi ứng dụng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12 giờ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Thanh toán / Giá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CSKH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12 giờ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P5 (bất kể chủ đề)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Vận hành ← 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1 giờ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1783080"/>
            <a:ext cx="3840480" cy="18288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874519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⚙️ Config-driven</a:t>
            </a:r>
          </a:p>
          <a:p>
            <a:r>
              <a:rPr sz="1300">
                <a:solidFill>
                  <a:srgbClr val="171D1A"/>
                </a:solidFill>
              </a:rPr>
              <a:t>Đổi luật phân khoa =</a:t>
            </a:r>
          </a:p>
          <a:p>
            <a:r>
              <a:rPr sz="1300">
                <a:solidFill>
                  <a:srgbClr val="171D1A"/>
                </a:solidFill>
              </a:rPr>
              <a:t>sửa 1 file cấu hình.</a:t>
            </a:r>
          </a:p>
          <a:p>
            <a:r>
              <a:rPr sz="1300">
                <a:solidFill>
                  <a:srgbClr val="171D1A"/>
                </a:solidFill>
              </a:rPr>
              <a:t>Không sửa code,</a:t>
            </a:r>
          </a:p>
          <a:p>
            <a:r>
              <a:rPr sz="1300">
                <a:solidFill>
                  <a:srgbClr val="171D1A"/>
                </a:solidFill>
              </a:rPr>
              <a:t>không deploy lại.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794760"/>
            <a:ext cx="3840480" cy="146304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38862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🤖 LLM chỉ viết nội dung</a:t>
            </a:r>
          </a:p>
          <a:p>
            <a:r>
              <a:rPr sz="1300">
                <a:solidFill>
                  <a:srgbClr val="171D1A"/>
                </a:solidFill>
              </a:rPr>
              <a:t>Tiêu đề, nguyên nhân gốc,</a:t>
            </a:r>
          </a:p>
          <a:p>
            <a:r>
              <a:rPr sz="1300">
                <a:solidFill>
                  <a:srgbClr val="171D1A"/>
                </a:solidFill>
              </a:rPr>
              <a:t>hành động đề xuất — cho</a:t>
            </a:r>
          </a:p>
          <a:p>
            <a:r>
              <a:rPr sz="1300">
                <a:solidFill>
                  <a:srgbClr val="171D1A"/>
                </a:solidFill>
              </a:rPr>
              <a:t>con người đọc nhanh.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2 · SẢN PHẨM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D1A"/>
                </a:solidFill>
              </a:rPr>
              <a:t>Chặng 6 · Từ báo động đến việc thật — hai con đường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⚙️ Đường tự động — Task agent</a:t>
            </a:r>
          </a:p>
          <a:p>
            <a:r>
              <a:rPr sz="1300">
                <a:solidFill>
                  <a:srgbClr val="171D1A"/>
                </a:solidFill>
              </a:rPr>
              <a:t>Gom alert cùng (phòng ban, khu vực).</a:t>
            </a:r>
          </a:p>
          <a:p>
            <a:r>
              <a:rPr sz="1300">
                <a:solidFill>
                  <a:srgbClr val="171D1A"/>
                </a:solidFill>
              </a:rPr>
              <a:t>Chưa có task mở → tự lập đầu việc.</a:t>
            </a:r>
          </a:p>
          <a:p>
            <a:r>
              <a:rPr sz="1300">
                <a:solidFill>
                  <a:srgbClr val="171D1A"/>
                </a:solidFill>
              </a:rPr>
              <a:t>Mỗi cụm chỉ 1 task mở —</a:t>
            </a:r>
          </a:p>
          <a:p>
            <a:r>
              <a:rPr sz="1300">
                <a:solidFill>
                  <a:srgbClr val="171D1A"/>
                </a:solidFill>
              </a:rPr>
              <a:t>không trùng, không rơi rớt.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✅ Đường có người — duyệt báo cáo</a:t>
            </a:r>
          </a:p>
          <a:p>
            <a:r>
              <a:rPr sz="1300">
                <a:solidFill>
                  <a:srgbClr val="171D1A"/>
                </a:solidFill>
              </a:rPr>
              <a:t>AI viết báo cáo: nguyên nhân gốc</a:t>
            </a:r>
          </a:p>
          <a:p>
            <a:r>
              <a:rPr sz="1300">
                <a:solidFill>
                  <a:srgbClr val="171D1A"/>
                </a:solidFill>
              </a:rPr>
              <a:t>+ các đầu việc nháp.</a:t>
            </a:r>
          </a:p>
          <a:p>
            <a:r>
              <a:rPr sz="1300">
                <a:solidFill>
                  <a:srgbClr val="171D1A"/>
                </a:solidFill>
              </a:rPr>
              <a:t>Quản lý thêm/sửa/xóa → bấm 1 nút:</a:t>
            </a:r>
          </a:p>
          <a:p>
            <a:r>
              <a:rPr sz="1300">
                <a:solidFill>
                  <a:srgbClr val="171D1A"/>
                </a:solidFill>
              </a:rPr>
              <a:t>duyệt + tạo việc trong cùng một hành động,</a:t>
            </a:r>
          </a:p>
          <a:p>
            <a:r>
              <a:rPr sz="1300">
                <a:solidFill>
                  <a:srgbClr val="171D1A"/>
                </a:solidFill>
              </a:rPr>
              <a:t>kèm link ngược báo cáo gốc.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E7C55"/>
                </a:solidFill>
              </a:rPr>
              <a:t>MÁY ĐỀ XUẤT. NGƯỜI QUYẾT ĐỊNH. HỆ THỐNG THỰC THI TRỌN VẸN.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2 · SẢN PHẨM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D1A"/>
                </a:solidFill>
              </a:rPr>
              <a:t>Chặng 7 · Con người trong vòng lặp — và vòng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4 tình huống bắt buộc người xem:  </a:t>
            </a:r>
            <a:r>
              <a:rPr sz="1400">
                <a:solidFill>
                  <a:srgbClr val="5B655F"/>
                </a:solidFill>
              </a:rPr>
              <a:t>khẩn cấp nhất / từ khóa an toàn · AI không chắc · câu mơ hồ · có người yêu cầu.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Người duyệt: đồng ý · sửa nhãn · đánh dấu xong.  </a:t>
            </a:r>
            <a:r>
              <a:rPr sz="1400">
                <a:solidFill>
                  <a:srgbClr val="5B655F"/>
                </a:solidFill>
              </a:rPr>
              <a:t>Mỗi lần sửa ghi sổ: ai, trường nào, nhãn cũ → mới, lúc nào.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Cuốn sổ 2 vai trò:  </a:t>
            </a:r>
            <a:r>
              <a:rPr sz="1400">
                <a:solidFill>
                  <a:srgbClr val="5B655F"/>
                </a:solidFill>
              </a:rPr>
              <a:t>hồ sơ kiểm tra lại + dữ liệu cho AI học lại.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71D1A"/>
                </a:solidFill>
              </a:rPr>
              <a:t>▪ VÒNG HỌC KHÉP KÍN:  </a:t>
            </a:r>
            <a:r>
              <a:rPr sz="1400">
                <a:solidFill>
                  <a:srgbClr val="5B655F"/>
                </a:solidFill>
              </a:rPr>
              <a:t>AI gán sai → người sửa → hệ thống ghi nhớ → AI giỏi hơn.</a:t>
            </a:r>
          </a:p>
        </p:txBody>
      </p:sp>
      <p:pic>
        <p:nvPicPr>
          <p:cNvPr id="8" name="Picture 7" descr="ui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846320" cy="3030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2 · SẢN PHẨM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D1A"/>
                </a:solidFill>
              </a:rPr>
              <a:t>Vòng đời task — 5 trạng thái, rõ ai làm gì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3" y="2267712"/>
            <a:ext cx="203911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Đang mở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Hệ thống tạo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từ ticket/báo cáo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19456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2267712"/>
            <a:ext cx="203911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Đã giao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Manager gán người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+ đặt hạn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19456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3" y="2267712"/>
            <a:ext cx="203911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Đang xử lý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Nhân viên bấm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'Nhận việc'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19456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2267712"/>
            <a:ext cx="203911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Chờ duyệt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Nhân viên nộp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báo cáo hoàn thành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19456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47504" y="2267712"/>
            <a:ext cx="203911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Đã xong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Manager duyệt,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khép vòng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71D1A"/>
                </a:solidFill>
              </a:rPr>
              <a:t>▪ Mỗi lần chuyển trạng thái đều ghi log.  </a:t>
            </a:r>
            <a:r>
              <a:rPr sz="1500">
                <a:solidFill>
                  <a:srgbClr val="5B655F"/>
                </a:solidFill>
              </a:rPr>
              <a:t>Phục vụ audit; task quá hạn tự được đánh dấu cho manager.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2 · SẢN PHẨM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D1A"/>
                </a:solidFill>
              </a:rPr>
              <a:t>Vận hành giao việc — hai phía màn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16</a:t>
            </a:r>
          </a:p>
        </p:txBody>
      </p:sp>
      <p:pic>
        <p:nvPicPr>
          <p:cNvPr id="7" name="Picture 6" descr="ui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029200" cy="3144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9834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71D1A"/>
                </a:solidFill>
              </a:rPr>
              <a:t>Manager: task gắn sẵn phòng ban → 'Gán task'</a:t>
            </a:r>
          </a:p>
          <a:p>
            <a:pPr algn="l"/>
            <a:r>
              <a:rPr sz="1200" b="0" i="0">
                <a:solidFill>
                  <a:srgbClr val="171D1A"/>
                </a:solidFill>
              </a:rPr>
              <a:t>→ AI gợi ý người nhận cân bằng tải → đặt hạn → Gán.</a:t>
            </a:r>
          </a:p>
        </p:txBody>
      </p:sp>
      <p:pic>
        <p:nvPicPr>
          <p:cNvPr id="9" name="Picture 8" descr="ui-sta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5029200" cy="31447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49834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71D1A"/>
                </a:solidFill>
              </a:rPr>
              <a:t>Nhân viên: 'Việc của tôi' chỉ hiện việc của mình →</a:t>
            </a:r>
          </a:p>
          <a:p>
            <a:pPr algn="l"/>
            <a:r>
              <a:rPr sz="1200" b="0" i="0">
                <a:solidFill>
                  <a:srgbClr val="171D1A"/>
                </a:solidFill>
              </a:rPr>
              <a:t>'Nhận việc' → nộp báo cáo (Hoàn thành/Một phần/Bị chặn).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7C55"/>
                </a:solidFill>
              </a:rPr>
              <a:t>Không ai phải hỏi “việc này của ai” — hệ thống trả lời bằng thiết kế.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3 · BẰNG CHỨNG &amp;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1D1A"/>
                </a:solidFill>
              </a:rPr>
              <a:t>Chạy thật, đo thật — không phải số trình diễn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8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77,1%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88920"/>
            <a:ext cx="3346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đúng chủ đề (932 mẫu test)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202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29968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94,3%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3346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đúng cảm xúc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9202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7" y="2029968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97%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7" y="2788920"/>
            <a:ext cx="3346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không bỏ sót tiêu cực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858768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97 giây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617720"/>
            <a:ext cx="3346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xử lý 4.837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749039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858768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~50/giây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617720"/>
            <a:ext cx="3346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tốc độ streaming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749039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7" y="3858768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7C55"/>
                </a:solidFill>
              </a:rPr>
              <a:t>6/6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4617720"/>
            <a:ext cx="3346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55F"/>
                </a:solidFill>
              </a:rPr>
              <a:t>kịch bản kiểm thử đạt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71D1A"/>
                </a:solidFill>
              </a:rPr>
              <a:t>Mọi con số tái lập được bằng bộ kiểm thử trong mã nguồn.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3 · BẰNG CHỨNG &amp;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71D1A"/>
                </a:solidFill>
              </a:rPr>
              <a:t>6/6 kịch bản kiểm thử — mỗi dòng một lời hứa của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3291840"/>
                <a:gridCol w="1097280"/>
              </a:tblGrid>
              <a:tr h="5747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Input (rút gọn)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Output thật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Đạt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TC-01 Safety 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“Tài xế say xỉn, xe tông người bỏ chạy”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An toàn · P5 · bắt buộc duyệt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TC-02 Lỗi app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“App bị lỗi không đặt được xe”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Lỗi ứng dụng · P3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TC-03 Gian lận thanh toán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“Tài xế thu tiền gấp đôi”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Thanh toán ·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TC-04 Positive guard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“Tài xế thân thiện, lái an toàn”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Tài xế · tích cực · P1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TC-05 Câu gián tiếp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“Gọi mãi không có tài xế nhận”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Khác · tiêu cực ·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TC-06 Che PII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SĐT 0912… · email … · biển 30A…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[SĐT_ĐÃ_ẨN] [EMAIL_ĐÃ_ẨN] …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71D1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3 · BẰNG CHỨNG &amp;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71D1A"/>
                </a:solidFill>
              </a:rPr>
              <a:t>Kiến trúc — 6 dịch vụ độc lập, LLM có dự phòng 4 lớp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0312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217627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🖥️ Frontend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React 19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1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210312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217627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⚙️ Backend API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FastAPI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1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9896" y="210312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217627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🔧 Ingest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worker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4104" y="210312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8" y="217627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🔧 ML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worker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68312" y="210312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6" y="217627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🔧 Ticket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worker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19" y="210312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87384" y="217627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🔧 Agent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worker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96728" y="2103120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51592" y="2176272"/>
            <a:ext cx="1463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🗄️ Supabase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PostgreSQL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cloud 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10972800" cy="155448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23359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⚡ LLM router duy nhất — failover 4 lớp</a:t>
            </a:r>
          </a:p>
          <a:p>
            <a:r>
              <a:rPr sz="1300">
                <a:solidFill>
                  <a:srgbClr val="171D1A"/>
                </a:solidFill>
              </a:rPr>
              <a:t>OpenRouter → OpenAI → Gemini → Groq (→ mock khi demo offline).</a:t>
            </a:r>
          </a:p>
          <a:p>
            <a:r>
              <a:rPr sz="1300">
                <a:solidFill>
                  <a:srgbClr val="171D1A"/>
                </a:solidFill>
              </a:rPr>
              <a:t>Một nhà cung cấp sập, hệ thống tự chuyển — buổi demo không thể vỡ vì bên thứ ba.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3 · BẰNG CHỨNG &amp;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D1A"/>
                </a:solidFill>
              </a:rPr>
              <a:t>Tech stack — nhàm chán mà chắc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Frontend</a:t>
            </a:r>
          </a:p>
          <a:p>
            <a:r>
              <a:rPr sz="1300">
                <a:solidFill>
                  <a:srgbClr val="171D1A"/>
                </a:solidFill>
              </a:rPr>
              <a:t>React 19</a:t>
            </a:r>
          </a:p>
          <a:p>
            <a:r>
              <a:rPr sz="1300">
                <a:solidFill>
                  <a:srgbClr val="171D1A"/>
                </a:solidFill>
              </a:rPr>
              <a:t>TanStack Start/Router/Query</a:t>
            </a:r>
          </a:p>
          <a:p>
            <a:r>
              <a:rPr sz="1300">
                <a:solidFill>
                  <a:srgbClr val="171D1A"/>
                </a:solidFill>
              </a:rPr>
              <a:t>Vite 7 · Tailwind CSS 4</a:t>
            </a:r>
          </a:p>
          <a:p>
            <a:r>
              <a:rPr sz="1300">
                <a:solidFill>
                  <a:srgbClr val="171D1A"/>
                </a:solidFill>
              </a:rPr>
              <a:t>shadcn/ui · Recharts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Backend / AI</a:t>
            </a:r>
          </a:p>
          <a:p>
            <a:r>
              <a:rPr sz="1300">
                <a:solidFill>
                  <a:srgbClr val="171D1A"/>
                </a:solidFill>
              </a:rPr>
              <a:t>FastAPI · Python</a:t>
            </a:r>
          </a:p>
          <a:p>
            <a:r>
              <a:rPr sz="1300">
                <a:solidFill>
                  <a:srgbClr val="171D1A"/>
                </a:solidFill>
              </a:rPr>
              <a:t>scikit-learn:</a:t>
            </a:r>
          </a:p>
          <a:p>
            <a:r>
              <a:rPr sz="1300">
                <a:solidFill>
                  <a:srgbClr val="171D1A"/>
                </a:solidFill>
              </a:rPr>
              <a:t>TF-IDF + LinearSVC</a:t>
            </a:r>
          </a:p>
          <a:p>
            <a:r>
              <a:rPr sz="1300">
                <a:solidFill>
                  <a:srgbClr val="171D1A"/>
                </a:solidFill>
              </a:rPr>
              <a:t>APScheduler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920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7C55"/>
                </a:solidFill>
              </a:rPr>
              <a:t>Hạ tầng &amp; LLM</a:t>
            </a:r>
          </a:p>
          <a:p>
            <a:r>
              <a:rPr sz="1300">
                <a:solidFill>
                  <a:srgbClr val="171D1A"/>
                </a:solidFill>
              </a:rPr>
              <a:t>Supabase (PostgreSQL, Auth)</a:t>
            </a:r>
          </a:p>
          <a:p>
            <a:r>
              <a:rPr sz="1300">
                <a:solidFill>
                  <a:srgbClr val="171D1A"/>
                </a:solidFill>
              </a:rPr>
              <a:t>Railway — 6 Docker service</a:t>
            </a:r>
          </a:p>
          <a:p>
            <a:r>
              <a:rPr sz="1300">
                <a:solidFill>
                  <a:srgbClr val="171D1A"/>
                </a:solidFill>
              </a:rPr>
              <a:t>OpenRouter/OpenAI/</a:t>
            </a:r>
          </a:p>
          <a:p>
            <a:r>
              <a:rPr sz="1300">
                <a:solidFill>
                  <a:srgbClr val="171D1A"/>
                </a:solidFill>
              </a:rPr>
              <a:t>Gemini/Groq failover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B655F"/>
                </a:solidFill>
              </a:rPr>
              <a:t>Không công nghệ nào ở đây cần một chuyên gia hiếm để vận hành.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4 · GIÁ TRỊ &amp; TƯƠNG 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71D1A"/>
                </a:solidFill>
              </a:rPr>
              <a:t>Tư duy sản phẩm — 5 nguyên tắc định hình mọi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56231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7C55"/>
                </a:solidFill>
              </a:rPr>
              <a:t>01 · An toàn không nhường xác suất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56231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71D1A"/>
                </a:solidFill>
              </a:rPr>
              <a:t>Rule safety ép mức cao nhất dù model nghĩ khác.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7C55"/>
                </a:solidFill>
              </a:rPr>
              <a:t>02 · Con người trong vòng lặp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2491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71D1A"/>
                </a:solidFill>
              </a:rPr>
              <a:t>Máy đề xuất, người quyết định &amp; chịu trách nhiệm.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39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3591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7C55"/>
                </a:solidFill>
              </a:rPr>
              <a:t>03 · Đúng người đúng dữ liệu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593591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71D1A"/>
                </a:solidFill>
              </a:rPr>
              <a:t>Quyền thao tác kiểm ở backend theo vai trò &amp; phòng ban.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4622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7C55"/>
                </a:solidFill>
              </a:rPr>
              <a:t>04 · Khép kín phản hồi → hành động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46227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71D1A"/>
                </a:solidFill>
              </a:rPr>
              <a:t>Phân tích không tạo ra hành động là phân tích trang trí.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3095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7C55"/>
                </a:solidFill>
              </a:rPr>
              <a:t>05 · Realtime trước tiên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33095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71D1A"/>
                </a:solidFill>
              </a:rPr>
              <a:t>Thấy vấn đề khi nó đang xảy ra, không phải hôm sau.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4 · GIÁ TRỊ &amp; TƯƠNG 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71D1A"/>
                </a:solidFill>
              </a:rPr>
              <a:t>Ứng dụng thực tế — pain point nào được giải quyết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480560"/>
                <a:gridCol w="3840480"/>
              </a:tblGrid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Pain point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Năng lực hệ thống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Kết quả nhận được</a:t>
                      </a:r>
                    </a:p>
                  </a:txBody>
                  <a:tcPr>
                    <a:solidFill>
                      <a:srgbClr val="0E7C55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Quá tải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ML đọc 100%, người chỉ duyệt ca máy không chắc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Hàng đợi duyệt thay vì biển dữ liệu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An toàn bị bỏ sót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Rule ghi đè + alert SLA 1 giờ cho ca an toàn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Phát hiện khi đang xảy ra, không phải khi lên báo</a:t>
                      </a:r>
                    </a:p>
                  </a:txBody>
                  <a:tcPr>
                    <a:solidFill>
                      <a:srgbClr val="F4F7F5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Sai địa chỉ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Định tuyến 6 phòng + giao việc từng người, có hạn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71D1A"/>
                          </a:solidFill>
                        </a:rPr>
                        <a:t>Luôn có một cái tên chịu trách nhiệm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94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55"/>
                </a:solidFill>
              </a:rPr>
              <a:t>Ba nhu cầu của vận hành, CSKH, quản lý — trả lời bằng thiết kế, không phải bằng lời hứa.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4 · GIÁ TRỊ &amp; TƯƠNG 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D1A"/>
                </a:solidFill>
              </a:rPr>
              <a:t>Chúng tôi biết mình đang ở đâu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71D1A"/>
                </a:solidFill>
              </a:rPr>
              <a:t>▪ P0 · Khóa sâu tầng dữ liệu.  </a:t>
            </a:r>
            <a:r>
              <a:rPr sz="1700">
                <a:solidFill>
                  <a:srgbClr val="5B655F"/>
                </a:solidFill>
              </a:rPr>
              <a:t>Cửa chính (tầng ứng dụng) đã gate chặt; lớp khóa tại kho dữ liệu là bước kế — biết chính xác việc cần làm.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71D1A"/>
                </a:solidFill>
              </a:rPr>
              <a:t>▪ P1 · Nối dữ liệu sống.  </a:t>
            </a:r>
            <a:r>
              <a:rPr sz="1700">
                <a:solidFill>
                  <a:srgbClr val="5B655F"/>
                </a:solidFill>
              </a:rPr>
              <a:t>Đang chạy tập cố định ~5.000 review thật; kế tiếp: ống dữ liệu hằng ngày, giữ nguyên phần xử lý.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71D1A"/>
                </a:solidFill>
              </a:rPr>
              <a:t>▪ P1 · Báo động mới chỉ trên web.  </a:t>
            </a:r>
            <a:r>
              <a:rPr sz="1700">
                <a:solidFill>
                  <a:srgbClr val="5B655F"/>
                </a:solidFill>
              </a:rPr>
              <a:t>Người trực không mở máy 2 giờ sáng vẫn lỡ. Kế tiếp: đẩy thẳng vào điện thoại.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B655F"/>
                </a:solidFill>
              </a:rPr>
              <a:t>Minh bạch về giới hạn = dấu hiệu của sự nghiêm túc, không phải điểm yếu.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55"/>
                </a:solidFill>
              </a:rPr>
              <a:t>HỒI 4 · GIÁ TRỊ &amp; TƯƠNG 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71D1A"/>
                </a:solidFill>
              </a:rPr>
              <a:t>Vòng lặp đã khép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5F"/>
                </a:solidFill>
              </a:rPr>
              <a:t>Green SM · AI Quality Intelligence Platform · Team 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5F"/>
                </a:solidFill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3" y="2450592"/>
            <a:ext cx="1673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📥 Review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vào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237744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2450592"/>
            <a:ext cx="1673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🤖 AI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phân loại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5" y="237744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2450592"/>
            <a:ext cx="1673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🔔 Báo động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nổi đúng lúc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3" y="237744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7" y="2450592"/>
            <a:ext cx="1673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✅ Quản lý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duyệt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1" y="237744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450592"/>
            <a:ext cx="1673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💼 Nhân viên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xử lý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237744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3F1EA"/>
          </a:solidFill>
          <a:ln w="12700">
            <a:solidFill>
              <a:srgbClr val="0E7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67544" y="2450592"/>
            <a:ext cx="1673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55"/>
                </a:solidFill>
              </a:rPr>
              <a:t>📋 Hoàn thành</a:t>
            </a:r>
          </a:p>
          <a:p>
            <a:pPr algn="ctr"/>
            <a:r>
              <a:rPr sz="1100" b="0">
                <a:solidFill>
                  <a:srgbClr val="5B655F"/>
                </a:solidFill>
              </a:rPr>
              <a:t>↺ quay lại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71D1A"/>
                </a:solidFill>
              </a:rPr>
              <a:t>Tự động, có kiểm soát — không ai phải thức trắng đêm dò từng dòng review.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Một lời phàn nàn không được đọc</a:t>
            </a:r>
          </a:p>
          <a:p>
            <a:pPr algn="l"/>
            <a:r>
              <a:rPr sz="3400" b="1" i="0">
                <a:solidFill>
                  <a:srgbClr val="FFFFFF"/>
                </a:solidFill>
              </a:rPr>
              <a:t>là một sự cố đang chờ xảy ra lần nữa.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Tầm nhìn 3–5 năm: tầng lắng nghe tiêu chuẩn cho mọi nền tảng tiêu dùng Việt Nam —</a:t>
            </a:r>
          </a:p>
          <a:p>
            <a:pPr algn="l"/>
            <a:r>
              <a:rPr sz="1800" b="0" i="0">
                <a:solidFill>
                  <a:srgbClr val="FFFFFF"/>
                </a:solidFill>
              </a:rPr>
              <a:t>nơi mọi lời phàn nàn được đọc, được định tuyến, và trở thành hành động.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Với chúng tôi — nó sẽ được đọc.   ·   Team 116 · AI20K Cohort 2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