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0:00–0:40 · Im lặng 2s. Câu chuyện 2 giờ sáng → con số 4.8★/1,5 triệu → 'ai đọc hết?' → giới thiệu team 116.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0:40–1:40 · Đọc 2 review thật trên App Store, nhấn: chúng nằm ngay dưới điểm 4.8★. Quy mô 34 tỉnh/4 quốc gia → rủi ro ở phần đuôi.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1:40–2:30 · Không phải thiếu dữ liệu — dữ liệu thừa mứa. Nhấn lỗ hổng 2 là nguy hiểm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2:30–3:00 · Chốt phần bài toán bằng 1 câu giải pháp; bridge sang phần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3:00–3:50 · Giới thiệu ẩn dụ phòng cấp cứu; lướt 7 chặng; 4 nguyên tắc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3:50–4:50 · Đi chậm ở ví dụ thật; chỉ vào screenshot màn Phản hồi.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4:50–5:40 · Chỉ màn Phân loại ticket; nhấn câu 'không viết lại code'.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5:40–6:30 · Màn Báo cáo AI; câu đinh: máy đề xuất, người quyết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6:30–7:20 · Chỉ vào hàng đợi 'Cần duyệt' + nút 'sửa nhãn' trên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7:20–8:00 · Đọc chậm từng số, câu đời thường trước – phần trăm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8:00–8:50 · Giọng tự tin, không xin lỗi. Ý 3 móc lại câu chuyện mở đầu — nhấn chậm.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8:50–10:00 · Callback 2 giờ sáng → đọc vòng lặp 6 bước → tầm nhìn → câu kết → mời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sm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97880" cy="3931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AI20K · COHORT 2 · TEAM 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D1A"/>
                </a:solidFill>
              </a:rPr>
              <a:t>2 GIỜ SÁNG.</a:t>
            </a:r>
          </a:p>
          <a:p>
            <a:pPr algn="l"/>
            <a:r>
              <a:rPr sz="4000" b="1">
                <a:solidFill>
                  <a:srgbClr val="171D1A"/>
                </a:solidFill>
              </a:rPr>
              <a:t>AI ĐANG ĐỌC</a:t>
            </a:r>
          </a:p>
          <a:p>
            <a:pPr algn="l"/>
            <a:r>
              <a:rPr sz="4000" b="1">
                <a:solidFill>
                  <a:srgbClr val="171D1A"/>
                </a:solidFill>
              </a:rPr>
              <a:t>REVIEW CỦA BẠN?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4.8★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App Store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1,5 TRIỆU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434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lượt đánh giá — ai đọc hết?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55F"/>
                </a:solidFill>
              </a:rPr>
              <a:t>AI Quality Intelligence Platform cho Green SM</a:t>
            </a:r>
          </a:p>
          <a:p>
            <a:pPr algn="l"/>
            <a:r>
              <a:rPr sz="1600" b="0">
                <a:solidFill>
                  <a:srgbClr val="5B655F"/>
                </a:solidFill>
              </a:rPr>
              <a:t>Biến 1,5 triệu tiếng nói thành hành động — tự động, có kiểm soát.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1 ·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1D1A"/>
                </a:solidFill>
              </a:rPr>
              <a:t>Điểm cao không có nghĩa là an toàn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71D1A"/>
                </a:solidFill>
              </a:rPr>
              <a:t>“Tài xế có hành vi hành hung hành khách…”</a:t>
            </a:r>
          </a:p>
          <a:p>
            <a:r>
              <a:rPr sz="1200">
                <a:solidFill>
                  <a:srgbClr val="0E7C55"/>
                </a:solidFill>
              </a:rPr>
              <a:t>Review thật · App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71D1A"/>
                </a:solidFill>
              </a:rPr>
              <a:t>“Không đăng nhập được app trên máy của tôi.”</a:t>
            </a:r>
          </a:p>
          <a:p>
            <a:r>
              <a:rPr sz="1200">
                <a:solidFill>
                  <a:srgbClr val="0E7C55"/>
                </a:solidFill>
              </a:rPr>
              <a:t>Review thật · App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71D1A"/>
                </a:solidFill>
              </a:rPr>
              <a:t>“Tài xế say xỉn gây tai nạn, xe tông người rồi bỏ chạy.”</a:t>
            </a:r>
          </a:p>
          <a:p>
            <a:r>
              <a:rPr sz="1200">
                <a:solidFill>
                  <a:srgbClr val="0E7C55"/>
                </a:solidFill>
              </a:rPr>
              <a:t>Review thật · dữ liệu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tỉnh thành phủ sóng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quốc 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1000+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160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review mới mỗi ngày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463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1D1A"/>
                </a:solidFill>
              </a:rPr>
              <a:t>Ca nghiêm trọng chìm giữa</a:t>
            </a:r>
          </a:p>
          <a:p>
            <a:pPr algn="l"/>
            <a:r>
              <a:rPr sz="1600" b="1">
                <a:solidFill>
                  <a:srgbClr val="171D1A"/>
                </a:solidFill>
              </a:rPr>
              <a:t>đám đông hài lòng.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1 ·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1D1A"/>
                </a:solidFill>
              </a:rPr>
              <a:t>Ba lỗ hổng khiến 2 giờ sáng đơn độc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71D1A"/>
                </a:solidFill>
              </a:rPr>
              <a:t>▪ Quá tải.  </a:t>
            </a:r>
            <a:r>
              <a:rPr sz="2000">
                <a:solidFill>
                  <a:srgbClr val="5B655F"/>
                </a:solidFill>
              </a:rPr>
              <a:t>Hàng nghìn review/ngày — không đội ngũ nào đọc xuể bằng tay.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71D1A"/>
                </a:solidFill>
              </a:rPr>
              <a:t>▪ An toàn bị bỏ sót.  </a:t>
            </a:r>
            <a:r>
              <a:rPr sz="2000">
                <a:solidFill>
                  <a:srgbClr val="5B655F"/>
                </a:solidFill>
              </a:rPr>
              <a:t>Review 'tài xế say rượu' trông y hệt review 'app lag' — cho đến khi có người đọc kỹ. Người đọc kỹ luôn đến sau.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71D1A"/>
                </a:solidFill>
              </a:rPr>
              <a:t>▪ Sai địa chỉ.  </a:t>
            </a:r>
            <a:r>
              <a:rPr sz="2000">
                <a:solidFill>
                  <a:srgbClr val="5B655F"/>
                </a:solidFill>
              </a:rPr>
              <a:t>Vấn đề rơi vào hộp thư chung: ai cũng thấy, không ai chịu trách nhiệm.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1 ·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1D1A"/>
                </a:solidFill>
              </a:rPr>
              <a:t>Điều cần tồn tại — và vì sao là bây giờ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E7C55"/>
                </a:solidFill>
              </a:rPr>
              <a:t>Một hệ thống ĐỌC THAY con người,</a:t>
            </a:r>
          </a:p>
          <a:p>
            <a:pPr algn="l"/>
            <a:r>
              <a:rPr sz="3000" b="1">
                <a:solidFill>
                  <a:srgbClr val="0E7C55"/>
                </a:solidFill>
              </a:rPr>
              <a:t>PHÂN LOẠI đúng mức khẩn cấp, GIAO ĐÚNG NGƯỜI xử lý.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71D1A"/>
                </a:solidFill>
              </a:rPr>
              <a:t>▪ Why now:  </a:t>
            </a:r>
            <a:r>
              <a:rPr sz="1800">
                <a:solidFill>
                  <a:srgbClr val="5B655F"/>
                </a:solidFill>
              </a:rPr>
              <a:t>AI đọc hiểu tiếng Việt đã đủ tốt và đủ rẻ để đọc 1,5 triệu review — 3 năm trước còn bất khả thi.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71D1A"/>
                </a:solidFill>
              </a:rPr>
              <a:t>▪ Và nó không phải ý tưởng:  </a:t>
            </a:r>
            <a:r>
              <a:rPr sz="1800">
                <a:solidFill>
                  <a:srgbClr val="5B655F"/>
                </a:solidFill>
              </a:rPr>
              <a:t>hệ thống đã chạy thật — 5 phút tiếp theo là bằng chứng.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2 ·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1D1A"/>
                </a:solidFill>
              </a:rPr>
              <a:t>Phòng cấp cứu cho review — hành trình 7 chặng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① Che thông tin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nhạy cảm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5688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② AI đọc lướt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(topic·cảm xúc·mức độ)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9896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③ Luật an toàn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ghi đè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4104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④ Phát hiện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ổ dịch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8312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⑤ Định tuyến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6 phòng 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19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⑥ Lập việc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tự động/duyệt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6728" y="2286000"/>
            <a:ext cx="1572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7C55"/>
                </a:solidFill>
              </a:rPr>
              <a:t>⑦ Người ký</a:t>
            </a:r>
          </a:p>
          <a:p>
            <a:pPr algn="ctr"/>
            <a:r>
              <a:rPr sz="1300" b="0">
                <a:solidFill>
                  <a:srgbClr val="5B655F"/>
                </a:solidFill>
              </a:rPr>
              <a:t>xác nhận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Rẻ chạy trước:  </a:t>
            </a:r>
            <a:r>
              <a:rPr sz="1500">
                <a:solidFill>
                  <a:srgbClr val="5B655F"/>
                </a:solidFill>
              </a:rPr>
              <a:t>ML nhỏ xử lý mọi review; LLM chỉ gọi khi cần suy luận sâu.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An toàn thắng xác suất.  </a:t>
            </a:r>
            <a:r>
              <a:rPr sz="1500">
                <a:solidFill>
                  <a:srgbClr val="5B655F"/>
                </a:solidFill>
              </a:rPr>
              <a:t>Luật an toàn luôn ghi đè được AI.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Đổi luật = sửa 1 file cấu hình.  </a:t>
            </a:r>
            <a:r>
              <a:rPr sz="1500">
                <a:solidFill>
                  <a:srgbClr val="5B655F"/>
                </a:solidFill>
              </a:rPr>
              <a:t>Một khối hỏng, hệ thống vẫn đứng.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2 ·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1D1A"/>
                </a:solidFill>
              </a:rPr>
              <a:t>Chặng 1–3 · Làm sạch → AI đọc lướt → Luật ghi đè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Che PII trước tiên.  </a:t>
            </a:r>
            <a:r>
              <a:rPr sz="1500">
                <a:solidFill>
                  <a:srgbClr val="5B655F"/>
                </a:solidFill>
              </a:rPr>
              <a:t>SĐT, email, biển số — trước khi người hay máy đọc.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AI nhanh &amp; rẻ, &lt;0,1s/review.  </a:t>
            </a:r>
            <a:r>
              <a:rPr sz="1500">
                <a:solidFill>
                  <a:srgbClr val="5B655F"/>
                </a:solidFill>
              </a:rPr>
              <a:t>77,1% chủ đề · 94,3% cảm xúc · hiểu phủ định tiếng Việt.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Ví dụ thật:  </a:t>
            </a:r>
            <a:r>
              <a:rPr sz="1500">
                <a:solidFill>
                  <a:srgbClr val="5B655F"/>
                </a:solidFill>
              </a:rPr>
              <a:t>“Tài xế say xỉn gây tai nạn… bỏ chạy” — AI đoán mức trung bình, luật an toàn GHI ĐÈ → khẩn cấp cao nhất, bắt buộc người xem.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Nguyên tắc:  </a:t>
            </a:r>
            <a:r>
              <a:rPr sz="1500">
                <a:solidFill>
                  <a:srgbClr val="5B655F"/>
                </a:solidFill>
              </a:rPr>
              <a:t>khi nghi ngờ an toàn, máy không được tự tin hơn sự thận trọng.</a:t>
            </a:r>
          </a:p>
        </p:txBody>
      </p:sp>
      <p:pic>
        <p:nvPicPr>
          <p:cNvPr id="5" name="Picture 4" descr="ui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937760" cy="3087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2 ·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1D1A"/>
                </a:solidFill>
              </a:rPr>
              <a:t>Chặng 4–5 · Ổ dịch → Báo động → Đúng chuyên khoa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Ngưỡng rõ ràng:  </a:t>
            </a:r>
            <a:r>
              <a:rPr sz="1500">
                <a:solidFill>
                  <a:srgbClr val="5B655F"/>
                </a:solidFill>
              </a:rPr>
              <a:t>1 ca khẩn cấp nhất → báo NGAY · ≥3 ca mức cao cùng khu vực → cảnh báo · ≥10 ca tiêu cực → báo động đỏ · chờ 60 phút mới báo lại.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Bảng phân khoa 6 phòng ban, kèm SLA.  </a:t>
            </a:r>
            <a:r>
              <a:rPr sz="1500">
                <a:solidFill>
                  <a:srgbClr val="5B655F"/>
                </a:solidFill>
              </a:rPr>
              <a:t>An toàn → vận hành trong 1 GIỜ; lỗi app → kỹ thuật 12h; thanh toán → CSKH 12h.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Đổi luật phân khoa = sửa 1 file cấu hình.  </a:t>
            </a:r>
            <a:r>
              <a:rPr sz="1500">
                <a:solidFill>
                  <a:srgbClr val="5B655F"/>
                </a:solidFill>
              </a:rPr>
              <a:t>Không viết lại dòng code nào, không triển khai lại.</a:t>
            </a:r>
          </a:p>
        </p:txBody>
      </p:sp>
      <p:pic>
        <p:nvPicPr>
          <p:cNvPr id="5" name="Picture 4" descr="ui-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937760" cy="30875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2 ·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1D1A"/>
                </a:solidFill>
              </a:rPr>
              <a:t>Chặng 6 · Từ báo động đến việc thật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Đường tự động:  </a:t>
            </a:r>
            <a:r>
              <a:rPr sz="1500">
                <a:solidFill>
                  <a:srgbClr val="5B655F"/>
                </a:solidFill>
              </a:rPr>
              <a:t>gom báo động cùng phòng ban + khu vực → tự lập đầu việc; mỗi cụm chỉ 1 việc đang mở — không trùng, không rơi rớt.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Đường có kiểm soát:  </a:t>
            </a:r>
            <a:r>
              <a:rPr sz="1500">
                <a:solidFill>
                  <a:srgbClr val="5B655F"/>
                </a:solidFill>
              </a:rPr>
              <a:t>AI viết báo cáo đề xuất (nguyên nhân gốc + việc nháp) → quản lý thêm/sửa/xóa → bấm 1 nút duyệt = duyệt + tạo việc trong cùng một hành động, kèm link ngược báo cáo gốc.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MÁY ĐỀ XUẤT. NGƯỜI QUYẾT ĐỊNH.  </a:t>
            </a:r>
            <a:r>
              <a:rPr sz="1500">
                <a:solidFill>
                  <a:srgbClr val="5B655F"/>
                </a:solidFill>
              </a:rPr>
              <a:t>Hệ thống thực thi trọn vẹn.</a:t>
            </a:r>
          </a:p>
        </p:txBody>
      </p:sp>
      <p:pic>
        <p:nvPicPr>
          <p:cNvPr id="5" name="Picture 4" descr="ui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937760" cy="3087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2 ·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1D1A"/>
                </a:solidFill>
              </a:rPr>
              <a:t>Chặng 7 · Con người trong vòng lặp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4 tình huống bắt buộc người xem:  </a:t>
            </a:r>
            <a:r>
              <a:rPr sz="1500">
                <a:solidFill>
                  <a:srgbClr val="5B655F"/>
                </a:solidFill>
              </a:rPr>
              <a:t>khẩn cấp nhất / từ khóa an toàn · AI không chắc · câu mơ hồ · có người yêu cầu.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Người duyệt: đồng ý · sửa nhãn · đánh dấu xong.  </a:t>
            </a:r>
            <a:r>
              <a:rPr sz="1500">
                <a:solidFill>
                  <a:srgbClr val="5B655F"/>
                </a:solidFill>
              </a:rPr>
              <a:t>Mỗi lần sửa ghi sổ: ai, trường nào, nhãn cũ → mới, lúc nào.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Cuốn sổ 2 vai trò:  </a:t>
            </a:r>
            <a:r>
              <a:rPr sz="1500">
                <a:solidFill>
                  <a:srgbClr val="5B655F"/>
                </a:solidFill>
              </a:rPr>
              <a:t>hồ sơ kiểm tra lại + dữ liệu cho AI học lại.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71D1A"/>
                </a:solidFill>
              </a:rPr>
              <a:t>▪ VÒNG HỌC KHÉP KÍN:  </a:t>
            </a:r>
            <a:r>
              <a:rPr sz="1500">
                <a:solidFill>
                  <a:srgbClr val="5B655F"/>
                </a:solidFill>
              </a:rPr>
              <a:t>AI gán sai → người sửa → hệ thống ghi nhớ → AI giỏi hơn.</a:t>
            </a:r>
          </a:p>
        </p:txBody>
      </p:sp>
      <p:pic>
        <p:nvPicPr>
          <p:cNvPr id="5" name="Picture 4" descr="ui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937760" cy="3087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2 ·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1D1A"/>
                </a:solidFill>
              </a:rPr>
              <a:t>Chạy thật, đo thật — không phải số trình diễn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77,1%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đúng chủ đề</a:t>
            </a:r>
          </a:p>
          <a:p>
            <a:pPr algn="l"/>
            <a:r>
              <a:rPr sz="1400" b="0">
                <a:solidFill>
                  <a:srgbClr val="5B655F"/>
                </a:solidFill>
              </a:rPr>
              <a:t>(test 932 mẫu)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11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94,3%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đúng cảm xúc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không bỏ sót</a:t>
            </a:r>
          </a:p>
          <a:p>
            <a:pPr algn="l"/>
            <a:r>
              <a:rPr sz="1400" b="0">
                <a:solidFill>
                  <a:srgbClr val="5B655F"/>
                </a:solidFill>
              </a:rPr>
              <a:t>phản hồi tiêu cực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97 giây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xử lý 4.837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7C55"/>
                </a:solidFill>
              </a:rPr>
              <a:t>6/6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892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55F"/>
                </a:solidFill>
              </a:rPr>
              <a:t>kịch bản kiểm thử đạt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1D1A"/>
                </a:solidFill>
              </a:rPr>
              <a:t>Mọi con số tái lập được bằng bộ kiểm thử trong mã nguồn.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55"/>
                </a:solidFill>
              </a:rPr>
              <a:t>PHẦN 3 ·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1D1A"/>
                </a:solidFill>
              </a:rPr>
              <a:t>Chúng tôi biết mình đang ở đâu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71D1A"/>
                </a:solidFill>
              </a:rPr>
              <a:t>▪ Khóa sâu tầng dữ liệu.  </a:t>
            </a:r>
            <a:r>
              <a:rPr sz="1800">
                <a:solidFill>
                  <a:srgbClr val="5B655F"/>
                </a:solidFill>
              </a:rPr>
              <a:t>Cửa chính (tầng ứng dụng) đã gate chặt; lớp khóa tại kho dữ liệu là bước kế — biết chính xác việc cần làm.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71D1A"/>
                </a:solidFill>
              </a:rPr>
              <a:t>▪ Nối dữ liệu sống.  </a:t>
            </a:r>
            <a:r>
              <a:rPr sz="1800">
                <a:solidFill>
                  <a:srgbClr val="5B655F"/>
                </a:solidFill>
              </a:rPr>
              <a:t>Đang chạy tập cố định ~5.000 review thật; kế tiếp: ống dữ liệu hằng ngày, giữ nguyên phần xử lý.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71D1A"/>
                </a:solidFill>
              </a:rPr>
              <a:t>▪ Báo động mới chỉ trên web.  </a:t>
            </a:r>
            <a:r>
              <a:rPr sz="1800">
                <a:solidFill>
                  <a:srgbClr val="5B655F"/>
                </a:solidFill>
              </a:rPr>
              <a:t>Người trực không mở máy 2 giờ sáng vẫn lỡ. Kế tiếp: đẩy thẳng vào điện thoại.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Vòng lặp đã khép.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📥 Review vào  →  🤖 AI phân loại  →  🔔 Báo động  →  ✅ Quản lý duyệt  →  💼 Nhân viên xử lý  →  📋 Hoàn thành  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Một lời phàn nàn không được đọc là một sự cố đang chờ xảy ra lần nữa.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Tầm nhìn 3–5 năm: tầng lắng nghe tiêu chuẩn cho mọi nền tảng tiêu dùng Việt Nam —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nơi mọi lời phàn nàn được đọc, được định tuyến, và trở thành hành động.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Với chúng tôi — nó sẽ được đọc.   ·   Team 116 · AI20K Cohort 2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